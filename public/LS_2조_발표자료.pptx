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10287000" cx="18288000"/>
  <p:notesSz cx="6858000" cy="9144000"/>
  <p:embeddedFontLst>
    <p:embeddedFont>
      <p:font typeface="Gill Sans"/>
      <p:regular r:id="rId45"/>
      <p:bold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7" roundtripDataSignature="AMtx7minYa332ZdzHOMGVYJNs+BdLZcJ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9DE9D87-B3BD-4428-8ECC-5E18B452F763}">
  <a:tblStyle styleId="{09DE9D87-B3BD-4428-8ECC-5E18B452F76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font" Target="fonts/GillSans-bold.fntdata"/><Relationship Id="rId23" Type="http://schemas.openxmlformats.org/officeDocument/2006/relationships/slide" Target="slides/slide17.xml"/><Relationship Id="rId45" Type="http://schemas.openxmlformats.org/officeDocument/2006/relationships/font" Target="fonts/Gill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" name="Google Shape;33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7" name="Google Shape;357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4" name="Google Shape;434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8" name="Google Shape;458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8" name="Google Shape;478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8" name="Google Shape;498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8" name="Google Shape;518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사용자명: admin </a:t>
            </a:r>
            <a:endParaRPr>
              <a:solidFill>
                <a:srgbClr val="44444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비밀번호: xFwhmvxWM8oYQNldOgVz</a:t>
            </a:r>
            <a:endParaRPr>
              <a:solidFill>
                <a:srgbClr val="44444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4" name="Google Shape;554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3" name="Google Shape;573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2" name="Google Shape;592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9" name="Google Shape;609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1" name="Google Shape;631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0" name="Google Shape;650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3" name="Google Shape;683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9" name="Google Shape;719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4" name="Google Shape;764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6" name="Google Shape;806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1" name="Google Shape;851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9" name="Google Shape;899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5" name="Google Shape;925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6" name="Google Shape;956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5" name="Google Shape;985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접속 ​URL: http://192.168.106.247:8050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사용자명: admin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  비밀번호: xFwhmvxWM8oYQNldOgVz</a:t>
            </a:r>
            <a:endParaRPr/>
          </a:p>
        </p:txBody>
      </p:sp>
      <p:sp>
        <p:nvSpPr>
          <p:cNvPr id="1020" name="Google Shape;102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5" name="Google Shape;55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6" name="Google Shape;5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3" name="Google Shape;63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10" Type="http://schemas.openxmlformats.org/officeDocument/2006/relationships/image" Target="../media/image7.jpg"/><Relationship Id="rId9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9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hyperlink" Target="https://github.com/jgi0117/2team_project/" TargetMode="External"/><Relationship Id="rId10" Type="http://schemas.openxmlformats.org/officeDocument/2006/relationships/hyperlink" Target="https://app.notion.com/p/b341b73c3c2c83dbb5f881416dde892b" TargetMode="External"/><Relationship Id="rId13" Type="http://schemas.openxmlformats.org/officeDocument/2006/relationships/image" Target="../media/image10.png"/><Relationship Id="rId12" Type="http://schemas.openxmlformats.org/officeDocument/2006/relationships/hyperlink" Target="https://www.figma.com/board/PuqheuS6niVBSaO4KkyHLC/LSJUMPUP_2TEAM_PROJECT?node-id=199-131&amp;t=NLS4bfdBDNAwdPLK-0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9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9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9.png"/><Relationship Id="rId8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9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9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9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9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9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9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0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9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9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9.png"/><Relationship Id="rId8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9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9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0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9.png"/><Relationship Id="rId8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9" Type="http://schemas.openxmlformats.org/officeDocument/2006/relationships/image" Target="../media/image6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5.png"/><Relationship Id="rId8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0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9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9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0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9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9" Type="http://schemas.openxmlformats.org/officeDocument/2006/relationships/image" Target="../media/image6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5.png"/><Relationship Id="rId8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1" Type="http://schemas.openxmlformats.org/officeDocument/2006/relationships/image" Target="../media/image42.png"/><Relationship Id="rId10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9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png"/><Relationship Id="rId10" Type="http://schemas.openxmlformats.org/officeDocument/2006/relationships/image" Target="../media/image35.png"/><Relationship Id="rId1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9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0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9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3.png"/><Relationship Id="rId10" Type="http://schemas.openxmlformats.org/officeDocument/2006/relationships/image" Target="../media/image39.png"/><Relationship Id="rId1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9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9" Type="http://schemas.openxmlformats.org/officeDocument/2006/relationships/image" Target="../media/image6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5.png"/><Relationship Id="rId8" Type="http://schemas.openxmlformats.org/officeDocument/2006/relationships/image" Target="../media/image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9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9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9" Type="http://schemas.openxmlformats.org/officeDocument/2006/relationships/image" Target="../media/image1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9.png"/></Relationships>
</file>

<file path=ppt/slides/_rels/slide31.xml.rels><?xml version="1.0" encoding="UTF-8" standalone="yes"?><Relationships xmlns="http://schemas.openxmlformats.org/package/2006/relationships"><Relationship Id="rId10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9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9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9" Type="http://schemas.openxmlformats.org/officeDocument/2006/relationships/image" Target="../media/image6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5.png"/><Relationship Id="rId8" Type="http://schemas.openxmlformats.org/officeDocument/2006/relationships/image" Target="../media/image22.png"/></Relationships>
</file>

<file path=ppt/slides/_rels/slide3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.png"/><Relationship Id="rId10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9" Type="http://schemas.openxmlformats.org/officeDocument/2006/relationships/image" Target="../media/image6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5.png"/><Relationship Id="rId8" Type="http://schemas.openxmlformats.org/officeDocument/2006/relationships/image" Target="../media/image22.png"/></Relationships>
</file>

<file path=ppt/slides/_rels/slide3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8.png"/><Relationship Id="rId10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9" Type="http://schemas.openxmlformats.org/officeDocument/2006/relationships/image" Target="../media/image6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5.png"/><Relationship Id="rId8" Type="http://schemas.openxmlformats.org/officeDocument/2006/relationships/image" Target="../media/image2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9" Type="http://schemas.openxmlformats.org/officeDocument/2006/relationships/image" Target="../media/image6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5.png"/><Relationship Id="rId8" Type="http://schemas.openxmlformats.org/officeDocument/2006/relationships/image" Target="../media/image2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9" Type="http://schemas.openxmlformats.org/officeDocument/2006/relationships/image" Target="../media/image6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5.png"/><Relationship Id="rId8" Type="http://schemas.openxmlformats.org/officeDocument/2006/relationships/image" Target="../media/image22.png"/></Relationships>
</file>

<file path=ppt/slides/_rels/slide38.xml.rels><?xml version="1.0" encoding="UTF-8" standalone="yes"?><Relationships xmlns="http://schemas.openxmlformats.org/package/2006/relationships"><Relationship Id="rId1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png"/><Relationship Id="rId4" Type="http://schemas.openxmlformats.org/officeDocument/2006/relationships/image" Target="../media/image29.png"/><Relationship Id="rId9" Type="http://schemas.openxmlformats.org/officeDocument/2006/relationships/image" Target="../media/image40.png"/><Relationship Id="rId5" Type="http://schemas.openxmlformats.org/officeDocument/2006/relationships/image" Target="../media/image25.png"/><Relationship Id="rId6" Type="http://schemas.openxmlformats.org/officeDocument/2006/relationships/image" Target="../media/image19.png"/><Relationship Id="rId7" Type="http://schemas.openxmlformats.org/officeDocument/2006/relationships/image" Target="../media/image12.png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636"/>
            <a:ext cx="18283144" cy="10289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47A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"/>
          <p:cNvSpPr/>
          <p:nvPr/>
        </p:nvSpPr>
        <p:spPr>
          <a:xfrm flipH="1">
            <a:off x="-9525" y="5822156"/>
            <a:ext cx="9144000" cy="4464844"/>
          </a:xfrm>
          <a:custGeom>
            <a:rect b="b" l="l" r="r" t="t"/>
            <a:pathLst>
              <a:path extrusionOk="0" h="4464844" w="9144000">
                <a:moveTo>
                  <a:pt x="9144000" y="0"/>
                </a:moveTo>
                <a:lnTo>
                  <a:pt x="0" y="0"/>
                </a:lnTo>
                <a:lnTo>
                  <a:pt x="0" y="4464844"/>
                </a:lnTo>
                <a:lnTo>
                  <a:pt x="9144000" y="4464844"/>
                </a:lnTo>
                <a:lnTo>
                  <a:pt x="914400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9134475" y="5822156"/>
            <a:ext cx="9144000" cy="4464844"/>
          </a:xfrm>
          <a:custGeom>
            <a:rect b="b" l="l" r="r" t="t"/>
            <a:pathLst>
              <a:path extrusionOk="0" h="4464844" w="9144000">
                <a:moveTo>
                  <a:pt x="0" y="0"/>
                </a:moveTo>
                <a:lnTo>
                  <a:pt x="9144000" y="0"/>
                </a:lnTo>
                <a:lnTo>
                  <a:pt x="9144000" y="4464844"/>
                </a:lnTo>
                <a:lnTo>
                  <a:pt x="0" y="4464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 flipH="1">
            <a:off x="15975674" y="7205906"/>
            <a:ext cx="3783788" cy="3343493"/>
          </a:xfrm>
          <a:custGeom>
            <a:rect b="b" l="l" r="r" t="t"/>
            <a:pathLst>
              <a:path extrusionOk="0" h="3343493" w="3783788">
                <a:moveTo>
                  <a:pt x="3783788" y="0"/>
                </a:moveTo>
                <a:lnTo>
                  <a:pt x="0" y="0"/>
                </a:lnTo>
                <a:lnTo>
                  <a:pt x="0" y="3343493"/>
                </a:lnTo>
                <a:lnTo>
                  <a:pt x="3783788" y="3343493"/>
                </a:lnTo>
                <a:lnTo>
                  <a:pt x="3783788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/>
          <p:nvPr/>
        </p:nvSpPr>
        <p:spPr>
          <a:xfrm rot="-2392959">
            <a:off x="-895800" y="7430440"/>
            <a:ext cx="2226666" cy="3655720"/>
          </a:xfrm>
          <a:custGeom>
            <a:rect b="b" l="l" r="r" t="t"/>
            <a:pathLst>
              <a:path extrusionOk="0" h="3655720" w="2226666">
                <a:moveTo>
                  <a:pt x="0" y="0"/>
                </a:moveTo>
                <a:lnTo>
                  <a:pt x="2226666" y="0"/>
                </a:lnTo>
                <a:lnTo>
                  <a:pt x="2226666" y="3655720"/>
                </a:lnTo>
                <a:lnTo>
                  <a:pt x="0" y="3655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/>
          <p:nvPr/>
        </p:nvSpPr>
        <p:spPr>
          <a:xfrm rot="-1552202">
            <a:off x="118572" y="-503611"/>
            <a:ext cx="1419719" cy="3560423"/>
          </a:xfrm>
          <a:custGeom>
            <a:rect b="b" l="l" r="r" t="t"/>
            <a:pathLst>
              <a:path extrusionOk="0" h="3560423" w="1419719">
                <a:moveTo>
                  <a:pt x="0" y="0"/>
                </a:moveTo>
                <a:lnTo>
                  <a:pt x="1419718" y="0"/>
                </a:lnTo>
                <a:lnTo>
                  <a:pt x="1419718" y="3560423"/>
                </a:lnTo>
                <a:lnTo>
                  <a:pt x="0" y="3560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/>
          <p:nvPr/>
        </p:nvSpPr>
        <p:spPr>
          <a:xfrm rot="1591302">
            <a:off x="16758228" y="-891316"/>
            <a:ext cx="1745093" cy="3452523"/>
          </a:xfrm>
          <a:custGeom>
            <a:rect b="b" l="l" r="r" t="t"/>
            <a:pathLst>
              <a:path extrusionOk="0" h="3452523" w="1745093">
                <a:moveTo>
                  <a:pt x="0" y="0"/>
                </a:moveTo>
                <a:lnTo>
                  <a:pt x="1745094" y="0"/>
                </a:lnTo>
                <a:lnTo>
                  <a:pt x="1745094" y="3452523"/>
                </a:lnTo>
                <a:lnTo>
                  <a:pt x="0" y="3452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-1103395" y="3388223"/>
            <a:ext cx="2641855" cy="2094270"/>
          </a:xfrm>
          <a:custGeom>
            <a:rect b="b" l="l" r="r" t="t"/>
            <a:pathLst>
              <a:path extrusionOk="0" h="2094270" w="2641855">
                <a:moveTo>
                  <a:pt x="0" y="0"/>
                </a:moveTo>
                <a:lnTo>
                  <a:pt x="2641855" y="0"/>
                </a:lnTo>
                <a:lnTo>
                  <a:pt x="2641855" y="2094270"/>
                </a:lnTo>
                <a:lnTo>
                  <a:pt x="0" y="2094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16966005" y="4800783"/>
            <a:ext cx="2307327" cy="1363421"/>
          </a:xfrm>
          <a:custGeom>
            <a:rect b="b" l="l" r="r" t="t"/>
            <a:pathLst>
              <a:path extrusionOk="0" h="1363421" w="2307327">
                <a:moveTo>
                  <a:pt x="0" y="0"/>
                </a:moveTo>
                <a:lnTo>
                  <a:pt x="2307327" y="0"/>
                </a:lnTo>
                <a:lnTo>
                  <a:pt x="2307327" y="1363421"/>
                </a:lnTo>
                <a:lnTo>
                  <a:pt x="0" y="13634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819150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개요</a:t>
            </a:r>
            <a:endParaRPr b="1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97" name="Google Shape;97;p3"/>
          <p:cNvGrpSpPr/>
          <p:nvPr/>
        </p:nvGrpSpPr>
        <p:grpSpPr>
          <a:xfrm>
            <a:off x="3199006" y="1841865"/>
            <a:ext cx="11889471" cy="2812281"/>
            <a:chOff x="3199006" y="1981255"/>
            <a:chExt cx="11889471" cy="2812281"/>
          </a:xfrm>
        </p:grpSpPr>
        <p:grpSp>
          <p:nvGrpSpPr>
            <p:cNvPr id="98" name="Google Shape;98;p3"/>
            <p:cNvGrpSpPr/>
            <p:nvPr/>
          </p:nvGrpSpPr>
          <p:grpSpPr>
            <a:xfrm>
              <a:off x="3199006" y="1981255"/>
              <a:ext cx="6644696" cy="1343267"/>
              <a:chOff x="0" y="-38100"/>
              <a:chExt cx="1961358" cy="399371"/>
            </a:xfrm>
          </p:grpSpPr>
          <p:sp>
            <p:nvSpPr>
              <p:cNvPr id="99" name="Google Shape;99;p3"/>
              <p:cNvSpPr/>
              <p:nvPr/>
            </p:nvSpPr>
            <p:spPr>
              <a:xfrm>
                <a:off x="0" y="0"/>
                <a:ext cx="1961358" cy="361271"/>
              </a:xfrm>
              <a:custGeom>
                <a:rect b="b" l="l" r="r" t="t"/>
                <a:pathLst>
                  <a:path extrusionOk="0" h="361271" w="1961358">
                    <a:moveTo>
                      <a:pt x="0" y="0"/>
                    </a:moveTo>
                    <a:lnTo>
                      <a:pt x="1961358" y="0"/>
                    </a:lnTo>
                    <a:lnTo>
                      <a:pt x="1961358" y="361271"/>
                    </a:lnTo>
                    <a:lnTo>
                      <a:pt x="0" y="3612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3"/>
              <p:cNvSpPr txBox="1"/>
              <p:nvPr/>
            </p:nvSpPr>
            <p:spPr>
              <a:xfrm>
                <a:off x="0" y="-38100"/>
                <a:ext cx="1961358" cy="3993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1" name="Google Shape;101;p3"/>
            <p:cNvSpPr txBox="1"/>
            <p:nvPr/>
          </p:nvSpPr>
          <p:spPr>
            <a:xfrm>
              <a:off x="10593982" y="2203473"/>
              <a:ext cx="4494495" cy="2327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6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99"/>
                <a:buFont typeface="Arial"/>
                <a:buNone/>
              </a:pPr>
              <a:r>
                <a:rPr b="1" i="0" lang="en-US" sz="8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rPr>
                <a:t>Our Team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3"/>
            <p:cNvSpPr txBox="1"/>
            <p:nvPr/>
          </p:nvSpPr>
          <p:spPr>
            <a:xfrm>
              <a:off x="3448068" y="2327368"/>
              <a:ext cx="6146657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Arial"/>
                <a:buNone/>
              </a:pPr>
              <a:r>
                <a:rPr b="0" i="0" lang="en-US" sz="5400" u="none" cap="none" strike="noStrike">
                  <a:solidFill>
                    <a:srgbClr val="212121"/>
                  </a:solidFill>
                  <a:latin typeface="Arial"/>
                  <a:ea typeface="Arial"/>
                  <a:cs typeface="Arial"/>
                  <a:sym typeface="Arial"/>
                </a:rPr>
                <a:t>지현이와</a:t>
              </a:r>
              <a:endParaRPr b="0" i="0" sz="54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" name="Google Shape;103;p3"/>
            <p:cNvGrpSpPr/>
            <p:nvPr/>
          </p:nvGrpSpPr>
          <p:grpSpPr>
            <a:xfrm>
              <a:off x="3199006" y="3474809"/>
              <a:ext cx="6644654" cy="1318727"/>
              <a:chOff x="0" y="-38100"/>
              <a:chExt cx="1961358" cy="392077"/>
            </a:xfrm>
          </p:grpSpPr>
          <p:sp>
            <p:nvSpPr>
              <p:cNvPr id="104" name="Google Shape;104;p3"/>
              <p:cNvSpPr/>
              <p:nvPr/>
            </p:nvSpPr>
            <p:spPr>
              <a:xfrm>
                <a:off x="0" y="0"/>
                <a:ext cx="1961358" cy="353977"/>
              </a:xfrm>
              <a:custGeom>
                <a:rect b="b" l="l" r="r" t="t"/>
                <a:pathLst>
                  <a:path extrusionOk="0" h="353977" w="1961358">
                    <a:moveTo>
                      <a:pt x="0" y="0"/>
                    </a:moveTo>
                    <a:lnTo>
                      <a:pt x="1961358" y="0"/>
                    </a:lnTo>
                    <a:lnTo>
                      <a:pt x="1961358" y="353977"/>
                    </a:lnTo>
                    <a:lnTo>
                      <a:pt x="0" y="35397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3"/>
              <p:cNvSpPr txBox="1"/>
              <p:nvPr/>
            </p:nvSpPr>
            <p:spPr>
              <a:xfrm>
                <a:off x="0" y="-38100"/>
                <a:ext cx="1961358" cy="3920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6" name="Google Shape;106;p3"/>
            <p:cNvSpPr txBox="1"/>
            <p:nvPr/>
          </p:nvSpPr>
          <p:spPr>
            <a:xfrm>
              <a:off x="3551859" y="3785547"/>
              <a:ext cx="5938940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Arial"/>
                <a:buNone/>
              </a:pPr>
              <a:r>
                <a:rPr b="0" i="0" lang="en-US" sz="5400" u="none" cap="none" strike="noStrike">
                  <a:solidFill>
                    <a:srgbClr val="212121"/>
                  </a:solidFill>
                  <a:latin typeface="Arial"/>
                  <a:ea typeface="Arial"/>
                  <a:cs typeface="Arial"/>
                  <a:sym typeface="Arial"/>
                </a:rPr>
                <a:t>중년들</a:t>
              </a:r>
              <a:endParaRPr b="0" i="0" sz="54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p3"/>
          <p:cNvSpPr/>
          <p:nvPr/>
        </p:nvSpPr>
        <p:spPr>
          <a:xfrm>
            <a:off x="12980716" y="5197849"/>
            <a:ext cx="2940543" cy="2940543"/>
          </a:xfrm>
          <a:prstGeom prst="ellipse">
            <a:avLst/>
          </a:prstGeom>
          <a:solidFill>
            <a:schemeClr val="accent6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김경제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기여도 : 33.3%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2366149" y="5309522"/>
            <a:ext cx="2940543" cy="2940543"/>
          </a:xfrm>
          <a:prstGeom prst="ellipse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윤가은</a:t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기여도 : 33.3%</a:t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7673433" y="5197849"/>
            <a:ext cx="2940543" cy="2940543"/>
          </a:xfrm>
          <a:prstGeom prst="ellipse">
            <a:avLst/>
          </a:prstGeom>
          <a:solidFill>
            <a:schemeClr val="accent3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송지현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기여도 : 33.4%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2467208" y="8544623"/>
            <a:ext cx="273204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UI/UX</a:t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7039208" y="8544623"/>
            <a:ext cx="4307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모델 학습 및 평가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12294220" y="8544623"/>
            <a:ext cx="4307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데이터 구축 및 EDA</a:t>
            </a:r>
            <a:endParaRPr/>
          </a:p>
        </p:txBody>
      </p:sp>
      <p:pic>
        <p:nvPicPr>
          <p:cNvPr descr="폰트, 서예, 친필, 타이포그래피이(가) 표시된 사진&#10;&#10;AI 생성 콘텐츠는 정확하지 않을 수 있습니다." id="113" name="Google Shape;113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-1440000">
            <a:off x="2024180" y="5549357"/>
            <a:ext cx="1276350" cy="582187"/>
          </a:xfrm>
          <a:prstGeom prst="rect">
            <a:avLst/>
          </a:prstGeom>
          <a:solidFill>
            <a:srgbClr val="ECECEC"/>
          </a:solidFill>
          <a:ln cap="sq" cmpd="sng" w="1905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65000" kx="195000" rotWithShape="0" algn="tl" dir="12900000" dist="50800" ky="145000">
              <a:srgbClr val="000000">
                <a:alpha val="30196"/>
              </a:srgbClr>
            </a:outerShdw>
          </a:effectLst>
        </p:spPr>
      </p:pic>
      <p:sp>
        <p:nvSpPr>
          <p:cNvPr id="114" name="Google Shape;114;p3"/>
          <p:cNvSpPr txBox="1"/>
          <p:nvPr/>
        </p:nvSpPr>
        <p:spPr>
          <a:xfrm>
            <a:off x="17723924" y="9782299"/>
            <a:ext cx="2790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12027830" y="514345"/>
            <a:ext cx="569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http://192.168.106.247:8050</a:t>
            </a:r>
            <a:endParaRPr b="1" i="0" sz="32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13051625" y="1147375"/>
            <a:ext cx="4531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사용자명: admin </a:t>
            </a:r>
            <a:endParaRPr b="1" sz="19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비밀번호: xFwhmvxWM8oYQNldOgVz</a:t>
            </a:r>
            <a:endParaRPr b="1" sz="2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47A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/>
          <p:nvPr/>
        </p:nvSpPr>
        <p:spPr>
          <a:xfrm flipH="1">
            <a:off x="-9525" y="5822156"/>
            <a:ext cx="9144000" cy="4464844"/>
          </a:xfrm>
          <a:custGeom>
            <a:rect b="b" l="l" r="r" t="t"/>
            <a:pathLst>
              <a:path extrusionOk="0" h="4464844" w="9144000">
                <a:moveTo>
                  <a:pt x="9144000" y="0"/>
                </a:moveTo>
                <a:lnTo>
                  <a:pt x="0" y="0"/>
                </a:lnTo>
                <a:lnTo>
                  <a:pt x="0" y="4464844"/>
                </a:lnTo>
                <a:lnTo>
                  <a:pt x="9144000" y="4464844"/>
                </a:lnTo>
                <a:lnTo>
                  <a:pt x="914400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9134475" y="5822156"/>
            <a:ext cx="9144000" cy="4464844"/>
          </a:xfrm>
          <a:custGeom>
            <a:rect b="b" l="l" r="r" t="t"/>
            <a:pathLst>
              <a:path extrusionOk="0" h="4464844" w="9144000">
                <a:moveTo>
                  <a:pt x="0" y="0"/>
                </a:moveTo>
                <a:lnTo>
                  <a:pt x="9144000" y="0"/>
                </a:lnTo>
                <a:lnTo>
                  <a:pt x="9144000" y="4464844"/>
                </a:lnTo>
                <a:lnTo>
                  <a:pt x="0" y="4464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8"/>
          <p:cNvSpPr/>
          <p:nvPr/>
        </p:nvSpPr>
        <p:spPr>
          <a:xfrm flipH="1">
            <a:off x="15975674" y="7205906"/>
            <a:ext cx="3783788" cy="3343493"/>
          </a:xfrm>
          <a:custGeom>
            <a:rect b="b" l="l" r="r" t="t"/>
            <a:pathLst>
              <a:path extrusionOk="0" h="3343493" w="3783788">
                <a:moveTo>
                  <a:pt x="3783788" y="0"/>
                </a:moveTo>
                <a:lnTo>
                  <a:pt x="0" y="0"/>
                </a:lnTo>
                <a:lnTo>
                  <a:pt x="0" y="3343493"/>
                </a:lnTo>
                <a:lnTo>
                  <a:pt x="3783788" y="3343493"/>
                </a:lnTo>
                <a:lnTo>
                  <a:pt x="3783788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8"/>
          <p:cNvSpPr/>
          <p:nvPr/>
        </p:nvSpPr>
        <p:spPr>
          <a:xfrm rot="-2392959">
            <a:off x="-895800" y="7430440"/>
            <a:ext cx="2226666" cy="3655720"/>
          </a:xfrm>
          <a:custGeom>
            <a:rect b="b" l="l" r="r" t="t"/>
            <a:pathLst>
              <a:path extrusionOk="0" h="3655720" w="2226666">
                <a:moveTo>
                  <a:pt x="0" y="0"/>
                </a:moveTo>
                <a:lnTo>
                  <a:pt x="2226666" y="0"/>
                </a:lnTo>
                <a:lnTo>
                  <a:pt x="2226666" y="3655720"/>
                </a:lnTo>
                <a:lnTo>
                  <a:pt x="0" y="3655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8"/>
          <p:cNvSpPr/>
          <p:nvPr/>
        </p:nvSpPr>
        <p:spPr>
          <a:xfrm rot="-1552202">
            <a:off x="118572" y="-503611"/>
            <a:ext cx="1419719" cy="3560423"/>
          </a:xfrm>
          <a:custGeom>
            <a:rect b="b" l="l" r="r" t="t"/>
            <a:pathLst>
              <a:path extrusionOk="0" h="3560423" w="1419719">
                <a:moveTo>
                  <a:pt x="0" y="0"/>
                </a:moveTo>
                <a:lnTo>
                  <a:pt x="1419718" y="0"/>
                </a:lnTo>
                <a:lnTo>
                  <a:pt x="1419718" y="3560423"/>
                </a:lnTo>
                <a:lnTo>
                  <a:pt x="0" y="3560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8"/>
          <p:cNvSpPr/>
          <p:nvPr/>
        </p:nvSpPr>
        <p:spPr>
          <a:xfrm rot="1591302">
            <a:off x="16758228" y="-891316"/>
            <a:ext cx="1745093" cy="3452523"/>
          </a:xfrm>
          <a:custGeom>
            <a:rect b="b" l="l" r="r" t="t"/>
            <a:pathLst>
              <a:path extrusionOk="0" h="3452523" w="1745093">
                <a:moveTo>
                  <a:pt x="0" y="0"/>
                </a:moveTo>
                <a:lnTo>
                  <a:pt x="1745094" y="0"/>
                </a:lnTo>
                <a:lnTo>
                  <a:pt x="1745094" y="3452523"/>
                </a:lnTo>
                <a:lnTo>
                  <a:pt x="0" y="3452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-1103395" y="3388223"/>
            <a:ext cx="2641855" cy="2094270"/>
          </a:xfrm>
          <a:custGeom>
            <a:rect b="b" l="l" r="r" t="t"/>
            <a:pathLst>
              <a:path extrusionOk="0" h="2094270" w="2641855">
                <a:moveTo>
                  <a:pt x="0" y="0"/>
                </a:moveTo>
                <a:lnTo>
                  <a:pt x="2641855" y="0"/>
                </a:lnTo>
                <a:lnTo>
                  <a:pt x="2641855" y="2094270"/>
                </a:lnTo>
                <a:lnTo>
                  <a:pt x="0" y="2094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16966005" y="4800783"/>
            <a:ext cx="2307327" cy="1363421"/>
          </a:xfrm>
          <a:custGeom>
            <a:rect b="b" l="l" r="r" t="t"/>
            <a:pathLst>
              <a:path extrusionOk="0" h="1363421" w="2307327">
                <a:moveTo>
                  <a:pt x="0" y="0"/>
                </a:moveTo>
                <a:lnTo>
                  <a:pt x="2307327" y="0"/>
                </a:lnTo>
                <a:lnTo>
                  <a:pt x="2307327" y="1363421"/>
                </a:lnTo>
                <a:lnTo>
                  <a:pt x="0" y="13634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8"/>
          <p:cNvSpPr txBox="1"/>
          <p:nvPr/>
        </p:nvSpPr>
        <p:spPr>
          <a:xfrm>
            <a:off x="819150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개요</a:t>
            </a:r>
            <a:endParaRPr b="1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944880" y="1928939"/>
            <a:ext cx="1666875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프로젝트명: 설비 고장 예측 기반 정비 의사결정 지원 시스템</a:t>
            </a:r>
            <a:endParaRPr b="1" i="0" sz="32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1097280" y="2829214"/>
            <a:ext cx="1666875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유형: 제조 데이터 기반 설비 이상탐지 및 예지보전 AI 프로젝트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1097280" y="3335851"/>
            <a:ext cx="874395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기간: </a:t>
            </a:r>
            <a:r>
              <a:rPr b="0" i="0" lang="en-US" sz="2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2026.09.21 ~ 2026.09.30 </a:t>
            </a:r>
            <a:r>
              <a:rPr b="1" i="0" lang="en-US" sz="2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(총 6 Business Days)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9875520" y="4498180"/>
            <a:ext cx="632079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산출물 링크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2087880" y="4589620"/>
            <a:ext cx="569595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Tech Stack &amp; AI Toolchain</a:t>
            </a:r>
            <a:endParaRPr b="1" i="0" sz="32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14513591" y="6184918"/>
            <a:ext cx="1675623" cy="1675623"/>
          </a:xfrm>
          <a:prstGeom prst="ellipse">
            <a:avLst/>
          </a:prstGeom>
          <a:solidFill>
            <a:schemeClr val="accent6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sng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Notion</a:t>
            </a:r>
            <a:endParaRPr b="1" i="0" sz="20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10132091" y="6189911"/>
            <a:ext cx="1675623" cy="1675623"/>
          </a:xfrm>
          <a:prstGeom prst="ellipse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sng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</a:t>
            </a:r>
            <a:endParaRPr b="1" i="0" sz="20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12307601" y="6184918"/>
            <a:ext cx="1675623" cy="1675623"/>
          </a:xfrm>
          <a:prstGeom prst="ellipse">
            <a:avLst/>
          </a:prstGeom>
          <a:solidFill>
            <a:schemeClr val="accent3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sng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Figma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, 스크린샷, 폰트이(가) 표시된 사진&#10;&#10;AI 생성 콘텐츠는 정확하지 않을 수 있습니다." id="139" name="Google Shape;139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933807" y="5108536"/>
            <a:ext cx="6670288" cy="373589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8"/>
          <p:cNvSpPr txBox="1"/>
          <p:nvPr/>
        </p:nvSpPr>
        <p:spPr>
          <a:xfrm>
            <a:off x="17723924" y="9782299"/>
            <a:ext cx="2790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12027830" y="514345"/>
            <a:ext cx="569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http://192.168.106.247:8050</a:t>
            </a:r>
            <a:endParaRPr b="1" i="0" sz="32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13051625" y="1147375"/>
            <a:ext cx="4531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사용자명: admin </a:t>
            </a:r>
            <a:endParaRPr b="1" sz="19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비밀번호: xFwhmvxWM8oYQNldOgVz</a:t>
            </a:r>
            <a:endParaRPr b="1" sz="2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47A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/>
          <p:nvPr/>
        </p:nvSpPr>
        <p:spPr>
          <a:xfrm flipH="1">
            <a:off x="-9525" y="5822156"/>
            <a:ext cx="9144000" cy="4464844"/>
          </a:xfrm>
          <a:custGeom>
            <a:rect b="b" l="l" r="r" t="t"/>
            <a:pathLst>
              <a:path extrusionOk="0" h="4464844" w="9144000">
                <a:moveTo>
                  <a:pt x="9144000" y="0"/>
                </a:moveTo>
                <a:lnTo>
                  <a:pt x="0" y="0"/>
                </a:lnTo>
                <a:lnTo>
                  <a:pt x="0" y="4464844"/>
                </a:lnTo>
                <a:lnTo>
                  <a:pt x="9144000" y="4464844"/>
                </a:lnTo>
                <a:lnTo>
                  <a:pt x="914400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9134475" y="5822156"/>
            <a:ext cx="9144000" cy="4464844"/>
          </a:xfrm>
          <a:custGeom>
            <a:rect b="b" l="l" r="r" t="t"/>
            <a:pathLst>
              <a:path extrusionOk="0" h="4464844" w="9144000">
                <a:moveTo>
                  <a:pt x="0" y="0"/>
                </a:moveTo>
                <a:lnTo>
                  <a:pt x="9144000" y="0"/>
                </a:lnTo>
                <a:lnTo>
                  <a:pt x="9144000" y="4464844"/>
                </a:lnTo>
                <a:lnTo>
                  <a:pt x="0" y="4464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9"/>
          <p:cNvSpPr/>
          <p:nvPr/>
        </p:nvSpPr>
        <p:spPr>
          <a:xfrm flipH="1">
            <a:off x="15975674" y="7205906"/>
            <a:ext cx="3783788" cy="3343493"/>
          </a:xfrm>
          <a:custGeom>
            <a:rect b="b" l="l" r="r" t="t"/>
            <a:pathLst>
              <a:path extrusionOk="0" h="3343493" w="3783788">
                <a:moveTo>
                  <a:pt x="3783788" y="0"/>
                </a:moveTo>
                <a:lnTo>
                  <a:pt x="0" y="0"/>
                </a:lnTo>
                <a:lnTo>
                  <a:pt x="0" y="3343493"/>
                </a:lnTo>
                <a:lnTo>
                  <a:pt x="3783788" y="3343493"/>
                </a:lnTo>
                <a:lnTo>
                  <a:pt x="3783788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/>
          <p:nvPr/>
        </p:nvSpPr>
        <p:spPr>
          <a:xfrm rot="-2392959">
            <a:off x="-895800" y="7430440"/>
            <a:ext cx="2226666" cy="3655720"/>
          </a:xfrm>
          <a:custGeom>
            <a:rect b="b" l="l" r="r" t="t"/>
            <a:pathLst>
              <a:path extrusionOk="0" h="3655720" w="2226666">
                <a:moveTo>
                  <a:pt x="0" y="0"/>
                </a:moveTo>
                <a:lnTo>
                  <a:pt x="2226666" y="0"/>
                </a:lnTo>
                <a:lnTo>
                  <a:pt x="2226666" y="3655720"/>
                </a:lnTo>
                <a:lnTo>
                  <a:pt x="0" y="3655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9"/>
          <p:cNvSpPr/>
          <p:nvPr/>
        </p:nvSpPr>
        <p:spPr>
          <a:xfrm rot="-1552202">
            <a:off x="118572" y="-503611"/>
            <a:ext cx="1419719" cy="3560423"/>
          </a:xfrm>
          <a:custGeom>
            <a:rect b="b" l="l" r="r" t="t"/>
            <a:pathLst>
              <a:path extrusionOk="0" h="3560423" w="1419719">
                <a:moveTo>
                  <a:pt x="0" y="0"/>
                </a:moveTo>
                <a:lnTo>
                  <a:pt x="1419718" y="0"/>
                </a:lnTo>
                <a:lnTo>
                  <a:pt x="1419718" y="3560423"/>
                </a:lnTo>
                <a:lnTo>
                  <a:pt x="0" y="3560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9"/>
          <p:cNvSpPr/>
          <p:nvPr/>
        </p:nvSpPr>
        <p:spPr>
          <a:xfrm rot="1591302">
            <a:off x="16758228" y="-891316"/>
            <a:ext cx="1745093" cy="3452523"/>
          </a:xfrm>
          <a:custGeom>
            <a:rect b="b" l="l" r="r" t="t"/>
            <a:pathLst>
              <a:path extrusionOk="0" h="3452523" w="1745093">
                <a:moveTo>
                  <a:pt x="0" y="0"/>
                </a:moveTo>
                <a:lnTo>
                  <a:pt x="1745094" y="0"/>
                </a:lnTo>
                <a:lnTo>
                  <a:pt x="1745094" y="3452523"/>
                </a:lnTo>
                <a:lnTo>
                  <a:pt x="0" y="3452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-1103395" y="3388223"/>
            <a:ext cx="2641855" cy="2094270"/>
          </a:xfrm>
          <a:custGeom>
            <a:rect b="b" l="l" r="r" t="t"/>
            <a:pathLst>
              <a:path extrusionOk="0" h="2094270" w="2641855">
                <a:moveTo>
                  <a:pt x="0" y="0"/>
                </a:moveTo>
                <a:lnTo>
                  <a:pt x="2641855" y="0"/>
                </a:lnTo>
                <a:lnTo>
                  <a:pt x="2641855" y="2094270"/>
                </a:lnTo>
                <a:lnTo>
                  <a:pt x="0" y="2094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16966005" y="4800783"/>
            <a:ext cx="2307327" cy="1363421"/>
          </a:xfrm>
          <a:custGeom>
            <a:rect b="b" l="l" r="r" t="t"/>
            <a:pathLst>
              <a:path extrusionOk="0" h="1363421" w="2307327">
                <a:moveTo>
                  <a:pt x="0" y="0"/>
                </a:moveTo>
                <a:lnTo>
                  <a:pt x="2307327" y="0"/>
                </a:lnTo>
                <a:lnTo>
                  <a:pt x="2307327" y="1363421"/>
                </a:lnTo>
                <a:lnTo>
                  <a:pt x="0" y="13634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ㅊ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819150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개요</a:t>
            </a:r>
            <a:endParaRPr b="1" i="0" sz="32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819150" y="1743457"/>
            <a:ext cx="1666875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프로젝트 목적 : </a:t>
            </a:r>
            <a:endParaRPr b="1" i="0" sz="24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설비 고장 위험을 예측하고 재고·조달·정비·비용 정보를 연결하여 설비보전 담당자의 점검, 발주, 정비 시점 의사결정을 지원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809625" y="8471630"/>
            <a:ext cx="16668750" cy="64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E5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예측 결과를 점검·발주·정비 의사결정으로 연결하여 선제 대응 가능성 향상</a:t>
            </a:r>
            <a:endParaRPr b="0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59" name="Google Shape;159;p9"/>
          <p:cNvGraphicFramePr/>
          <p:nvPr/>
        </p:nvGraphicFramePr>
        <p:xfrm>
          <a:off x="819150" y="30105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{09DE9D87-B3BD-4428-8ECC-5E18B452F763}</a:tableStyleId>
              </a:tblPr>
              <a:tblGrid>
                <a:gridCol w="8324850"/>
                <a:gridCol w="8324850"/>
              </a:tblGrid>
              <a:tr h="868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AS IS  고장 예측 중심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7150" marB="57150" marR="247650" marL="2857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TO BE  대응 시점 중심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7150" marB="57150" marR="247650" marL="2857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F82"/>
                    </a:solidFill>
                  </a:tcPr>
                </a:tc>
              </a:tr>
              <a:tr h="1255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172A3A"/>
                          </a:solidFill>
                        </a:rPr>
                        <a:t>고장 위험만으로는 </a:t>
                      </a:r>
                      <a:r>
                        <a:rPr b="1" i="0" lang="en-US" sz="2000" u="none" cap="none" strike="noStrike">
                          <a:solidFill>
                            <a:srgbClr val="172A3A"/>
                          </a:solidFill>
                        </a:rPr>
                        <a:t>부품을 제때 준비할 수 있는지 판단하기 어려움</a:t>
                      </a:r>
                      <a:endParaRPr b="1" i="0" sz="1400" u="none" cap="none" strike="noStrike"/>
                    </a:p>
                  </a:txBody>
                  <a:tcPr marT="57150" marB="57150" marR="247650" marL="2857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172A3A"/>
                          </a:solidFill>
                        </a:rPr>
                        <a:t>고장 위험과 </a:t>
                      </a:r>
                      <a:r>
                        <a:rPr b="1" i="0" lang="en-US" sz="2000" u="none" cap="none" strike="noStrike">
                          <a:solidFill>
                            <a:srgbClr val="172A3A"/>
                          </a:solidFill>
                        </a:rPr>
                        <a:t>재고 입고 예정, 조달/준비기간을 연결해 대응 가능 여부 판단</a:t>
                      </a:r>
                      <a:endParaRPr sz="1400" u="none" cap="none" strike="noStrike"/>
                    </a:p>
                  </a:txBody>
                  <a:tcPr marT="57150" marB="57150" marR="247650" marL="2857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</a:tr>
              <a:tr h="1255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172A3A"/>
                          </a:solidFill>
                        </a:rPr>
                        <a:t>재고와 납기를 별도로 확인해야 해 </a:t>
                      </a:r>
                      <a:r>
                        <a:rPr b="1" i="0" lang="en-US" sz="2000" u="none" cap="none" strike="noStrike">
                          <a:solidFill>
                            <a:srgbClr val="172A3A"/>
                          </a:solidFill>
                        </a:rPr>
                        <a:t>발주 시점 판단이 담당자 경험에 의존</a:t>
                      </a:r>
                      <a:endParaRPr sz="1400" u="none" cap="none" strike="noStrike"/>
                    </a:p>
                  </a:txBody>
                  <a:tcPr marT="57150" marB="57150" marR="247650" marL="2857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172A3A"/>
                          </a:solidFill>
                        </a:rPr>
                        <a:t>정비 목표일 및 발주 마감일·대응 여유</a:t>
                      </a:r>
                      <a:r>
                        <a:rPr b="0" i="0" lang="en-US" sz="2000" u="none" cap="none" strike="noStrike">
                          <a:solidFill>
                            <a:srgbClr val="172A3A"/>
                          </a:solidFill>
                        </a:rPr>
                        <a:t>를 계산해 우선 대응 설비 제시</a:t>
                      </a:r>
                      <a:endParaRPr sz="2000" u="none" cap="none" strike="noStrike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7150" marB="57150" marR="247650" marL="2857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</a:tr>
              <a:tr h="1454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172A3A"/>
                          </a:solidFill>
                        </a:rPr>
                        <a:t>조기 발주와 지연 발주의 </a:t>
                      </a:r>
                      <a:r>
                        <a:rPr b="1" i="0" lang="en-US" sz="2000" u="none" cap="none" strike="noStrike">
                          <a:solidFill>
                            <a:srgbClr val="172A3A"/>
                          </a:solidFill>
                        </a:rPr>
                        <a:t>비용 차이를 정량적으로 비교하기 어려움</a:t>
                      </a:r>
                      <a:endParaRPr sz="1400" u="none" cap="none" strike="noStrike"/>
                    </a:p>
                  </a:txBody>
                  <a:tcPr marT="57150" marB="57150" marR="247650" marL="2857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172A3A"/>
                          </a:solidFill>
                        </a:rPr>
                        <a:t>보유비·긴급 대응비·정지 손실을 비교</a:t>
                      </a:r>
                      <a:r>
                        <a:rPr b="0" i="0" lang="en-US" sz="2000" u="none" cap="none" strike="noStrike">
                          <a:solidFill>
                            <a:srgbClr val="172A3A"/>
                          </a:solidFill>
                        </a:rPr>
                        <a:t>해 발주 시점별 비용 분석</a:t>
                      </a:r>
                      <a:endParaRPr sz="1400" u="none" cap="none" strike="noStrike"/>
                    </a:p>
                  </a:txBody>
                  <a:tcPr marT="57150" marB="57150" marR="247650" marL="2857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160" name="Google Shape;160;p9"/>
          <p:cNvSpPr txBox="1"/>
          <p:nvPr/>
        </p:nvSpPr>
        <p:spPr>
          <a:xfrm>
            <a:off x="17723924" y="9782299"/>
            <a:ext cx="2790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12027830" y="514345"/>
            <a:ext cx="569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http://192.168.106.247:8050</a:t>
            </a:r>
            <a:endParaRPr b="1" i="0" sz="32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13051625" y="1147375"/>
            <a:ext cx="4531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사용자명: admin </a:t>
            </a:r>
            <a:endParaRPr b="1" sz="19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비밀번호: xFwhmvxWM8oYQNldOgVz</a:t>
            </a:r>
            <a:endParaRPr b="1" sz="2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47A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/>
          <p:nvPr/>
        </p:nvSpPr>
        <p:spPr>
          <a:xfrm>
            <a:off x="9134475" y="5822156"/>
            <a:ext cx="9144000" cy="4464844"/>
          </a:xfrm>
          <a:custGeom>
            <a:rect b="b" l="l" r="r" t="t"/>
            <a:pathLst>
              <a:path extrusionOk="0" h="4464844" w="9144000">
                <a:moveTo>
                  <a:pt x="0" y="0"/>
                </a:moveTo>
                <a:lnTo>
                  <a:pt x="9144000" y="0"/>
                </a:lnTo>
                <a:lnTo>
                  <a:pt x="9144000" y="4464844"/>
                </a:lnTo>
                <a:lnTo>
                  <a:pt x="0" y="4464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0"/>
          <p:cNvSpPr/>
          <p:nvPr/>
        </p:nvSpPr>
        <p:spPr>
          <a:xfrm flipH="1">
            <a:off x="0" y="5905500"/>
            <a:ext cx="9144000" cy="4464844"/>
          </a:xfrm>
          <a:custGeom>
            <a:rect b="b" l="l" r="r" t="t"/>
            <a:pathLst>
              <a:path extrusionOk="0" h="4464844" w="9144000">
                <a:moveTo>
                  <a:pt x="9144000" y="0"/>
                </a:moveTo>
                <a:lnTo>
                  <a:pt x="0" y="0"/>
                </a:lnTo>
                <a:lnTo>
                  <a:pt x="0" y="4464844"/>
                </a:lnTo>
                <a:lnTo>
                  <a:pt x="9144000" y="4464844"/>
                </a:lnTo>
                <a:lnTo>
                  <a:pt x="914400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0"/>
          <p:cNvSpPr/>
          <p:nvPr/>
        </p:nvSpPr>
        <p:spPr>
          <a:xfrm flipH="1">
            <a:off x="15975674" y="7205906"/>
            <a:ext cx="3783788" cy="3343493"/>
          </a:xfrm>
          <a:custGeom>
            <a:rect b="b" l="l" r="r" t="t"/>
            <a:pathLst>
              <a:path extrusionOk="0" h="3343493" w="3783788">
                <a:moveTo>
                  <a:pt x="3783788" y="0"/>
                </a:moveTo>
                <a:lnTo>
                  <a:pt x="0" y="0"/>
                </a:lnTo>
                <a:lnTo>
                  <a:pt x="0" y="3343493"/>
                </a:lnTo>
                <a:lnTo>
                  <a:pt x="3783788" y="3343493"/>
                </a:lnTo>
                <a:lnTo>
                  <a:pt x="3783788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0"/>
          <p:cNvSpPr/>
          <p:nvPr/>
        </p:nvSpPr>
        <p:spPr>
          <a:xfrm rot="-1552202">
            <a:off x="118572" y="-503611"/>
            <a:ext cx="1419719" cy="3560423"/>
          </a:xfrm>
          <a:custGeom>
            <a:rect b="b" l="l" r="r" t="t"/>
            <a:pathLst>
              <a:path extrusionOk="0" h="3560423" w="1419719">
                <a:moveTo>
                  <a:pt x="0" y="0"/>
                </a:moveTo>
                <a:lnTo>
                  <a:pt x="1419718" y="0"/>
                </a:lnTo>
                <a:lnTo>
                  <a:pt x="1419718" y="3560423"/>
                </a:lnTo>
                <a:lnTo>
                  <a:pt x="0" y="3560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0"/>
          <p:cNvSpPr/>
          <p:nvPr/>
        </p:nvSpPr>
        <p:spPr>
          <a:xfrm rot="-2392959">
            <a:off x="-895800" y="7430440"/>
            <a:ext cx="2226666" cy="3655720"/>
          </a:xfrm>
          <a:custGeom>
            <a:rect b="b" l="l" r="r" t="t"/>
            <a:pathLst>
              <a:path extrusionOk="0" h="3655720" w="2226666">
                <a:moveTo>
                  <a:pt x="0" y="0"/>
                </a:moveTo>
                <a:lnTo>
                  <a:pt x="2226666" y="0"/>
                </a:lnTo>
                <a:lnTo>
                  <a:pt x="2226666" y="3655720"/>
                </a:lnTo>
                <a:lnTo>
                  <a:pt x="0" y="3655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0"/>
          <p:cNvSpPr/>
          <p:nvPr/>
        </p:nvSpPr>
        <p:spPr>
          <a:xfrm rot="1591302">
            <a:off x="16758228" y="-891316"/>
            <a:ext cx="1745093" cy="3452523"/>
          </a:xfrm>
          <a:custGeom>
            <a:rect b="b" l="l" r="r" t="t"/>
            <a:pathLst>
              <a:path extrusionOk="0" h="3452523" w="1745093">
                <a:moveTo>
                  <a:pt x="0" y="0"/>
                </a:moveTo>
                <a:lnTo>
                  <a:pt x="1745094" y="0"/>
                </a:lnTo>
                <a:lnTo>
                  <a:pt x="1745094" y="3452523"/>
                </a:lnTo>
                <a:lnTo>
                  <a:pt x="0" y="3452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-1103395" y="3388223"/>
            <a:ext cx="2641855" cy="2094270"/>
          </a:xfrm>
          <a:custGeom>
            <a:rect b="b" l="l" r="r" t="t"/>
            <a:pathLst>
              <a:path extrusionOk="0" h="2094270" w="2641855">
                <a:moveTo>
                  <a:pt x="0" y="0"/>
                </a:moveTo>
                <a:lnTo>
                  <a:pt x="2641855" y="0"/>
                </a:lnTo>
                <a:lnTo>
                  <a:pt x="2641855" y="2094270"/>
                </a:lnTo>
                <a:lnTo>
                  <a:pt x="0" y="2094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16966005" y="4800783"/>
            <a:ext cx="2307327" cy="1363421"/>
          </a:xfrm>
          <a:custGeom>
            <a:rect b="b" l="l" r="r" t="t"/>
            <a:pathLst>
              <a:path extrusionOk="0" h="1363421" w="2307327">
                <a:moveTo>
                  <a:pt x="0" y="0"/>
                </a:moveTo>
                <a:lnTo>
                  <a:pt x="2307327" y="0"/>
                </a:lnTo>
                <a:lnTo>
                  <a:pt x="2307327" y="1363421"/>
                </a:lnTo>
                <a:lnTo>
                  <a:pt x="0" y="13634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0"/>
          <p:cNvSpPr txBox="1"/>
          <p:nvPr/>
        </p:nvSpPr>
        <p:spPr>
          <a:xfrm>
            <a:off x="800100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구성 및 EDA</a:t>
            </a:r>
            <a:endParaRPr b="1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3127998" y="2501122"/>
            <a:ext cx="4208994" cy="4208994"/>
          </a:xfrm>
          <a:prstGeom prst="ellipse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외부 데이터</a:t>
            </a:r>
            <a:endParaRPr b="1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10951008" y="2501122"/>
            <a:ext cx="4208994" cy="4208994"/>
          </a:xfrm>
          <a:prstGeom prst="ellipse">
            <a:avLst/>
          </a:prstGeom>
          <a:solidFill>
            <a:schemeClr val="accent3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내부 구축 데이터</a:t>
            </a:r>
            <a:endParaRPr/>
          </a:p>
        </p:txBody>
      </p:sp>
      <p:sp>
        <p:nvSpPr>
          <p:cNvPr id="179" name="Google Shape;179;p10"/>
          <p:cNvSpPr txBox="1"/>
          <p:nvPr/>
        </p:nvSpPr>
        <p:spPr>
          <a:xfrm>
            <a:off x="2994574" y="7259413"/>
            <a:ext cx="4475841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Azure Predictive Maintenance에서 제공한 설비 센서, 오류, 정비 및 고장 이력 데이터입니다.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0"/>
          <p:cNvSpPr txBox="1"/>
          <p:nvPr/>
        </p:nvSpPr>
        <p:spPr>
          <a:xfrm>
            <a:off x="10808060" y="7259413"/>
            <a:ext cx="4475841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재고·발주·비용·협력사·조치 기능을 검증하기 위해 생성한 가상 운영 시뮬레이션 데이터입니다.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0"/>
          <p:cNvSpPr txBox="1"/>
          <p:nvPr/>
        </p:nvSpPr>
        <p:spPr>
          <a:xfrm>
            <a:off x="17723924" y="9782299"/>
            <a:ext cx="2790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0"/>
          <p:cNvSpPr txBox="1"/>
          <p:nvPr/>
        </p:nvSpPr>
        <p:spPr>
          <a:xfrm>
            <a:off x="12027830" y="514345"/>
            <a:ext cx="569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http://192.168.106.247:8050</a:t>
            </a:r>
            <a:endParaRPr b="1" i="0" sz="32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3" name="Google Shape;183;p10"/>
          <p:cNvSpPr txBox="1"/>
          <p:nvPr/>
        </p:nvSpPr>
        <p:spPr>
          <a:xfrm>
            <a:off x="13051625" y="1147375"/>
            <a:ext cx="4531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사용자명: admin </a:t>
            </a:r>
            <a:endParaRPr b="1" sz="19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비밀번호: xFwhmvxWM8oYQNldOgVz</a:t>
            </a:r>
            <a:endParaRPr b="1" sz="2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12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11"/>
          <p:cNvGrpSpPr/>
          <p:nvPr/>
        </p:nvGrpSpPr>
        <p:grpSpPr>
          <a:xfrm>
            <a:off x="-9525" y="5822156"/>
            <a:ext cx="18288000" cy="4464844"/>
            <a:chOff x="0" y="0"/>
            <a:chExt cx="24384000" cy="5953125"/>
          </a:xfrm>
        </p:grpSpPr>
        <p:sp>
          <p:nvSpPr>
            <p:cNvPr id="189" name="Google Shape;189;p11"/>
            <p:cNvSpPr/>
            <p:nvPr/>
          </p:nvSpPr>
          <p:spPr>
            <a:xfrm>
              <a:off x="1219200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5953125"/>
                  </a:lnTo>
                  <a:lnTo>
                    <a:pt x="0" y="59531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1"/>
            <p:cNvSpPr/>
            <p:nvPr/>
          </p:nvSpPr>
          <p:spPr>
            <a:xfrm flipH="1">
              <a:off x="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12192000" y="0"/>
                  </a:moveTo>
                  <a:lnTo>
                    <a:pt x="0" y="0"/>
                  </a:lnTo>
                  <a:lnTo>
                    <a:pt x="0" y="5953125"/>
                  </a:lnTo>
                  <a:lnTo>
                    <a:pt x="12192000" y="5953125"/>
                  </a:lnTo>
                  <a:lnTo>
                    <a:pt x="1219200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1" name="Google Shape;191;p11"/>
          <p:cNvSpPr/>
          <p:nvPr/>
        </p:nvSpPr>
        <p:spPr>
          <a:xfrm>
            <a:off x="15799971" y="6867339"/>
            <a:ext cx="5687099" cy="3567362"/>
          </a:xfrm>
          <a:custGeom>
            <a:rect b="b" l="l" r="r" t="t"/>
            <a:pathLst>
              <a:path extrusionOk="0" h="3567362" w="5687099">
                <a:moveTo>
                  <a:pt x="0" y="0"/>
                </a:moveTo>
                <a:lnTo>
                  <a:pt x="5687099" y="0"/>
                </a:lnTo>
                <a:lnTo>
                  <a:pt x="5687099" y="3567362"/>
                </a:lnTo>
                <a:lnTo>
                  <a:pt x="0" y="3567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15559640" y="-216616"/>
            <a:ext cx="4010686" cy="2450165"/>
          </a:xfrm>
          <a:custGeom>
            <a:rect b="b" l="l" r="r" t="t"/>
            <a:pathLst>
              <a:path extrusionOk="0" h="2450165" w="4010686">
                <a:moveTo>
                  <a:pt x="0" y="0"/>
                </a:moveTo>
                <a:lnTo>
                  <a:pt x="4010686" y="0"/>
                </a:lnTo>
                <a:lnTo>
                  <a:pt x="4010686" y="2450165"/>
                </a:lnTo>
                <a:lnTo>
                  <a:pt x="0" y="2450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162394" y="188387"/>
            <a:ext cx="2598509" cy="2201646"/>
          </a:xfrm>
          <a:custGeom>
            <a:rect b="b" l="l" r="r" t="t"/>
            <a:pathLst>
              <a:path extrusionOk="0" h="2201646" w="2598509">
                <a:moveTo>
                  <a:pt x="0" y="0"/>
                </a:moveTo>
                <a:lnTo>
                  <a:pt x="2598509" y="0"/>
                </a:lnTo>
                <a:lnTo>
                  <a:pt x="2598509" y="2201646"/>
                </a:lnTo>
                <a:lnTo>
                  <a:pt x="0" y="22016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-1091061" y="3756360"/>
            <a:ext cx="3145260" cy="2361566"/>
          </a:xfrm>
          <a:custGeom>
            <a:rect b="b" l="l" r="r" t="t"/>
            <a:pathLst>
              <a:path extrusionOk="0" h="2361566" w="3145260">
                <a:moveTo>
                  <a:pt x="0" y="0"/>
                </a:moveTo>
                <a:lnTo>
                  <a:pt x="3145260" y="0"/>
                </a:lnTo>
                <a:lnTo>
                  <a:pt x="3145260" y="2361566"/>
                </a:lnTo>
                <a:lnTo>
                  <a:pt x="0" y="2361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1"/>
          <p:cNvSpPr/>
          <p:nvPr/>
        </p:nvSpPr>
        <p:spPr>
          <a:xfrm rot="-1461047">
            <a:off x="16209924" y="3485593"/>
            <a:ext cx="1394433" cy="2289368"/>
          </a:xfrm>
          <a:custGeom>
            <a:rect b="b" l="l" r="r" t="t"/>
            <a:pathLst>
              <a:path extrusionOk="0" h="2289368" w="1394433">
                <a:moveTo>
                  <a:pt x="0" y="0"/>
                </a:moveTo>
                <a:lnTo>
                  <a:pt x="1394434" y="0"/>
                </a:lnTo>
                <a:lnTo>
                  <a:pt x="1394434" y="2289368"/>
                </a:lnTo>
                <a:lnTo>
                  <a:pt x="0" y="228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1"/>
          <p:cNvSpPr/>
          <p:nvPr/>
        </p:nvSpPr>
        <p:spPr>
          <a:xfrm rot="1174586">
            <a:off x="-362171" y="7357145"/>
            <a:ext cx="2189869" cy="4332475"/>
          </a:xfrm>
          <a:custGeom>
            <a:rect b="b" l="l" r="r" t="t"/>
            <a:pathLst>
              <a:path extrusionOk="0" h="4332475" w="2189869">
                <a:moveTo>
                  <a:pt x="0" y="0"/>
                </a:moveTo>
                <a:lnTo>
                  <a:pt x="2189870" y="0"/>
                </a:lnTo>
                <a:lnTo>
                  <a:pt x="2189870" y="4332475"/>
                </a:lnTo>
                <a:lnTo>
                  <a:pt x="0" y="43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1"/>
          <p:cNvSpPr txBox="1"/>
          <p:nvPr/>
        </p:nvSpPr>
        <p:spPr>
          <a:xfrm>
            <a:off x="800100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구성 및 EDA – </a:t>
            </a:r>
            <a:r>
              <a:rPr b="1" i="0" lang="en-US" sz="3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외부 데이터</a:t>
            </a:r>
            <a:endParaRPr b="1" i="0" sz="32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9" name="Google Shape;199;p11"/>
          <p:cNvSpPr txBox="1"/>
          <p:nvPr/>
        </p:nvSpPr>
        <p:spPr>
          <a:xfrm>
            <a:off x="819150" y="2069464"/>
            <a:ext cx="1666875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Microsoft 공개 시뮬레이션 데이터 | 센서 관측기간 2015.01.01 06시 ~ 2016.01.01 06시</a:t>
            </a:r>
            <a:endParaRPr b="0" i="0" sz="2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0" name="Google Shape;200;p11"/>
          <p:cNvSpPr txBox="1"/>
          <p:nvPr/>
        </p:nvSpPr>
        <p:spPr>
          <a:xfrm>
            <a:off x="819150" y="2910638"/>
            <a:ext cx="767042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E5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설비 100대, 센서 4종 데이터</a:t>
            </a:r>
            <a:endParaRPr b="1" i="0" sz="2000" u="none" cap="none" strike="noStrike">
              <a:solidFill>
                <a:srgbClr val="00E5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01" name="Google Shape;201;p11"/>
          <p:cNvGraphicFramePr/>
          <p:nvPr/>
        </p:nvGraphicFramePr>
        <p:xfrm>
          <a:off x="819150" y="33828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{09DE9D87-B3BD-4428-8ECC-5E18B452F763}</a:tableStyleId>
              </a:tblPr>
              <a:tblGrid>
                <a:gridCol w="5200650"/>
                <a:gridCol w="1962150"/>
                <a:gridCol w="9486900"/>
              </a:tblGrid>
              <a:tr h="742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파일</a:t>
                      </a:r>
                      <a:endParaRPr b="1" sz="260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행 수</a:t>
                      </a:r>
                      <a:endParaRPr b="1" sz="260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 정보와 활용</a:t>
                      </a:r>
                      <a:endParaRPr b="1" sz="260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A3A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PdM_machines.csv</a:t>
                      </a:r>
                      <a:endParaRPr b="1" sz="2000" u="none" cap="none" strike="noStrike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100</a:t>
                      </a:r>
                      <a:endParaRPr b="1" sz="2000" u="none" cap="none" strike="noStrike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설비 모델명, 연식</a:t>
                      </a:r>
                      <a:endParaRPr b="1" sz="2000" u="none" cap="none" strike="noStrike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PdM_telemetry.csv</a:t>
                      </a:r>
                      <a:endParaRPr b="1" sz="2000" u="none" cap="none" strike="noStrike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876,100</a:t>
                      </a:r>
                      <a:endParaRPr b="1" sz="2000" u="none" cap="none" strike="noStrike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시간별 전압, 회전속도, 압력, 진동</a:t>
                      </a:r>
                      <a:endParaRPr b="1" sz="2000" u="none" cap="none" strike="noStrike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PdM_errors.csv</a:t>
                      </a:r>
                      <a:endParaRPr b="1" sz="2000" u="none" cap="none" strike="noStrike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3,919</a:t>
                      </a:r>
                      <a:endParaRPr b="1" sz="2000" u="none" cap="none" strike="noStrike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오류 유형/발생 시점, 과거 오류 횟수</a:t>
                      </a:r>
                      <a:endParaRPr b="1" sz="2000" u="none" cap="none" strike="noStrike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PdM_maint.csv</a:t>
                      </a:r>
                      <a:endParaRPr b="1" sz="2000" u="none" cap="none" strike="noStrike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3,286</a:t>
                      </a:r>
                      <a:endParaRPr b="1" sz="2000" u="none" cap="none" strike="noStrike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부품 교체 이력, 교체 후 경과일</a:t>
                      </a:r>
                      <a:endParaRPr b="1" sz="2000" u="none" cap="none" strike="noStrike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PdM_failures.csv</a:t>
                      </a:r>
                      <a:endParaRPr b="1" sz="2000" u="none" cap="none" strike="noStrike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761</a:t>
                      </a:r>
                      <a:endParaRPr b="1" sz="2000" u="none" cap="none" strike="noStrike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고장 부품 발생 시점</a:t>
                      </a:r>
                      <a:endParaRPr b="1" sz="2000" u="none" cap="none" strike="noStrike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202" name="Google Shape;202;p11"/>
          <p:cNvSpPr txBox="1"/>
          <p:nvPr/>
        </p:nvSpPr>
        <p:spPr>
          <a:xfrm>
            <a:off x="9368960" y="8027512"/>
            <a:ext cx="802677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출처: Kaggle Microsoft Azure Predictive Maintenance</a:t>
            </a:r>
            <a:endParaRPr b="1" i="0" sz="16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3" name="Google Shape;203;p11"/>
          <p:cNvSpPr txBox="1"/>
          <p:nvPr/>
        </p:nvSpPr>
        <p:spPr>
          <a:xfrm>
            <a:off x="6660776" y="8391398"/>
            <a:ext cx="1073495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License: 공개 데이터이지만 현재 라이선스가 명시되지 않아 출처를 표기하고 원본 데이터의 외부 재배포를 제한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1"/>
          <p:cNvSpPr txBox="1"/>
          <p:nvPr/>
        </p:nvSpPr>
        <p:spPr>
          <a:xfrm>
            <a:off x="17723924" y="9782299"/>
            <a:ext cx="2790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1"/>
          <p:cNvSpPr txBox="1"/>
          <p:nvPr/>
        </p:nvSpPr>
        <p:spPr>
          <a:xfrm>
            <a:off x="12027830" y="514345"/>
            <a:ext cx="569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http://192.168.106.247:8050</a:t>
            </a:r>
            <a:endParaRPr b="1" i="0" sz="32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6" name="Google Shape;206;p11"/>
          <p:cNvSpPr txBox="1"/>
          <p:nvPr/>
        </p:nvSpPr>
        <p:spPr>
          <a:xfrm>
            <a:off x="13051625" y="1147375"/>
            <a:ext cx="4531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사용자명: admin </a:t>
            </a:r>
            <a:endParaRPr b="1" sz="19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비밀번호: xFwhmvxWM8oYQNldOgVz</a:t>
            </a:r>
            <a:endParaRPr b="1" sz="2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12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12"/>
          <p:cNvGrpSpPr/>
          <p:nvPr/>
        </p:nvGrpSpPr>
        <p:grpSpPr>
          <a:xfrm>
            <a:off x="-9525" y="5822156"/>
            <a:ext cx="18288000" cy="4464844"/>
            <a:chOff x="0" y="0"/>
            <a:chExt cx="24384000" cy="5953125"/>
          </a:xfrm>
        </p:grpSpPr>
        <p:sp>
          <p:nvSpPr>
            <p:cNvPr id="212" name="Google Shape;212;p12"/>
            <p:cNvSpPr/>
            <p:nvPr/>
          </p:nvSpPr>
          <p:spPr>
            <a:xfrm>
              <a:off x="1219200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5953125"/>
                  </a:lnTo>
                  <a:lnTo>
                    <a:pt x="0" y="59531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2"/>
            <p:cNvSpPr/>
            <p:nvPr/>
          </p:nvSpPr>
          <p:spPr>
            <a:xfrm flipH="1">
              <a:off x="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12192000" y="0"/>
                  </a:moveTo>
                  <a:lnTo>
                    <a:pt x="0" y="0"/>
                  </a:lnTo>
                  <a:lnTo>
                    <a:pt x="0" y="5953125"/>
                  </a:lnTo>
                  <a:lnTo>
                    <a:pt x="12192000" y="5953125"/>
                  </a:lnTo>
                  <a:lnTo>
                    <a:pt x="1219200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4" name="Google Shape;214;p12"/>
          <p:cNvSpPr/>
          <p:nvPr/>
        </p:nvSpPr>
        <p:spPr>
          <a:xfrm>
            <a:off x="15799971" y="6867339"/>
            <a:ext cx="5687099" cy="3567362"/>
          </a:xfrm>
          <a:custGeom>
            <a:rect b="b" l="l" r="r" t="t"/>
            <a:pathLst>
              <a:path extrusionOk="0" h="3567362" w="5687099">
                <a:moveTo>
                  <a:pt x="0" y="0"/>
                </a:moveTo>
                <a:lnTo>
                  <a:pt x="5687099" y="0"/>
                </a:lnTo>
                <a:lnTo>
                  <a:pt x="5687099" y="3567362"/>
                </a:lnTo>
                <a:lnTo>
                  <a:pt x="0" y="3567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15559640" y="-216616"/>
            <a:ext cx="4010686" cy="2450165"/>
          </a:xfrm>
          <a:custGeom>
            <a:rect b="b" l="l" r="r" t="t"/>
            <a:pathLst>
              <a:path extrusionOk="0" h="2450165" w="4010686">
                <a:moveTo>
                  <a:pt x="0" y="0"/>
                </a:moveTo>
                <a:lnTo>
                  <a:pt x="4010686" y="0"/>
                </a:lnTo>
                <a:lnTo>
                  <a:pt x="4010686" y="2450165"/>
                </a:lnTo>
                <a:lnTo>
                  <a:pt x="0" y="2450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162394" y="188387"/>
            <a:ext cx="2598509" cy="2201646"/>
          </a:xfrm>
          <a:custGeom>
            <a:rect b="b" l="l" r="r" t="t"/>
            <a:pathLst>
              <a:path extrusionOk="0" h="2201646" w="2598509">
                <a:moveTo>
                  <a:pt x="0" y="0"/>
                </a:moveTo>
                <a:lnTo>
                  <a:pt x="2598509" y="0"/>
                </a:lnTo>
                <a:lnTo>
                  <a:pt x="2598509" y="2201646"/>
                </a:lnTo>
                <a:lnTo>
                  <a:pt x="0" y="22016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-1091061" y="3756360"/>
            <a:ext cx="3145260" cy="2361566"/>
          </a:xfrm>
          <a:custGeom>
            <a:rect b="b" l="l" r="r" t="t"/>
            <a:pathLst>
              <a:path extrusionOk="0" h="2361566" w="3145260">
                <a:moveTo>
                  <a:pt x="0" y="0"/>
                </a:moveTo>
                <a:lnTo>
                  <a:pt x="3145260" y="0"/>
                </a:lnTo>
                <a:lnTo>
                  <a:pt x="3145260" y="2361566"/>
                </a:lnTo>
                <a:lnTo>
                  <a:pt x="0" y="2361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2"/>
          <p:cNvSpPr/>
          <p:nvPr/>
        </p:nvSpPr>
        <p:spPr>
          <a:xfrm rot="-1461047">
            <a:off x="16209924" y="3485593"/>
            <a:ext cx="1394433" cy="2289368"/>
          </a:xfrm>
          <a:custGeom>
            <a:rect b="b" l="l" r="r" t="t"/>
            <a:pathLst>
              <a:path extrusionOk="0" h="2289368" w="1394433">
                <a:moveTo>
                  <a:pt x="0" y="0"/>
                </a:moveTo>
                <a:lnTo>
                  <a:pt x="1394434" y="0"/>
                </a:lnTo>
                <a:lnTo>
                  <a:pt x="1394434" y="2289368"/>
                </a:lnTo>
                <a:lnTo>
                  <a:pt x="0" y="228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2"/>
          <p:cNvSpPr/>
          <p:nvPr/>
        </p:nvSpPr>
        <p:spPr>
          <a:xfrm rot="1174586">
            <a:off x="-362171" y="7357145"/>
            <a:ext cx="2189869" cy="4332475"/>
          </a:xfrm>
          <a:custGeom>
            <a:rect b="b" l="l" r="r" t="t"/>
            <a:pathLst>
              <a:path extrusionOk="0" h="4332475" w="2189869">
                <a:moveTo>
                  <a:pt x="0" y="0"/>
                </a:moveTo>
                <a:lnTo>
                  <a:pt x="2189870" y="0"/>
                </a:lnTo>
                <a:lnTo>
                  <a:pt x="2189870" y="4332475"/>
                </a:lnTo>
                <a:lnTo>
                  <a:pt x="0" y="43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2"/>
          <p:cNvSpPr txBox="1"/>
          <p:nvPr/>
        </p:nvSpPr>
        <p:spPr>
          <a:xfrm>
            <a:off x="800100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구성 및 EDA – </a:t>
            </a:r>
            <a:r>
              <a:rPr b="1" i="0" lang="en-US" sz="3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외부 데이터</a:t>
            </a:r>
            <a:endParaRPr b="1" i="0" sz="32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22" name="Google Shape;222;p12"/>
          <p:cNvGraphicFramePr/>
          <p:nvPr/>
        </p:nvGraphicFramePr>
        <p:xfrm>
          <a:off x="679016" y="20848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{09DE9D87-B3BD-4428-8ECC-5E18B452F763}</a:tableStyleId>
              </a:tblPr>
              <a:tblGrid>
                <a:gridCol w="2086950"/>
                <a:gridCol w="3201325"/>
              </a:tblGrid>
              <a:tr h="12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파일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정보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A3A"/>
                    </a:solidFill>
                  </a:tcPr>
                </a:tc>
              </a:tr>
              <a:tr h="12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PdM_machines.csv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BF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설비 모델명, 연식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BF8E"/>
                    </a:solidFill>
                  </a:tcPr>
                </a:tc>
              </a:tr>
              <a:tr h="12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PdM_telemetry.csv</a:t>
                      </a:r>
                      <a:endParaRPr b="1" i="0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시간별 전압, 회전속도, 압력, 진동</a:t>
                      </a:r>
                      <a:endParaRPr b="1" i="0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PdM_errors.csv</a:t>
                      </a:r>
                      <a:endParaRPr b="1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오류 유형/발생 시점, 과거 오류 횟수</a:t>
                      </a:r>
                      <a:endParaRPr b="1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PdM_maint.csv</a:t>
                      </a:r>
                      <a:endParaRPr b="1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부품 교체 이력, 교체 후 경과일</a:t>
                      </a:r>
                      <a:endParaRPr b="1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PdM_failures.csv</a:t>
                      </a:r>
                      <a:endParaRPr b="1" i="0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고장 부품 발생 시점</a:t>
                      </a:r>
                      <a:endParaRPr b="1" i="0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3" name="Google Shape;223;p12"/>
          <p:cNvSpPr txBox="1"/>
          <p:nvPr/>
        </p:nvSpPr>
        <p:spPr>
          <a:xfrm>
            <a:off x="6394760" y="1994359"/>
            <a:ext cx="537814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모델별 설비 연령 분포</a:t>
            </a:r>
            <a:endParaRPr/>
          </a:p>
        </p:txBody>
      </p:sp>
      <p:pic>
        <p:nvPicPr>
          <p:cNvPr id="224" name="Google Shape;224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01148" y="2800118"/>
            <a:ext cx="11172825" cy="661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2"/>
          <p:cNvSpPr txBox="1"/>
          <p:nvPr/>
        </p:nvSpPr>
        <p:spPr>
          <a:xfrm>
            <a:off x="17723924" y="9782299"/>
            <a:ext cx="2790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2"/>
          <p:cNvSpPr txBox="1"/>
          <p:nvPr/>
        </p:nvSpPr>
        <p:spPr>
          <a:xfrm>
            <a:off x="12027830" y="514345"/>
            <a:ext cx="569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http://192.168.106.247:8050</a:t>
            </a:r>
            <a:endParaRPr b="1" i="0" sz="32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7" name="Google Shape;227;p12"/>
          <p:cNvSpPr txBox="1"/>
          <p:nvPr/>
        </p:nvSpPr>
        <p:spPr>
          <a:xfrm>
            <a:off x="13051625" y="1147375"/>
            <a:ext cx="4531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사용자명: admin </a:t>
            </a:r>
            <a:endParaRPr b="1" sz="19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비밀번호: xFwhmvxWM8oYQNldOgVz</a:t>
            </a:r>
            <a:endParaRPr b="1" sz="2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12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232;p26"/>
          <p:cNvGrpSpPr/>
          <p:nvPr/>
        </p:nvGrpSpPr>
        <p:grpSpPr>
          <a:xfrm>
            <a:off x="-9525" y="5822156"/>
            <a:ext cx="18288000" cy="4464844"/>
            <a:chOff x="0" y="0"/>
            <a:chExt cx="24384000" cy="5953125"/>
          </a:xfrm>
        </p:grpSpPr>
        <p:sp>
          <p:nvSpPr>
            <p:cNvPr id="233" name="Google Shape;233;p26"/>
            <p:cNvSpPr/>
            <p:nvPr/>
          </p:nvSpPr>
          <p:spPr>
            <a:xfrm>
              <a:off x="1219200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5953125"/>
                  </a:lnTo>
                  <a:lnTo>
                    <a:pt x="0" y="59531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6"/>
            <p:cNvSpPr/>
            <p:nvPr/>
          </p:nvSpPr>
          <p:spPr>
            <a:xfrm flipH="1">
              <a:off x="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12192000" y="0"/>
                  </a:moveTo>
                  <a:lnTo>
                    <a:pt x="0" y="0"/>
                  </a:lnTo>
                  <a:lnTo>
                    <a:pt x="0" y="5953125"/>
                  </a:lnTo>
                  <a:lnTo>
                    <a:pt x="12192000" y="5953125"/>
                  </a:lnTo>
                  <a:lnTo>
                    <a:pt x="1219200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5" name="Google Shape;235;p26"/>
          <p:cNvSpPr/>
          <p:nvPr/>
        </p:nvSpPr>
        <p:spPr>
          <a:xfrm>
            <a:off x="15799971" y="6867339"/>
            <a:ext cx="5687099" cy="3567362"/>
          </a:xfrm>
          <a:custGeom>
            <a:rect b="b" l="l" r="r" t="t"/>
            <a:pathLst>
              <a:path extrusionOk="0" h="3567362" w="5687099">
                <a:moveTo>
                  <a:pt x="0" y="0"/>
                </a:moveTo>
                <a:lnTo>
                  <a:pt x="5687099" y="0"/>
                </a:lnTo>
                <a:lnTo>
                  <a:pt x="5687099" y="3567362"/>
                </a:lnTo>
                <a:lnTo>
                  <a:pt x="0" y="3567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6"/>
          <p:cNvSpPr/>
          <p:nvPr/>
        </p:nvSpPr>
        <p:spPr>
          <a:xfrm>
            <a:off x="15559640" y="-216616"/>
            <a:ext cx="4010686" cy="2450165"/>
          </a:xfrm>
          <a:custGeom>
            <a:rect b="b" l="l" r="r" t="t"/>
            <a:pathLst>
              <a:path extrusionOk="0" h="2450165" w="4010686">
                <a:moveTo>
                  <a:pt x="0" y="0"/>
                </a:moveTo>
                <a:lnTo>
                  <a:pt x="4010686" y="0"/>
                </a:lnTo>
                <a:lnTo>
                  <a:pt x="4010686" y="2450165"/>
                </a:lnTo>
                <a:lnTo>
                  <a:pt x="0" y="2450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6"/>
          <p:cNvSpPr/>
          <p:nvPr/>
        </p:nvSpPr>
        <p:spPr>
          <a:xfrm>
            <a:off x="162394" y="188387"/>
            <a:ext cx="2598509" cy="2201646"/>
          </a:xfrm>
          <a:custGeom>
            <a:rect b="b" l="l" r="r" t="t"/>
            <a:pathLst>
              <a:path extrusionOk="0" h="2201646" w="2598509">
                <a:moveTo>
                  <a:pt x="0" y="0"/>
                </a:moveTo>
                <a:lnTo>
                  <a:pt x="2598509" y="0"/>
                </a:lnTo>
                <a:lnTo>
                  <a:pt x="2598509" y="2201646"/>
                </a:lnTo>
                <a:lnTo>
                  <a:pt x="0" y="22016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6"/>
          <p:cNvSpPr/>
          <p:nvPr/>
        </p:nvSpPr>
        <p:spPr>
          <a:xfrm>
            <a:off x="-1091061" y="3756360"/>
            <a:ext cx="3145260" cy="2361566"/>
          </a:xfrm>
          <a:custGeom>
            <a:rect b="b" l="l" r="r" t="t"/>
            <a:pathLst>
              <a:path extrusionOk="0" h="2361566" w="3145260">
                <a:moveTo>
                  <a:pt x="0" y="0"/>
                </a:moveTo>
                <a:lnTo>
                  <a:pt x="3145260" y="0"/>
                </a:lnTo>
                <a:lnTo>
                  <a:pt x="3145260" y="2361566"/>
                </a:lnTo>
                <a:lnTo>
                  <a:pt x="0" y="2361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6"/>
          <p:cNvSpPr/>
          <p:nvPr/>
        </p:nvSpPr>
        <p:spPr>
          <a:xfrm rot="-1461047">
            <a:off x="16209924" y="3485593"/>
            <a:ext cx="1394433" cy="2289368"/>
          </a:xfrm>
          <a:custGeom>
            <a:rect b="b" l="l" r="r" t="t"/>
            <a:pathLst>
              <a:path extrusionOk="0" h="2289368" w="1394433">
                <a:moveTo>
                  <a:pt x="0" y="0"/>
                </a:moveTo>
                <a:lnTo>
                  <a:pt x="1394434" y="0"/>
                </a:lnTo>
                <a:lnTo>
                  <a:pt x="1394434" y="2289368"/>
                </a:lnTo>
                <a:lnTo>
                  <a:pt x="0" y="228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6"/>
          <p:cNvSpPr/>
          <p:nvPr/>
        </p:nvSpPr>
        <p:spPr>
          <a:xfrm rot="1174586">
            <a:off x="-362171" y="7357145"/>
            <a:ext cx="2189869" cy="4332475"/>
          </a:xfrm>
          <a:custGeom>
            <a:rect b="b" l="l" r="r" t="t"/>
            <a:pathLst>
              <a:path extrusionOk="0" h="4332475" w="2189869">
                <a:moveTo>
                  <a:pt x="0" y="0"/>
                </a:moveTo>
                <a:lnTo>
                  <a:pt x="2189870" y="0"/>
                </a:lnTo>
                <a:lnTo>
                  <a:pt x="2189870" y="4332475"/>
                </a:lnTo>
                <a:lnTo>
                  <a:pt x="0" y="43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6"/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6"/>
          <p:cNvSpPr txBox="1"/>
          <p:nvPr/>
        </p:nvSpPr>
        <p:spPr>
          <a:xfrm>
            <a:off x="800100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구성 및 EDA – </a:t>
            </a:r>
            <a:r>
              <a:rPr b="1" i="0" lang="en-US" sz="3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외부 데이터</a:t>
            </a:r>
            <a:endParaRPr b="1" i="0" sz="32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43" name="Google Shape;243;p26"/>
          <p:cNvGraphicFramePr/>
          <p:nvPr/>
        </p:nvGraphicFramePr>
        <p:xfrm>
          <a:off x="679016" y="20848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{09DE9D87-B3BD-4428-8ECC-5E18B452F763}</a:tableStyleId>
              </a:tblPr>
              <a:tblGrid>
                <a:gridCol w="2086950"/>
                <a:gridCol w="3201325"/>
              </a:tblGrid>
              <a:tr h="12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파일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정보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A3A"/>
                    </a:solidFill>
                  </a:tcPr>
                </a:tc>
              </a:tr>
              <a:tr h="12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PdM_machines.csv</a:t>
                      </a:r>
                      <a:endParaRPr b="1" i="0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설비 모델명, 연식</a:t>
                      </a:r>
                      <a:endParaRPr b="1" i="0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PdM_telemetry.csv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BF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시간별 전압, 회전속도, 압력, 진동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BF8E"/>
                    </a:solidFill>
                  </a:tcPr>
                </a:tc>
              </a:tr>
              <a:tr h="12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PdM_errors.csv</a:t>
                      </a:r>
                      <a:endParaRPr b="1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오류 유형/발생 시점, 과거 오류 횟수</a:t>
                      </a:r>
                      <a:endParaRPr b="1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PdM_maint.csv</a:t>
                      </a:r>
                      <a:endParaRPr b="1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부품 교체 이력, 교체 후 경과일</a:t>
                      </a:r>
                      <a:endParaRPr b="1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PdM_failures.csv</a:t>
                      </a:r>
                      <a:endParaRPr b="1" i="0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고장 부품 발생 시점</a:t>
                      </a:r>
                      <a:endParaRPr b="1" i="0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4" name="Google Shape;244;p26"/>
          <p:cNvSpPr txBox="1"/>
          <p:nvPr/>
        </p:nvSpPr>
        <p:spPr>
          <a:xfrm>
            <a:off x="6394760" y="1994359"/>
            <a:ext cx="537814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센서별 값의 분포와 스케일</a:t>
            </a:r>
            <a:endParaRPr/>
          </a:p>
        </p:txBody>
      </p:sp>
      <p:pic>
        <p:nvPicPr>
          <p:cNvPr id="245" name="Google Shape;245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01148" y="2800118"/>
            <a:ext cx="11172825" cy="661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6"/>
          <p:cNvSpPr txBox="1"/>
          <p:nvPr/>
        </p:nvSpPr>
        <p:spPr>
          <a:xfrm>
            <a:off x="17723924" y="9782299"/>
            <a:ext cx="2790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6"/>
          <p:cNvSpPr txBox="1"/>
          <p:nvPr/>
        </p:nvSpPr>
        <p:spPr>
          <a:xfrm>
            <a:off x="12027830" y="514345"/>
            <a:ext cx="569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http://192.168.106.247:8050</a:t>
            </a:r>
            <a:endParaRPr b="1" i="0" sz="32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8" name="Google Shape;248;p26"/>
          <p:cNvSpPr txBox="1"/>
          <p:nvPr/>
        </p:nvSpPr>
        <p:spPr>
          <a:xfrm>
            <a:off x="13051625" y="1147375"/>
            <a:ext cx="4531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사용자명: admin </a:t>
            </a:r>
            <a:endParaRPr b="1" sz="19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비밀번호: xFwhmvxWM8oYQNldOgVz</a:t>
            </a:r>
            <a:endParaRPr b="1" sz="2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12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27"/>
          <p:cNvGrpSpPr/>
          <p:nvPr/>
        </p:nvGrpSpPr>
        <p:grpSpPr>
          <a:xfrm>
            <a:off x="-9525" y="5822156"/>
            <a:ext cx="18288000" cy="4464844"/>
            <a:chOff x="0" y="0"/>
            <a:chExt cx="24384000" cy="5953125"/>
          </a:xfrm>
        </p:grpSpPr>
        <p:sp>
          <p:nvSpPr>
            <p:cNvPr id="254" name="Google Shape;254;p27"/>
            <p:cNvSpPr/>
            <p:nvPr/>
          </p:nvSpPr>
          <p:spPr>
            <a:xfrm>
              <a:off x="1219200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5953125"/>
                  </a:lnTo>
                  <a:lnTo>
                    <a:pt x="0" y="59531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7"/>
            <p:cNvSpPr/>
            <p:nvPr/>
          </p:nvSpPr>
          <p:spPr>
            <a:xfrm flipH="1">
              <a:off x="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12192000" y="0"/>
                  </a:moveTo>
                  <a:lnTo>
                    <a:pt x="0" y="0"/>
                  </a:lnTo>
                  <a:lnTo>
                    <a:pt x="0" y="5953125"/>
                  </a:lnTo>
                  <a:lnTo>
                    <a:pt x="12192000" y="5953125"/>
                  </a:lnTo>
                  <a:lnTo>
                    <a:pt x="1219200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6" name="Google Shape;256;p27"/>
          <p:cNvSpPr/>
          <p:nvPr/>
        </p:nvSpPr>
        <p:spPr>
          <a:xfrm>
            <a:off x="15799971" y="6867339"/>
            <a:ext cx="5687099" cy="3567362"/>
          </a:xfrm>
          <a:custGeom>
            <a:rect b="b" l="l" r="r" t="t"/>
            <a:pathLst>
              <a:path extrusionOk="0" h="3567362" w="5687099">
                <a:moveTo>
                  <a:pt x="0" y="0"/>
                </a:moveTo>
                <a:lnTo>
                  <a:pt x="5687099" y="0"/>
                </a:lnTo>
                <a:lnTo>
                  <a:pt x="5687099" y="3567362"/>
                </a:lnTo>
                <a:lnTo>
                  <a:pt x="0" y="3567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7"/>
          <p:cNvSpPr/>
          <p:nvPr/>
        </p:nvSpPr>
        <p:spPr>
          <a:xfrm>
            <a:off x="15559640" y="-216616"/>
            <a:ext cx="4010686" cy="2450165"/>
          </a:xfrm>
          <a:custGeom>
            <a:rect b="b" l="l" r="r" t="t"/>
            <a:pathLst>
              <a:path extrusionOk="0" h="2450165" w="4010686">
                <a:moveTo>
                  <a:pt x="0" y="0"/>
                </a:moveTo>
                <a:lnTo>
                  <a:pt x="4010686" y="0"/>
                </a:lnTo>
                <a:lnTo>
                  <a:pt x="4010686" y="2450165"/>
                </a:lnTo>
                <a:lnTo>
                  <a:pt x="0" y="2450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7"/>
          <p:cNvSpPr/>
          <p:nvPr/>
        </p:nvSpPr>
        <p:spPr>
          <a:xfrm>
            <a:off x="162394" y="188387"/>
            <a:ext cx="2598509" cy="2201646"/>
          </a:xfrm>
          <a:custGeom>
            <a:rect b="b" l="l" r="r" t="t"/>
            <a:pathLst>
              <a:path extrusionOk="0" h="2201646" w="2598509">
                <a:moveTo>
                  <a:pt x="0" y="0"/>
                </a:moveTo>
                <a:lnTo>
                  <a:pt x="2598509" y="0"/>
                </a:lnTo>
                <a:lnTo>
                  <a:pt x="2598509" y="2201646"/>
                </a:lnTo>
                <a:lnTo>
                  <a:pt x="0" y="22016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7"/>
          <p:cNvSpPr/>
          <p:nvPr/>
        </p:nvSpPr>
        <p:spPr>
          <a:xfrm>
            <a:off x="-1091061" y="3756360"/>
            <a:ext cx="3145260" cy="2361566"/>
          </a:xfrm>
          <a:custGeom>
            <a:rect b="b" l="l" r="r" t="t"/>
            <a:pathLst>
              <a:path extrusionOk="0" h="2361566" w="3145260">
                <a:moveTo>
                  <a:pt x="0" y="0"/>
                </a:moveTo>
                <a:lnTo>
                  <a:pt x="3145260" y="0"/>
                </a:lnTo>
                <a:lnTo>
                  <a:pt x="3145260" y="2361566"/>
                </a:lnTo>
                <a:lnTo>
                  <a:pt x="0" y="2361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7"/>
          <p:cNvSpPr/>
          <p:nvPr/>
        </p:nvSpPr>
        <p:spPr>
          <a:xfrm rot="-1461047">
            <a:off x="16209924" y="3485593"/>
            <a:ext cx="1394433" cy="2289368"/>
          </a:xfrm>
          <a:custGeom>
            <a:rect b="b" l="l" r="r" t="t"/>
            <a:pathLst>
              <a:path extrusionOk="0" h="2289368" w="1394433">
                <a:moveTo>
                  <a:pt x="0" y="0"/>
                </a:moveTo>
                <a:lnTo>
                  <a:pt x="1394434" y="0"/>
                </a:lnTo>
                <a:lnTo>
                  <a:pt x="1394434" y="2289368"/>
                </a:lnTo>
                <a:lnTo>
                  <a:pt x="0" y="228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7"/>
          <p:cNvSpPr/>
          <p:nvPr/>
        </p:nvSpPr>
        <p:spPr>
          <a:xfrm rot="1174586">
            <a:off x="-362171" y="7357145"/>
            <a:ext cx="2189869" cy="4332475"/>
          </a:xfrm>
          <a:custGeom>
            <a:rect b="b" l="l" r="r" t="t"/>
            <a:pathLst>
              <a:path extrusionOk="0" h="4332475" w="2189869">
                <a:moveTo>
                  <a:pt x="0" y="0"/>
                </a:moveTo>
                <a:lnTo>
                  <a:pt x="2189870" y="0"/>
                </a:lnTo>
                <a:lnTo>
                  <a:pt x="2189870" y="4332475"/>
                </a:lnTo>
                <a:lnTo>
                  <a:pt x="0" y="43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7"/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7"/>
          <p:cNvSpPr txBox="1"/>
          <p:nvPr/>
        </p:nvSpPr>
        <p:spPr>
          <a:xfrm>
            <a:off x="800100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구성 및 EDA – </a:t>
            </a:r>
            <a:r>
              <a:rPr b="1" i="0" lang="en-US" sz="3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외부 데이터</a:t>
            </a:r>
            <a:endParaRPr b="1" i="0" sz="32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64" name="Google Shape;264;p27"/>
          <p:cNvGraphicFramePr/>
          <p:nvPr/>
        </p:nvGraphicFramePr>
        <p:xfrm>
          <a:off x="679016" y="20848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{09DE9D87-B3BD-4428-8ECC-5E18B452F763}</a:tableStyleId>
              </a:tblPr>
              <a:tblGrid>
                <a:gridCol w="2086950"/>
                <a:gridCol w="3201325"/>
              </a:tblGrid>
              <a:tr h="12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파일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정보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A3A"/>
                    </a:solidFill>
                  </a:tcPr>
                </a:tc>
              </a:tr>
              <a:tr h="12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PdM_machines.csv</a:t>
                      </a:r>
                      <a:endParaRPr b="1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설비 모델명, 연식</a:t>
                      </a:r>
                      <a:endParaRPr b="1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PdM_telemetry.csv</a:t>
                      </a:r>
                      <a:endParaRPr b="1" i="0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시간별 전압, 회전속도, 압력, 진동</a:t>
                      </a:r>
                      <a:endParaRPr b="1" i="0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PdM_errors.csv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BF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오류 유형/발생 시점,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과거 오류 횟수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BF8E"/>
                    </a:solidFill>
                  </a:tcPr>
                </a:tc>
              </a:tr>
              <a:tr h="12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PdM_maint.csv</a:t>
                      </a:r>
                      <a:endParaRPr b="1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부품 교체 이력, 교체 후 경과일</a:t>
                      </a:r>
                      <a:endParaRPr b="1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PdM_failures.csv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BF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고장 부품 발생 시점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BF8E"/>
                    </a:solidFill>
                  </a:tcPr>
                </a:tc>
              </a:tr>
            </a:tbl>
          </a:graphicData>
        </a:graphic>
      </p:graphicFrame>
      <p:pic>
        <p:nvPicPr>
          <p:cNvPr id="265" name="Google Shape;265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01148" y="2786179"/>
            <a:ext cx="11172825" cy="661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7"/>
          <p:cNvSpPr txBox="1"/>
          <p:nvPr/>
        </p:nvSpPr>
        <p:spPr>
          <a:xfrm>
            <a:off x="6356195" y="2076915"/>
            <a:ext cx="9144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에러 종류별 발생량과 이후 고장 관측</a:t>
            </a:r>
            <a:r>
              <a:rPr b="0" i="0" lang="en-US" sz="2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7"/>
          <p:cNvSpPr txBox="1"/>
          <p:nvPr/>
        </p:nvSpPr>
        <p:spPr>
          <a:xfrm>
            <a:off x="17723924" y="9782299"/>
            <a:ext cx="2790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7"/>
          <p:cNvSpPr txBox="1"/>
          <p:nvPr/>
        </p:nvSpPr>
        <p:spPr>
          <a:xfrm>
            <a:off x="12027830" y="514345"/>
            <a:ext cx="569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http://192.168.106.247:8050</a:t>
            </a:r>
            <a:endParaRPr b="1" i="0" sz="32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9" name="Google Shape;269;p27"/>
          <p:cNvSpPr txBox="1"/>
          <p:nvPr/>
        </p:nvSpPr>
        <p:spPr>
          <a:xfrm>
            <a:off x="13051625" y="1147375"/>
            <a:ext cx="4531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사용자명: admin </a:t>
            </a:r>
            <a:endParaRPr b="1" sz="19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비밀번호: xFwhmvxWM8oYQNldOgVz</a:t>
            </a:r>
            <a:endParaRPr b="1" sz="2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12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oogle Shape;274;p28"/>
          <p:cNvGrpSpPr/>
          <p:nvPr/>
        </p:nvGrpSpPr>
        <p:grpSpPr>
          <a:xfrm>
            <a:off x="-9525" y="5822156"/>
            <a:ext cx="18288000" cy="4464844"/>
            <a:chOff x="0" y="0"/>
            <a:chExt cx="24384000" cy="5953125"/>
          </a:xfrm>
        </p:grpSpPr>
        <p:sp>
          <p:nvSpPr>
            <p:cNvPr id="275" name="Google Shape;275;p28"/>
            <p:cNvSpPr/>
            <p:nvPr/>
          </p:nvSpPr>
          <p:spPr>
            <a:xfrm>
              <a:off x="1219200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5953125"/>
                  </a:lnTo>
                  <a:lnTo>
                    <a:pt x="0" y="59531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8"/>
            <p:cNvSpPr/>
            <p:nvPr/>
          </p:nvSpPr>
          <p:spPr>
            <a:xfrm flipH="1">
              <a:off x="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12192000" y="0"/>
                  </a:moveTo>
                  <a:lnTo>
                    <a:pt x="0" y="0"/>
                  </a:lnTo>
                  <a:lnTo>
                    <a:pt x="0" y="5953125"/>
                  </a:lnTo>
                  <a:lnTo>
                    <a:pt x="12192000" y="5953125"/>
                  </a:lnTo>
                  <a:lnTo>
                    <a:pt x="1219200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7" name="Google Shape;277;p28"/>
          <p:cNvSpPr/>
          <p:nvPr/>
        </p:nvSpPr>
        <p:spPr>
          <a:xfrm>
            <a:off x="15799971" y="6867339"/>
            <a:ext cx="5687099" cy="3567362"/>
          </a:xfrm>
          <a:custGeom>
            <a:rect b="b" l="l" r="r" t="t"/>
            <a:pathLst>
              <a:path extrusionOk="0" h="3567362" w="5687099">
                <a:moveTo>
                  <a:pt x="0" y="0"/>
                </a:moveTo>
                <a:lnTo>
                  <a:pt x="5687099" y="0"/>
                </a:lnTo>
                <a:lnTo>
                  <a:pt x="5687099" y="3567362"/>
                </a:lnTo>
                <a:lnTo>
                  <a:pt x="0" y="3567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8"/>
          <p:cNvSpPr/>
          <p:nvPr/>
        </p:nvSpPr>
        <p:spPr>
          <a:xfrm>
            <a:off x="15559640" y="-216616"/>
            <a:ext cx="4010686" cy="2450165"/>
          </a:xfrm>
          <a:custGeom>
            <a:rect b="b" l="l" r="r" t="t"/>
            <a:pathLst>
              <a:path extrusionOk="0" h="2450165" w="4010686">
                <a:moveTo>
                  <a:pt x="0" y="0"/>
                </a:moveTo>
                <a:lnTo>
                  <a:pt x="4010686" y="0"/>
                </a:lnTo>
                <a:lnTo>
                  <a:pt x="4010686" y="2450165"/>
                </a:lnTo>
                <a:lnTo>
                  <a:pt x="0" y="2450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8"/>
          <p:cNvSpPr/>
          <p:nvPr/>
        </p:nvSpPr>
        <p:spPr>
          <a:xfrm>
            <a:off x="162394" y="188387"/>
            <a:ext cx="2598509" cy="2201646"/>
          </a:xfrm>
          <a:custGeom>
            <a:rect b="b" l="l" r="r" t="t"/>
            <a:pathLst>
              <a:path extrusionOk="0" h="2201646" w="2598509">
                <a:moveTo>
                  <a:pt x="0" y="0"/>
                </a:moveTo>
                <a:lnTo>
                  <a:pt x="2598509" y="0"/>
                </a:lnTo>
                <a:lnTo>
                  <a:pt x="2598509" y="2201646"/>
                </a:lnTo>
                <a:lnTo>
                  <a:pt x="0" y="22016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8"/>
          <p:cNvSpPr/>
          <p:nvPr/>
        </p:nvSpPr>
        <p:spPr>
          <a:xfrm>
            <a:off x="-1091061" y="3756360"/>
            <a:ext cx="3145260" cy="2361566"/>
          </a:xfrm>
          <a:custGeom>
            <a:rect b="b" l="l" r="r" t="t"/>
            <a:pathLst>
              <a:path extrusionOk="0" h="2361566" w="3145260">
                <a:moveTo>
                  <a:pt x="0" y="0"/>
                </a:moveTo>
                <a:lnTo>
                  <a:pt x="3145260" y="0"/>
                </a:lnTo>
                <a:lnTo>
                  <a:pt x="3145260" y="2361566"/>
                </a:lnTo>
                <a:lnTo>
                  <a:pt x="0" y="2361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8"/>
          <p:cNvSpPr/>
          <p:nvPr/>
        </p:nvSpPr>
        <p:spPr>
          <a:xfrm rot="-1461047">
            <a:off x="16209924" y="3485593"/>
            <a:ext cx="1394433" cy="2289368"/>
          </a:xfrm>
          <a:custGeom>
            <a:rect b="b" l="l" r="r" t="t"/>
            <a:pathLst>
              <a:path extrusionOk="0" h="2289368" w="1394433">
                <a:moveTo>
                  <a:pt x="0" y="0"/>
                </a:moveTo>
                <a:lnTo>
                  <a:pt x="1394434" y="0"/>
                </a:lnTo>
                <a:lnTo>
                  <a:pt x="1394434" y="2289368"/>
                </a:lnTo>
                <a:lnTo>
                  <a:pt x="0" y="228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8"/>
          <p:cNvSpPr/>
          <p:nvPr/>
        </p:nvSpPr>
        <p:spPr>
          <a:xfrm rot="1174586">
            <a:off x="-362171" y="7357145"/>
            <a:ext cx="2189869" cy="4332475"/>
          </a:xfrm>
          <a:custGeom>
            <a:rect b="b" l="l" r="r" t="t"/>
            <a:pathLst>
              <a:path extrusionOk="0" h="4332475" w="2189869">
                <a:moveTo>
                  <a:pt x="0" y="0"/>
                </a:moveTo>
                <a:lnTo>
                  <a:pt x="2189870" y="0"/>
                </a:lnTo>
                <a:lnTo>
                  <a:pt x="2189870" y="4332475"/>
                </a:lnTo>
                <a:lnTo>
                  <a:pt x="0" y="43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8"/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8"/>
          <p:cNvSpPr txBox="1"/>
          <p:nvPr/>
        </p:nvSpPr>
        <p:spPr>
          <a:xfrm>
            <a:off x="800100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구성 및 EDA – </a:t>
            </a:r>
            <a:r>
              <a:rPr b="1" i="0" lang="en-US" sz="3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외부 데이터</a:t>
            </a:r>
            <a:endParaRPr b="1" i="0" sz="32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85" name="Google Shape;285;p28"/>
          <p:cNvGraphicFramePr/>
          <p:nvPr/>
        </p:nvGraphicFramePr>
        <p:xfrm>
          <a:off x="679016" y="20848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{09DE9D87-B3BD-4428-8ECC-5E18B452F763}</a:tableStyleId>
              </a:tblPr>
              <a:tblGrid>
                <a:gridCol w="2086950"/>
                <a:gridCol w="3201325"/>
              </a:tblGrid>
              <a:tr h="12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파일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정보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A3A"/>
                    </a:solidFill>
                  </a:tcPr>
                </a:tc>
              </a:tr>
              <a:tr h="12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PdM_machines.csv</a:t>
                      </a:r>
                      <a:endParaRPr b="1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설비 모델명, 연식</a:t>
                      </a:r>
                      <a:endParaRPr b="1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PdM_telemetry.csv</a:t>
                      </a:r>
                      <a:endParaRPr b="1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시간별 전압, 회전속도, 압력, 진동</a:t>
                      </a:r>
                      <a:endParaRPr b="1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PdM_errors.csv</a:t>
                      </a:r>
                      <a:endParaRPr b="1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오류 유형/발생 시점, 과거 오류 횟수</a:t>
                      </a:r>
                      <a:endParaRPr b="1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PdM_maint.csv</a:t>
                      </a:r>
                      <a:endParaRPr b="1" i="0" sz="1600" u="none" cap="none" strike="noStrike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BF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부품 교체 이력,</a:t>
                      </a:r>
                      <a:endParaRPr b="1" i="0" sz="1600" u="none" cap="none" strike="noStrike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교체 후 경과일</a:t>
                      </a:r>
                      <a:endParaRPr b="1" i="0" sz="1600" u="none" cap="none" strike="noStrike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BF8E"/>
                    </a:solidFill>
                  </a:tcPr>
                </a:tc>
              </a:tr>
              <a:tr h="12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PdM_failures.csv</a:t>
                      </a:r>
                      <a:endParaRPr b="1" sz="1600" u="none" cap="none" strike="noStrike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BF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고장 부품 발생 시점</a:t>
                      </a:r>
                      <a:endParaRPr b="1" sz="1600" u="none" cap="none" strike="noStrike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BF8E"/>
                    </a:solidFill>
                  </a:tcPr>
                </a:tc>
              </a:tr>
            </a:tbl>
          </a:graphicData>
        </a:graphic>
      </p:graphicFrame>
      <p:sp>
        <p:nvSpPr>
          <p:cNvPr id="286" name="Google Shape;286;p28"/>
          <p:cNvSpPr txBox="1"/>
          <p:nvPr/>
        </p:nvSpPr>
        <p:spPr>
          <a:xfrm>
            <a:off x="6394760" y="1994359"/>
            <a:ext cx="62562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부품별 정비 유형과 긴급 교체 비중</a:t>
            </a:r>
            <a:endParaRPr/>
          </a:p>
        </p:txBody>
      </p:sp>
      <p:pic>
        <p:nvPicPr>
          <p:cNvPr id="287" name="Google Shape;287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01148" y="2786179"/>
            <a:ext cx="11172825" cy="661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 txBox="1"/>
          <p:nvPr/>
        </p:nvSpPr>
        <p:spPr>
          <a:xfrm>
            <a:off x="17586764" y="9828019"/>
            <a:ext cx="4314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8"/>
          <p:cNvSpPr txBox="1"/>
          <p:nvPr/>
        </p:nvSpPr>
        <p:spPr>
          <a:xfrm>
            <a:off x="12027830" y="514345"/>
            <a:ext cx="569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http://192.168.106.247:8050</a:t>
            </a:r>
            <a:endParaRPr b="1" i="0" sz="32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13051625" y="1147375"/>
            <a:ext cx="4531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사용자명: admin </a:t>
            </a:r>
            <a:endParaRPr b="1" sz="19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비밀번호: xFwhmvxWM8oYQNldOgVz</a:t>
            </a:r>
            <a:endParaRPr b="1" sz="2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12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" name="Google Shape;295;p29"/>
          <p:cNvGrpSpPr/>
          <p:nvPr/>
        </p:nvGrpSpPr>
        <p:grpSpPr>
          <a:xfrm>
            <a:off x="-9525" y="5822156"/>
            <a:ext cx="18288000" cy="4464844"/>
            <a:chOff x="0" y="0"/>
            <a:chExt cx="24384000" cy="5953125"/>
          </a:xfrm>
        </p:grpSpPr>
        <p:sp>
          <p:nvSpPr>
            <p:cNvPr id="296" name="Google Shape;296;p29"/>
            <p:cNvSpPr/>
            <p:nvPr/>
          </p:nvSpPr>
          <p:spPr>
            <a:xfrm>
              <a:off x="1219200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5953125"/>
                  </a:lnTo>
                  <a:lnTo>
                    <a:pt x="0" y="59531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29"/>
            <p:cNvSpPr/>
            <p:nvPr/>
          </p:nvSpPr>
          <p:spPr>
            <a:xfrm flipH="1">
              <a:off x="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12192000" y="0"/>
                  </a:moveTo>
                  <a:lnTo>
                    <a:pt x="0" y="0"/>
                  </a:lnTo>
                  <a:lnTo>
                    <a:pt x="0" y="5953125"/>
                  </a:lnTo>
                  <a:lnTo>
                    <a:pt x="12192000" y="5953125"/>
                  </a:lnTo>
                  <a:lnTo>
                    <a:pt x="1219200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8" name="Google Shape;298;p29"/>
          <p:cNvSpPr/>
          <p:nvPr/>
        </p:nvSpPr>
        <p:spPr>
          <a:xfrm>
            <a:off x="15799971" y="6867339"/>
            <a:ext cx="5687099" cy="3567362"/>
          </a:xfrm>
          <a:custGeom>
            <a:rect b="b" l="l" r="r" t="t"/>
            <a:pathLst>
              <a:path extrusionOk="0" h="3567362" w="5687099">
                <a:moveTo>
                  <a:pt x="0" y="0"/>
                </a:moveTo>
                <a:lnTo>
                  <a:pt x="5687099" y="0"/>
                </a:lnTo>
                <a:lnTo>
                  <a:pt x="5687099" y="3567362"/>
                </a:lnTo>
                <a:lnTo>
                  <a:pt x="0" y="3567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9"/>
          <p:cNvSpPr/>
          <p:nvPr/>
        </p:nvSpPr>
        <p:spPr>
          <a:xfrm>
            <a:off x="15559640" y="-216616"/>
            <a:ext cx="4010686" cy="2450165"/>
          </a:xfrm>
          <a:custGeom>
            <a:rect b="b" l="l" r="r" t="t"/>
            <a:pathLst>
              <a:path extrusionOk="0" h="2450165" w="4010686">
                <a:moveTo>
                  <a:pt x="0" y="0"/>
                </a:moveTo>
                <a:lnTo>
                  <a:pt x="4010686" y="0"/>
                </a:lnTo>
                <a:lnTo>
                  <a:pt x="4010686" y="2450165"/>
                </a:lnTo>
                <a:lnTo>
                  <a:pt x="0" y="2450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9"/>
          <p:cNvSpPr/>
          <p:nvPr/>
        </p:nvSpPr>
        <p:spPr>
          <a:xfrm>
            <a:off x="162394" y="188387"/>
            <a:ext cx="2598509" cy="2201646"/>
          </a:xfrm>
          <a:custGeom>
            <a:rect b="b" l="l" r="r" t="t"/>
            <a:pathLst>
              <a:path extrusionOk="0" h="2201646" w="2598509">
                <a:moveTo>
                  <a:pt x="0" y="0"/>
                </a:moveTo>
                <a:lnTo>
                  <a:pt x="2598509" y="0"/>
                </a:lnTo>
                <a:lnTo>
                  <a:pt x="2598509" y="2201646"/>
                </a:lnTo>
                <a:lnTo>
                  <a:pt x="0" y="22016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9"/>
          <p:cNvSpPr/>
          <p:nvPr/>
        </p:nvSpPr>
        <p:spPr>
          <a:xfrm>
            <a:off x="-1091061" y="3756360"/>
            <a:ext cx="3145260" cy="2361566"/>
          </a:xfrm>
          <a:custGeom>
            <a:rect b="b" l="l" r="r" t="t"/>
            <a:pathLst>
              <a:path extrusionOk="0" h="2361566" w="3145260">
                <a:moveTo>
                  <a:pt x="0" y="0"/>
                </a:moveTo>
                <a:lnTo>
                  <a:pt x="3145260" y="0"/>
                </a:lnTo>
                <a:lnTo>
                  <a:pt x="3145260" y="2361566"/>
                </a:lnTo>
                <a:lnTo>
                  <a:pt x="0" y="2361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9"/>
          <p:cNvSpPr/>
          <p:nvPr/>
        </p:nvSpPr>
        <p:spPr>
          <a:xfrm rot="-1461047">
            <a:off x="16209924" y="3485593"/>
            <a:ext cx="1394433" cy="2289368"/>
          </a:xfrm>
          <a:custGeom>
            <a:rect b="b" l="l" r="r" t="t"/>
            <a:pathLst>
              <a:path extrusionOk="0" h="2289368" w="1394433">
                <a:moveTo>
                  <a:pt x="0" y="0"/>
                </a:moveTo>
                <a:lnTo>
                  <a:pt x="1394434" y="0"/>
                </a:lnTo>
                <a:lnTo>
                  <a:pt x="1394434" y="2289368"/>
                </a:lnTo>
                <a:lnTo>
                  <a:pt x="0" y="228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9"/>
          <p:cNvSpPr/>
          <p:nvPr/>
        </p:nvSpPr>
        <p:spPr>
          <a:xfrm rot="1174586">
            <a:off x="-362171" y="7357145"/>
            <a:ext cx="2189869" cy="4332475"/>
          </a:xfrm>
          <a:custGeom>
            <a:rect b="b" l="l" r="r" t="t"/>
            <a:pathLst>
              <a:path extrusionOk="0" h="4332475" w="2189869">
                <a:moveTo>
                  <a:pt x="0" y="0"/>
                </a:moveTo>
                <a:lnTo>
                  <a:pt x="2189870" y="0"/>
                </a:lnTo>
                <a:lnTo>
                  <a:pt x="2189870" y="4332475"/>
                </a:lnTo>
                <a:lnTo>
                  <a:pt x="0" y="43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9"/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9"/>
          <p:cNvSpPr txBox="1"/>
          <p:nvPr/>
        </p:nvSpPr>
        <p:spPr>
          <a:xfrm>
            <a:off x="800100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구성 및 EDA – </a:t>
            </a:r>
            <a:r>
              <a:rPr b="1" i="0" lang="en-US" sz="3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외부 데이터</a:t>
            </a:r>
            <a:endParaRPr b="1" i="0" sz="32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06" name="Google Shape;306;p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89812" y="2790453"/>
            <a:ext cx="11172825" cy="66103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7" name="Google Shape;307;p29"/>
          <p:cNvGraphicFramePr/>
          <p:nvPr/>
        </p:nvGraphicFramePr>
        <p:xfrm>
          <a:off x="679016" y="20848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{09DE9D87-B3BD-4428-8ECC-5E18B452F763}</a:tableStyleId>
              </a:tblPr>
              <a:tblGrid>
                <a:gridCol w="2086950"/>
                <a:gridCol w="3201325"/>
              </a:tblGrid>
              <a:tr h="12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파일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정보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A3A"/>
                    </a:solidFill>
                  </a:tcPr>
                </a:tc>
              </a:tr>
              <a:tr h="12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PdM_machines.csv</a:t>
                      </a:r>
                      <a:endParaRPr b="1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설비 모델명, 연식</a:t>
                      </a:r>
                      <a:endParaRPr b="1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PdM_telemetry.csv</a:t>
                      </a:r>
                      <a:endParaRPr b="1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시간별 전압, 회전속도, 압력, 진동</a:t>
                      </a:r>
                      <a:endParaRPr b="1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PdM_errors.csv</a:t>
                      </a:r>
                      <a:endParaRPr b="1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오류 유형/발생 시점, 과거 오류 횟수</a:t>
                      </a:r>
                      <a:endParaRPr b="1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PdM_maint.csv</a:t>
                      </a:r>
                      <a:endParaRPr b="1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부품 교체 이력, 교체 후 경과일</a:t>
                      </a:r>
                      <a:endParaRPr b="1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PdM_failures.csv</a:t>
                      </a:r>
                      <a:endParaRPr b="1" sz="1600" u="none" cap="none" strike="noStrike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BF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고장 부품 발생 시점</a:t>
                      </a:r>
                      <a:endParaRPr b="1" sz="1600" u="none" cap="none" strike="noStrike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BF8E"/>
                    </a:solidFill>
                  </a:tcPr>
                </a:tc>
              </a:tr>
            </a:tbl>
          </a:graphicData>
        </a:graphic>
      </p:graphicFrame>
      <p:sp>
        <p:nvSpPr>
          <p:cNvPr id="308" name="Google Shape;308;p29"/>
          <p:cNvSpPr txBox="1"/>
          <p:nvPr/>
        </p:nvSpPr>
        <p:spPr>
          <a:xfrm>
            <a:off x="6394760" y="1994359"/>
            <a:ext cx="537814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부품별 고장 발생량 비교</a:t>
            </a:r>
            <a:endParaRPr b="1" i="0" sz="2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9" name="Google Shape;309;p29"/>
          <p:cNvSpPr txBox="1"/>
          <p:nvPr/>
        </p:nvSpPr>
        <p:spPr>
          <a:xfrm>
            <a:off x="17586764" y="9828019"/>
            <a:ext cx="4314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9"/>
          <p:cNvSpPr txBox="1"/>
          <p:nvPr/>
        </p:nvSpPr>
        <p:spPr>
          <a:xfrm>
            <a:off x="12027830" y="514345"/>
            <a:ext cx="569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http://192.168.106.247:8050</a:t>
            </a:r>
            <a:endParaRPr b="1" i="0" sz="32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13051625" y="1147375"/>
            <a:ext cx="4531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사용자명: admin </a:t>
            </a:r>
            <a:endParaRPr b="1" sz="19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비밀번호: xFwhmvxWM8oYQNldOgVz</a:t>
            </a:r>
            <a:endParaRPr b="1" sz="2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12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30"/>
          <p:cNvGrpSpPr/>
          <p:nvPr/>
        </p:nvGrpSpPr>
        <p:grpSpPr>
          <a:xfrm>
            <a:off x="-9525" y="5822156"/>
            <a:ext cx="18288000" cy="4464844"/>
            <a:chOff x="0" y="0"/>
            <a:chExt cx="24384000" cy="5953125"/>
          </a:xfrm>
        </p:grpSpPr>
        <p:sp>
          <p:nvSpPr>
            <p:cNvPr id="317" name="Google Shape;317;p30"/>
            <p:cNvSpPr/>
            <p:nvPr/>
          </p:nvSpPr>
          <p:spPr>
            <a:xfrm>
              <a:off x="1219200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5953125"/>
                  </a:lnTo>
                  <a:lnTo>
                    <a:pt x="0" y="59531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30"/>
            <p:cNvSpPr/>
            <p:nvPr/>
          </p:nvSpPr>
          <p:spPr>
            <a:xfrm flipH="1">
              <a:off x="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12192000" y="0"/>
                  </a:moveTo>
                  <a:lnTo>
                    <a:pt x="0" y="0"/>
                  </a:lnTo>
                  <a:lnTo>
                    <a:pt x="0" y="5953125"/>
                  </a:lnTo>
                  <a:lnTo>
                    <a:pt x="12192000" y="5953125"/>
                  </a:lnTo>
                  <a:lnTo>
                    <a:pt x="1219200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9" name="Google Shape;319;p30"/>
          <p:cNvSpPr/>
          <p:nvPr/>
        </p:nvSpPr>
        <p:spPr>
          <a:xfrm>
            <a:off x="15799971" y="6867339"/>
            <a:ext cx="5687099" cy="3567362"/>
          </a:xfrm>
          <a:custGeom>
            <a:rect b="b" l="l" r="r" t="t"/>
            <a:pathLst>
              <a:path extrusionOk="0" h="3567362" w="5687099">
                <a:moveTo>
                  <a:pt x="0" y="0"/>
                </a:moveTo>
                <a:lnTo>
                  <a:pt x="5687099" y="0"/>
                </a:lnTo>
                <a:lnTo>
                  <a:pt x="5687099" y="3567362"/>
                </a:lnTo>
                <a:lnTo>
                  <a:pt x="0" y="3567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0"/>
          <p:cNvSpPr/>
          <p:nvPr/>
        </p:nvSpPr>
        <p:spPr>
          <a:xfrm>
            <a:off x="15559640" y="-216616"/>
            <a:ext cx="4010686" cy="2450165"/>
          </a:xfrm>
          <a:custGeom>
            <a:rect b="b" l="l" r="r" t="t"/>
            <a:pathLst>
              <a:path extrusionOk="0" h="2450165" w="4010686">
                <a:moveTo>
                  <a:pt x="0" y="0"/>
                </a:moveTo>
                <a:lnTo>
                  <a:pt x="4010686" y="0"/>
                </a:lnTo>
                <a:lnTo>
                  <a:pt x="4010686" y="2450165"/>
                </a:lnTo>
                <a:lnTo>
                  <a:pt x="0" y="2450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0"/>
          <p:cNvSpPr/>
          <p:nvPr/>
        </p:nvSpPr>
        <p:spPr>
          <a:xfrm>
            <a:off x="162394" y="188387"/>
            <a:ext cx="2598509" cy="2201646"/>
          </a:xfrm>
          <a:custGeom>
            <a:rect b="b" l="l" r="r" t="t"/>
            <a:pathLst>
              <a:path extrusionOk="0" h="2201646" w="2598509">
                <a:moveTo>
                  <a:pt x="0" y="0"/>
                </a:moveTo>
                <a:lnTo>
                  <a:pt x="2598509" y="0"/>
                </a:lnTo>
                <a:lnTo>
                  <a:pt x="2598509" y="2201646"/>
                </a:lnTo>
                <a:lnTo>
                  <a:pt x="0" y="22016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0"/>
          <p:cNvSpPr/>
          <p:nvPr/>
        </p:nvSpPr>
        <p:spPr>
          <a:xfrm>
            <a:off x="-1091061" y="3756360"/>
            <a:ext cx="3145260" cy="2361566"/>
          </a:xfrm>
          <a:custGeom>
            <a:rect b="b" l="l" r="r" t="t"/>
            <a:pathLst>
              <a:path extrusionOk="0" h="2361566" w="3145260">
                <a:moveTo>
                  <a:pt x="0" y="0"/>
                </a:moveTo>
                <a:lnTo>
                  <a:pt x="3145260" y="0"/>
                </a:lnTo>
                <a:lnTo>
                  <a:pt x="3145260" y="2361566"/>
                </a:lnTo>
                <a:lnTo>
                  <a:pt x="0" y="2361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0"/>
          <p:cNvSpPr/>
          <p:nvPr/>
        </p:nvSpPr>
        <p:spPr>
          <a:xfrm rot="-1461047">
            <a:off x="16209924" y="3485593"/>
            <a:ext cx="1394433" cy="2289368"/>
          </a:xfrm>
          <a:custGeom>
            <a:rect b="b" l="l" r="r" t="t"/>
            <a:pathLst>
              <a:path extrusionOk="0" h="2289368" w="1394433">
                <a:moveTo>
                  <a:pt x="0" y="0"/>
                </a:moveTo>
                <a:lnTo>
                  <a:pt x="1394434" y="0"/>
                </a:lnTo>
                <a:lnTo>
                  <a:pt x="1394434" y="2289368"/>
                </a:lnTo>
                <a:lnTo>
                  <a:pt x="0" y="228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0"/>
          <p:cNvSpPr/>
          <p:nvPr/>
        </p:nvSpPr>
        <p:spPr>
          <a:xfrm rot="1174586">
            <a:off x="-362171" y="7357145"/>
            <a:ext cx="2189869" cy="4332475"/>
          </a:xfrm>
          <a:custGeom>
            <a:rect b="b" l="l" r="r" t="t"/>
            <a:pathLst>
              <a:path extrusionOk="0" h="4332475" w="2189869">
                <a:moveTo>
                  <a:pt x="0" y="0"/>
                </a:moveTo>
                <a:lnTo>
                  <a:pt x="2189870" y="0"/>
                </a:lnTo>
                <a:lnTo>
                  <a:pt x="2189870" y="4332475"/>
                </a:lnTo>
                <a:lnTo>
                  <a:pt x="0" y="43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0"/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0"/>
          <p:cNvSpPr txBox="1"/>
          <p:nvPr/>
        </p:nvSpPr>
        <p:spPr>
          <a:xfrm>
            <a:off x="800100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구성 및 EDA – </a:t>
            </a:r>
            <a:r>
              <a:rPr b="1" i="0" lang="en-US" sz="3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외부 데이터</a:t>
            </a:r>
            <a:endParaRPr b="1" i="0" sz="32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27" name="Google Shape;327;p30"/>
          <p:cNvGraphicFramePr/>
          <p:nvPr/>
        </p:nvGraphicFramePr>
        <p:xfrm>
          <a:off x="679016" y="20848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{09DE9D87-B3BD-4428-8ECC-5E18B452F763}</a:tableStyleId>
              </a:tblPr>
              <a:tblGrid>
                <a:gridCol w="2086950"/>
                <a:gridCol w="3201325"/>
              </a:tblGrid>
              <a:tr h="12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파일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정보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A3A"/>
                    </a:solidFill>
                  </a:tcPr>
                </a:tc>
              </a:tr>
              <a:tr h="12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PdM_machines.csv</a:t>
                      </a:r>
                      <a:endParaRPr b="1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설비 모델명, 연식</a:t>
                      </a:r>
                      <a:endParaRPr b="1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PdM_telemetry.csv</a:t>
                      </a:r>
                      <a:endParaRPr b="1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시간별 전압, 회전속도, 압력, 진동</a:t>
                      </a:r>
                      <a:endParaRPr b="1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PdM_errors.csv</a:t>
                      </a:r>
                      <a:endParaRPr b="1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오류 유형/발생 시점, 과거 오류 횟수</a:t>
                      </a:r>
                      <a:endParaRPr b="1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PdM_maint.csv</a:t>
                      </a:r>
                      <a:endParaRPr b="1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A5A5A5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부품 교체 이력, 교체 후 경과일</a:t>
                      </a:r>
                      <a:endParaRPr b="1" sz="1200" u="none" cap="none" strike="noStrike">
                        <a:solidFill>
                          <a:srgbClr val="A5A5A5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PdM_failures.csv</a:t>
                      </a:r>
                      <a:endParaRPr b="1" sz="1600" u="none" cap="none" strike="noStrike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BF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72A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고장 부품 발생 시점</a:t>
                      </a:r>
                      <a:endParaRPr b="1" sz="1600" u="none" cap="none" strike="noStrike">
                        <a:solidFill>
                          <a:srgbClr val="172A3A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BF8E"/>
                    </a:solidFill>
                  </a:tcPr>
                </a:tc>
              </a:tr>
            </a:tbl>
          </a:graphicData>
        </a:graphic>
      </p:graphicFrame>
      <p:sp>
        <p:nvSpPr>
          <p:cNvPr id="328" name="Google Shape;328;p30"/>
          <p:cNvSpPr txBox="1"/>
          <p:nvPr/>
        </p:nvSpPr>
        <p:spPr>
          <a:xfrm>
            <a:off x="6394760" y="1994359"/>
            <a:ext cx="537814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동일 설비의 반복 고장 간격</a:t>
            </a:r>
            <a:endParaRPr b="1" i="0" sz="2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29" name="Google Shape;329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01148" y="2800118"/>
            <a:ext cx="11172825" cy="661035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0"/>
          <p:cNvSpPr txBox="1"/>
          <p:nvPr/>
        </p:nvSpPr>
        <p:spPr>
          <a:xfrm>
            <a:off x="17586764" y="9828019"/>
            <a:ext cx="4314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0"/>
          <p:cNvSpPr txBox="1"/>
          <p:nvPr/>
        </p:nvSpPr>
        <p:spPr>
          <a:xfrm>
            <a:off x="12027830" y="514345"/>
            <a:ext cx="569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http://192.168.106.247:8050</a:t>
            </a:r>
            <a:endParaRPr b="1" i="0" sz="32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2" name="Google Shape;332;p30"/>
          <p:cNvSpPr txBox="1"/>
          <p:nvPr/>
        </p:nvSpPr>
        <p:spPr>
          <a:xfrm>
            <a:off x="13051625" y="1147375"/>
            <a:ext cx="4531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사용자명: admin </a:t>
            </a:r>
            <a:endParaRPr b="1" sz="19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비밀번호: xFwhmvxWM8oYQNldOgVz</a:t>
            </a:r>
            <a:endParaRPr b="1" sz="2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12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31"/>
          <p:cNvGrpSpPr/>
          <p:nvPr/>
        </p:nvGrpSpPr>
        <p:grpSpPr>
          <a:xfrm>
            <a:off x="-9525" y="5822156"/>
            <a:ext cx="18288000" cy="4464844"/>
            <a:chOff x="0" y="0"/>
            <a:chExt cx="24384000" cy="5953125"/>
          </a:xfrm>
        </p:grpSpPr>
        <p:sp>
          <p:nvSpPr>
            <p:cNvPr id="338" name="Google Shape;338;p31"/>
            <p:cNvSpPr/>
            <p:nvPr/>
          </p:nvSpPr>
          <p:spPr>
            <a:xfrm>
              <a:off x="1219200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5953125"/>
                  </a:lnTo>
                  <a:lnTo>
                    <a:pt x="0" y="59531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31"/>
            <p:cNvSpPr/>
            <p:nvPr/>
          </p:nvSpPr>
          <p:spPr>
            <a:xfrm flipH="1">
              <a:off x="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12192000" y="0"/>
                  </a:moveTo>
                  <a:lnTo>
                    <a:pt x="0" y="0"/>
                  </a:lnTo>
                  <a:lnTo>
                    <a:pt x="0" y="5953125"/>
                  </a:lnTo>
                  <a:lnTo>
                    <a:pt x="12192000" y="5953125"/>
                  </a:lnTo>
                  <a:lnTo>
                    <a:pt x="1219200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0" name="Google Shape;340;p31"/>
          <p:cNvSpPr/>
          <p:nvPr/>
        </p:nvSpPr>
        <p:spPr>
          <a:xfrm>
            <a:off x="15799971" y="6867339"/>
            <a:ext cx="5687099" cy="3567362"/>
          </a:xfrm>
          <a:custGeom>
            <a:rect b="b" l="l" r="r" t="t"/>
            <a:pathLst>
              <a:path extrusionOk="0" h="3567362" w="5687099">
                <a:moveTo>
                  <a:pt x="0" y="0"/>
                </a:moveTo>
                <a:lnTo>
                  <a:pt x="5687099" y="0"/>
                </a:lnTo>
                <a:lnTo>
                  <a:pt x="5687099" y="3567362"/>
                </a:lnTo>
                <a:lnTo>
                  <a:pt x="0" y="3567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1"/>
          <p:cNvSpPr/>
          <p:nvPr/>
        </p:nvSpPr>
        <p:spPr>
          <a:xfrm>
            <a:off x="15559640" y="-216616"/>
            <a:ext cx="4010686" cy="2450165"/>
          </a:xfrm>
          <a:custGeom>
            <a:rect b="b" l="l" r="r" t="t"/>
            <a:pathLst>
              <a:path extrusionOk="0" h="2450165" w="4010686">
                <a:moveTo>
                  <a:pt x="0" y="0"/>
                </a:moveTo>
                <a:lnTo>
                  <a:pt x="4010686" y="0"/>
                </a:lnTo>
                <a:lnTo>
                  <a:pt x="4010686" y="2450165"/>
                </a:lnTo>
                <a:lnTo>
                  <a:pt x="0" y="2450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1"/>
          <p:cNvSpPr/>
          <p:nvPr/>
        </p:nvSpPr>
        <p:spPr>
          <a:xfrm>
            <a:off x="162394" y="188387"/>
            <a:ext cx="2598509" cy="2201646"/>
          </a:xfrm>
          <a:custGeom>
            <a:rect b="b" l="l" r="r" t="t"/>
            <a:pathLst>
              <a:path extrusionOk="0" h="2201646" w="2598509">
                <a:moveTo>
                  <a:pt x="0" y="0"/>
                </a:moveTo>
                <a:lnTo>
                  <a:pt x="2598509" y="0"/>
                </a:lnTo>
                <a:lnTo>
                  <a:pt x="2598509" y="2201646"/>
                </a:lnTo>
                <a:lnTo>
                  <a:pt x="0" y="22016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1"/>
          <p:cNvSpPr/>
          <p:nvPr/>
        </p:nvSpPr>
        <p:spPr>
          <a:xfrm>
            <a:off x="-1024708" y="3756360"/>
            <a:ext cx="3145260" cy="2361566"/>
          </a:xfrm>
          <a:custGeom>
            <a:rect b="b" l="l" r="r" t="t"/>
            <a:pathLst>
              <a:path extrusionOk="0" h="2361566" w="3145260">
                <a:moveTo>
                  <a:pt x="0" y="0"/>
                </a:moveTo>
                <a:lnTo>
                  <a:pt x="3145260" y="0"/>
                </a:lnTo>
                <a:lnTo>
                  <a:pt x="3145260" y="2361566"/>
                </a:lnTo>
                <a:lnTo>
                  <a:pt x="0" y="2361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1"/>
          <p:cNvSpPr/>
          <p:nvPr/>
        </p:nvSpPr>
        <p:spPr>
          <a:xfrm rot="-1461047">
            <a:off x="16209924" y="3485593"/>
            <a:ext cx="1394433" cy="2289368"/>
          </a:xfrm>
          <a:custGeom>
            <a:rect b="b" l="l" r="r" t="t"/>
            <a:pathLst>
              <a:path extrusionOk="0" h="2289368" w="1394433">
                <a:moveTo>
                  <a:pt x="0" y="0"/>
                </a:moveTo>
                <a:lnTo>
                  <a:pt x="1394434" y="0"/>
                </a:lnTo>
                <a:lnTo>
                  <a:pt x="1394434" y="2289368"/>
                </a:lnTo>
                <a:lnTo>
                  <a:pt x="0" y="228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1"/>
          <p:cNvSpPr/>
          <p:nvPr/>
        </p:nvSpPr>
        <p:spPr>
          <a:xfrm rot="1174586">
            <a:off x="-362171" y="7357145"/>
            <a:ext cx="2189869" cy="4332475"/>
          </a:xfrm>
          <a:custGeom>
            <a:rect b="b" l="l" r="r" t="t"/>
            <a:pathLst>
              <a:path extrusionOk="0" h="4332475" w="2189869">
                <a:moveTo>
                  <a:pt x="0" y="0"/>
                </a:moveTo>
                <a:lnTo>
                  <a:pt x="2189870" y="0"/>
                </a:lnTo>
                <a:lnTo>
                  <a:pt x="2189870" y="4332475"/>
                </a:lnTo>
                <a:lnTo>
                  <a:pt x="0" y="43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1"/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1"/>
          <p:cNvSpPr txBox="1"/>
          <p:nvPr/>
        </p:nvSpPr>
        <p:spPr>
          <a:xfrm>
            <a:off x="800100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구성 및 EDA – </a:t>
            </a:r>
            <a:r>
              <a:rPr b="1" i="0" lang="en-US" sz="3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내부 구축 데이터</a:t>
            </a:r>
            <a:endParaRPr b="1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8" name="Google Shape;348;p31"/>
          <p:cNvSpPr txBox="1"/>
          <p:nvPr/>
        </p:nvSpPr>
        <p:spPr>
          <a:xfrm>
            <a:off x="781050" y="2110795"/>
            <a:ext cx="1666875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시뮬레이션을 위해 추가로 구축한 데이터</a:t>
            </a:r>
            <a:endParaRPr b="1" i="0" sz="2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49" name="Google Shape;349;p31"/>
          <p:cNvGraphicFramePr/>
          <p:nvPr/>
        </p:nvGraphicFramePr>
        <p:xfrm>
          <a:off x="800100" y="26873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{09DE9D87-B3BD-4428-8ECC-5E18B452F763}</a:tableStyleId>
              </a:tblPr>
              <a:tblGrid>
                <a:gridCol w="3852575"/>
                <a:gridCol w="1461250"/>
                <a:gridCol w="11335875"/>
              </a:tblGrid>
              <a:tr h="742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데이터 파일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행 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주요 정보와 활용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A3A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part_master.csv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부품별 조달기간, 정비 준비기간, 목표재고, 사용기한 및 협력사 연결 정보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suppliers.csv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가상 협력사명, 담당 부서, 전화번호, 이메일 등 발주 연락 정보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inventory_lots.csv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166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부품 로트별 입고일, 보유수량, 예약수량, 사용기한, 품질상태 및 사용 가능 시점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purchase_orders.csv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169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부품별 발주일, 입고 예정일, 실제 입고일, 발주수량, 협력사 및 주문 상태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inventory_movements.csv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2,526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초기재고, 입고, 출고, 검사 해제, 기한 초과 및 폐기 등 재고 변동 이력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maintenance_records.csv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2,248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설비·부품별 교체 수요, 정비 요청일, 완료일, 사용 로트 및 처리 결과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costs.csv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부품 구매비, 예방·긴급 작업비, 보유비, 폐기비, 정지 손실 및 긴급 운송비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350" name="Google Shape;350;p31"/>
          <p:cNvSpPr txBox="1"/>
          <p:nvPr/>
        </p:nvSpPr>
        <p:spPr>
          <a:xfrm>
            <a:off x="9351028" y="9193983"/>
            <a:ext cx="802677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License: 없음</a:t>
            </a:r>
            <a:endParaRPr b="1" i="0" sz="16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1" name="Google Shape;351;p31"/>
          <p:cNvSpPr txBox="1"/>
          <p:nvPr/>
        </p:nvSpPr>
        <p:spPr>
          <a:xfrm>
            <a:off x="9359993" y="8838139"/>
            <a:ext cx="802677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출처: 직접 구축</a:t>
            </a:r>
            <a:endParaRPr b="1" i="0" sz="16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2" name="Google Shape;352;p31"/>
          <p:cNvSpPr txBox="1"/>
          <p:nvPr/>
        </p:nvSpPr>
        <p:spPr>
          <a:xfrm>
            <a:off x="17586764" y="9828019"/>
            <a:ext cx="4314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1"/>
          <p:cNvSpPr txBox="1"/>
          <p:nvPr/>
        </p:nvSpPr>
        <p:spPr>
          <a:xfrm>
            <a:off x="12027830" y="514345"/>
            <a:ext cx="569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http://192.168.106.247:8050</a:t>
            </a:r>
            <a:endParaRPr b="1" i="0" sz="32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4" name="Google Shape;354;p31"/>
          <p:cNvSpPr txBox="1"/>
          <p:nvPr/>
        </p:nvSpPr>
        <p:spPr>
          <a:xfrm>
            <a:off x="13051625" y="1147375"/>
            <a:ext cx="4531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사용자명: admin </a:t>
            </a:r>
            <a:endParaRPr b="1" sz="19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비밀번호: xFwhmvxWM8oYQNldOgVz</a:t>
            </a:r>
            <a:endParaRPr b="1" sz="2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47A1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2"/>
          <p:cNvSpPr/>
          <p:nvPr/>
        </p:nvSpPr>
        <p:spPr>
          <a:xfrm>
            <a:off x="9134475" y="5822156"/>
            <a:ext cx="9144000" cy="4464844"/>
          </a:xfrm>
          <a:custGeom>
            <a:rect b="b" l="l" r="r" t="t"/>
            <a:pathLst>
              <a:path extrusionOk="0" h="4464844" w="9144000">
                <a:moveTo>
                  <a:pt x="0" y="0"/>
                </a:moveTo>
                <a:lnTo>
                  <a:pt x="9144000" y="0"/>
                </a:lnTo>
                <a:lnTo>
                  <a:pt x="9144000" y="4464844"/>
                </a:lnTo>
                <a:lnTo>
                  <a:pt x="0" y="4464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2"/>
          <p:cNvSpPr/>
          <p:nvPr/>
        </p:nvSpPr>
        <p:spPr>
          <a:xfrm flipH="1">
            <a:off x="0" y="5905500"/>
            <a:ext cx="9144000" cy="4464844"/>
          </a:xfrm>
          <a:custGeom>
            <a:rect b="b" l="l" r="r" t="t"/>
            <a:pathLst>
              <a:path extrusionOk="0" h="4464844" w="9144000">
                <a:moveTo>
                  <a:pt x="9144000" y="0"/>
                </a:moveTo>
                <a:lnTo>
                  <a:pt x="0" y="0"/>
                </a:lnTo>
                <a:lnTo>
                  <a:pt x="0" y="4464844"/>
                </a:lnTo>
                <a:lnTo>
                  <a:pt x="9144000" y="4464844"/>
                </a:lnTo>
                <a:lnTo>
                  <a:pt x="914400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2"/>
          <p:cNvSpPr/>
          <p:nvPr/>
        </p:nvSpPr>
        <p:spPr>
          <a:xfrm flipH="1">
            <a:off x="15975674" y="7205906"/>
            <a:ext cx="3783788" cy="3343493"/>
          </a:xfrm>
          <a:custGeom>
            <a:rect b="b" l="l" r="r" t="t"/>
            <a:pathLst>
              <a:path extrusionOk="0" h="3343493" w="3783788">
                <a:moveTo>
                  <a:pt x="3783788" y="0"/>
                </a:moveTo>
                <a:lnTo>
                  <a:pt x="0" y="0"/>
                </a:lnTo>
                <a:lnTo>
                  <a:pt x="0" y="3343493"/>
                </a:lnTo>
                <a:lnTo>
                  <a:pt x="3783788" y="3343493"/>
                </a:lnTo>
                <a:lnTo>
                  <a:pt x="3783788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2"/>
          <p:cNvSpPr/>
          <p:nvPr/>
        </p:nvSpPr>
        <p:spPr>
          <a:xfrm rot="-1552202">
            <a:off x="118572" y="-503611"/>
            <a:ext cx="1419719" cy="3560423"/>
          </a:xfrm>
          <a:custGeom>
            <a:rect b="b" l="l" r="r" t="t"/>
            <a:pathLst>
              <a:path extrusionOk="0" h="3560423" w="1419719">
                <a:moveTo>
                  <a:pt x="0" y="0"/>
                </a:moveTo>
                <a:lnTo>
                  <a:pt x="1419718" y="0"/>
                </a:lnTo>
                <a:lnTo>
                  <a:pt x="1419718" y="3560423"/>
                </a:lnTo>
                <a:lnTo>
                  <a:pt x="0" y="3560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2"/>
          <p:cNvSpPr/>
          <p:nvPr/>
        </p:nvSpPr>
        <p:spPr>
          <a:xfrm rot="-2392959">
            <a:off x="-895800" y="7430440"/>
            <a:ext cx="2226666" cy="3655720"/>
          </a:xfrm>
          <a:custGeom>
            <a:rect b="b" l="l" r="r" t="t"/>
            <a:pathLst>
              <a:path extrusionOk="0" h="3655720" w="2226666">
                <a:moveTo>
                  <a:pt x="0" y="0"/>
                </a:moveTo>
                <a:lnTo>
                  <a:pt x="2226666" y="0"/>
                </a:lnTo>
                <a:lnTo>
                  <a:pt x="2226666" y="3655720"/>
                </a:lnTo>
                <a:lnTo>
                  <a:pt x="0" y="3655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2"/>
          <p:cNvSpPr/>
          <p:nvPr/>
        </p:nvSpPr>
        <p:spPr>
          <a:xfrm rot="1591302">
            <a:off x="16758228" y="-891316"/>
            <a:ext cx="1745093" cy="3452523"/>
          </a:xfrm>
          <a:custGeom>
            <a:rect b="b" l="l" r="r" t="t"/>
            <a:pathLst>
              <a:path extrusionOk="0" h="3452523" w="1745093">
                <a:moveTo>
                  <a:pt x="0" y="0"/>
                </a:moveTo>
                <a:lnTo>
                  <a:pt x="1745094" y="0"/>
                </a:lnTo>
                <a:lnTo>
                  <a:pt x="1745094" y="3452523"/>
                </a:lnTo>
                <a:lnTo>
                  <a:pt x="0" y="3452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2"/>
          <p:cNvSpPr/>
          <p:nvPr/>
        </p:nvSpPr>
        <p:spPr>
          <a:xfrm>
            <a:off x="-1103395" y="3388223"/>
            <a:ext cx="2641855" cy="2094270"/>
          </a:xfrm>
          <a:custGeom>
            <a:rect b="b" l="l" r="r" t="t"/>
            <a:pathLst>
              <a:path extrusionOk="0" h="2094270" w="2641855">
                <a:moveTo>
                  <a:pt x="0" y="0"/>
                </a:moveTo>
                <a:lnTo>
                  <a:pt x="2641855" y="0"/>
                </a:lnTo>
                <a:lnTo>
                  <a:pt x="2641855" y="2094270"/>
                </a:lnTo>
                <a:lnTo>
                  <a:pt x="0" y="2094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2"/>
          <p:cNvSpPr/>
          <p:nvPr/>
        </p:nvSpPr>
        <p:spPr>
          <a:xfrm>
            <a:off x="16966005" y="4800783"/>
            <a:ext cx="2307327" cy="1363421"/>
          </a:xfrm>
          <a:custGeom>
            <a:rect b="b" l="l" r="r" t="t"/>
            <a:pathLst>
              <a:path extrusionOk="0" h="1363421" w="2307327">
                <a:moveTo>
                  <a:pt x="0" y="0"/>
                </a:moveTo>
                <a:lnTo>
                  <a:pt x="2307327" y="0"/>
                </a:lnTo>
                <a:lnTo>
                  <a:pt x="2307327" y="1363421"/>
                </a:lnTo>
                <a:lnTo>
                  <a:pt x="0" y="13634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2"/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2"/>
          <p:cNvSpPr txBox="1"/>
          <p:nvPr/>
        </p:nvSpPr>
        <p:spPr>
          <a:xfrm>
            <a:off x="800100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전처리</a:t>
            </a:r>
            <a:endParaRPr b="1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9" name="Google Shape;369;p32"/>
          <p:cNvSpPr/>
          <p:nvPr/>
        </p:nvSpPr>
        <p:spPr>
          <a:xfrm>
            <a:off x="3127998" y="2793841"/>
            <a:ext cx="4208994" cy="4208994"/>
          </a:xfrm>
          <a:prstGeom prst="ellipse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고장 위험 예측용</a:t>
            </a:r>
            <a:endParaRPr b="1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2"/>
          <p:cNvSpPr/>
          <p:nvPr/>
        </p:nvSpPr>
        <p:spPr>
          <a:xfrm>
            <a:off x="10951008" y="2793841"/>
            <a:ext cx="4208994" cy="4208994"/>
          </a:xfrm>
          <a:prstGeom prst="ellipse">
            <a:avLst/>
          </a:prstGeom>
          <a:solidFill>
            <a:schemeClr val="accent3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센서 이상 탐지용</a:t>
            </a:r>
            <a:endParaRPr/>
          </a:p>
        </p:txBody>
      </p:sp>
      <p:sp>
        <p:nvSpPr>
          <p:cNvPr id="371" name="Google Shape;371;p32"/>
          <p:cNvSpPr txBox="1"/>
          <p:nvPr/>
        </p:nvSpPr>
        <p:spPr>
          <a:xfrm>
            <a:off x="17586764" y="9828019"/>
            <a:ext cx="4314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2"/>
          <p:cNvSpPr txBox="1"/>
          <p:nvPr/>
        </p:nvSpPr>
        <p:spPr>
          <a:xfrm>
            <a:off x="12027830" y="514345"/>
            <a:ext cx="569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http://192.168.106.247:8050</a:t>
            </a:r>
            <a:endParaRPr b="1" i="0" sz="32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3" name="Google Shape;373;p32"/>
          <p:cNvSpPr txBox="1"/>
          <p:nvPr/>
        </p:nvSpPr>
        <p:spPr>
          <a:xfrm>
            <a:off x="13051625" y="1147375"/>
            <a:ext cx="4531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사용자명: admin </a:t>
            </a:r>
            <a:endParaRPr b="1" sz="19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비밀번호: xFwhmvxWM8oYQNldOgVz</a:t>
            </a:r>
            <a:endParaRPr b="1" sz="2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121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" name="Google Shape;378;p33"/>
          <p:cNvGrpSpPr/>
          <p:nvPr/>
        </p:nvGrpSpPr>
        <p:grpSpPr>
          <a:xfrm>
            <a:off x="-9525" y="5822156"/>
            <a:ext cx="18288000" cy="4464844"/>
            <a:chOff x="0" y="0"/>
            <a:chExt cx="24384000" cy="5953125"/>
          </a:xfrm>
        </p:grpSpPr>
        <p:sp>
          <p:nvSpPr>
            <p:cNvPr id="379" name="Google Shape;379;p33"/>
            <p:cNvSpPr/>
            <p:nvPr/>
          </p:nvSpPr>
          <p:spPr>
            <a:xfrm>
              <a:off x="1219200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5953125"/>
                  </a:lnTo>
                  <a:lnTo>
                    <a:pt x="0" y="59531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33"/>
            <p:cNvSpPr/>
            <p:nvPr/>
          </p:nvSpPr>
          <p:spPr>
            <a:xfrm flipH="1">
              <a:off x="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12192000" y="0"/>
                  </a:moveTo>
                  <a:lnTo>
                    <a:pt x="0" y="0"/>
                  </a:lnTo>
                  <a:lnTo>
                    <a:pt x="0" y="5953125"/>
                  </a:lnTo>
                  <a:lnTo>
                    <a:pt x="12192000" y="5953125"/>
                  </a:lnTo>
                  <a:lnTo>
                    <a:pt x="1219200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1" name="Google Shape;381;p33"/>
          <p:cNvSpPr/>
          <p:nvPr/>
        </p:nvSpPr>
        <p:spPr>
          <a:xfrm>
            <a:off x="15799971" y="6867339"/>
            <a:ext cx="5687099" cy="3567362"/>
          </a:xfrm>
          <a:custGeom>
            <a:rect b="b" l="l" r="r" t="t"/>
            <a:pathLst>
              <a:path extrusionOk="0" h="3567362" w="5687099">
                <a:moveTo>
                  <a:pt x="0" y="0"/>
                </a:moveTo>
                <a:lnTo>
                  <a:pt x="5687099" y="0"/>
                </a:lnTo>
                <a:lnTo>
                  <a:pt x="5687099" y="3567362"/>
                </a:lnTo>
                <a:lnTo>
                  <a:pt x="0" y="3567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3"/>
          <p:cNvSpPr/>
          <p:nvPr/>
        </p:nvSpPr>
        <p:spPr>
          <a:xfrm>
            <a:off x="15559640" y="-216616"/>
            <a:ext cx="4010686" cy="2450165"/>
          </a:xfrm>
          <a:custGeom>
            <a:rect b="b" l="l" r="r" t="t"/>
            <a:pathLst>
              <a:path extrusionOk="0" h="2450165" w="4010686">
                <a:moveTo>
                  <a:pt x="0" y="0"/>
                </a:moveTo>
                <a:lnTo>
                  <a:pt x="4010686" y="0"/>
                </a:lnTo>
                <a:lnTo>
                  <a:pt x="4010686" y="2450165"/>
                </a:lnTo>
                <a:lnTo>
                  <a:pt x="0" y="2450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3"/>
          <p:cNvSpPr/>
          <p:nvPr/>
        </p:nvSpPr>
        <p:spPr>
          <a:xfrm>
            <a:off x="162394" y="188387"/>
            <a:ext cx="2598509" cy="2201646"/>
          </a:xfrm>
          <a:custGeom>
            <a:rect b="b" l="l" r="r" t="t"/>
            <a:pathLst>
              <a:path extrusionOk="0" h="2201646" w="2598509">
                <a:moveTo>
                  <a:pt x="0" y="0"/>
                </a:moveTo>
                <a:lnTo>
                  <a:pt x="2598509" y="0"/>
                </a:lnTo>
                <a:lnTo>
                  <a:pt x="2598509" y="2201646"/>
                </a:lnTo>
                <a:lnTo>
                  <a:pt x="0" y="22016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3"/>
          <p:cNvSpPr/>
          <p:nvPr/>
        </p:nvSpPr>
        <p:spPr>
          <a:xfrm>
            <a:off x="-1024708" y="3756360"/>
            <a:ext cx="3145260" cy="2361566"/>
          </a:xfrm>
          <a:custGeom>
            <a:rect b="b" l="l" r="r" t="t"/>
            <a:pathLst>
              <a:path extrusionOk="0" h="2361566" w="3145260">
                <a:moveTo>
                  <a:pt x="0" y="0"/>
                </a:moveTo>
                <a:lnTo>
                  <a:pt x="3145260" y="0"/>
                </a:lnTo>
                <a:lnTo>
                  <a:pt x="3145260" y="2361566"/>
                </a:lnTo>
                <a:lnTo>
                  <a:pt x="0" y="2361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3"/>
          <p:cNvSpPr/>
          <p:nvPr/>
        </p:nvSpPr>
        <p:spPr>
          <a:xfrm rot="-1461047">
            <a:off x="16209924" y="3485593"/>
            <a:ext cx="1394433" cy="2289368"/>
          </a:xfrm>
          <a:custGeom>
            <a:rect b="b" l="l" r="r" t="t"/>
            <a:pathLst>
              <a:path extrusionOk="0" h="2289368" w="1394433">
                <a:moveTo>
                  <a:pt x="0" y="0"/>
                </a:moveTo>
                <a:lnTo>
                  <a:pt x="1394434" y="0"/>
                </a:lnTo>
                <a:lnTo>
                  <a:pt x="1394434" y="2289368"/>
                </a:lnTo>
                <a:lnTo>
                  <a:pt x="0" y="228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3"/>
          <p:cNvSpPr/>
          <p:nvPr/>
        </p:nvSpPr>
        <p:spPr>
          <a:xfrm rot="1174586">
            <a:off x="-362171" y="7357145"/>
            <a:ext cx="2189869" cy="4332475"/>
          </a:xfrm>
          <a:custGeom>
            <a:rect b="b" l="l" r="r" t="t"/>
            <a:pathLst>
              <a:path extrusionOk="0" h="4332475" w="2189869">
                <a:moveTo>
                  <a:pt x="0" y="0"/>
                </a:moveTo>
                <a:lnTo>
                  <a:pt x="2189870" y="0"/>
                </a:lnTo>
                <a:lnTo>
                  <a:pt x="2189870" y="4332475"/>
                </a:lnTo>
                <a:lnTo>
                  <a:pt x="0" y="43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3"/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33"/>
          <p:cNvSpPr txBox="1"/>
          <p:nvPr/>
        </p:nvSpPr>
        <p:spPr>
          <a:xfrm>
            <a:off x="800100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전처리</a:t>
            </a:r>
            <a:endParaRPr b="1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89" name="Google Shape;389;p33"/>
          <p:cNvGraphicFramePr/>
          <p:nvPr/>
        </p:nvGraphicFramePr>
        <p:xfrm>
          <a:off x="683012" y="30665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{09DE9D87-B3BD-4428-8ECC-5E18B452F763}</a:tableStyleId>
              </a:tblPr>
              <a:tblGrid>
                <a:gridCol w="2849875"/>
                <a:gridCol w="3779525"/>
                <a:gridCol w="10332950"/>
              </a:tblGrid>
              <a:tr h="80197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구분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A3A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전처리 내용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A3A"/>
                    </a:solidFill>
                  </a:tcPr>
                </a:tc>
              </a:tr>
              <a:tr h="801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검사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필수 컬럼, 파일, 시간범위, 설비 수 검증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801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 단위 집계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센서별 mean / std / min / max + 관측치 집계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801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이상값 점검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학습 구간 평균 6-sig 기준으로 극단값 처리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801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시계열 특징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3, 7, 14, 30일 이동평균/표준편차, trend, z-score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801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이력 특징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7, 30일 오류 횟수, 교체/고장 후 경과일, 누적 고장 횟수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801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라벨 생성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t-1까지 입력, t~t+H-1 고장 여부를 정답으로 생성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  <p:sp>
        <p:nvSpPr>
          <p:cNvPr id="390" name="Google Shape;390;p33"/>
          <p:cNvSpPr txBox="1"/>
          <p:nvPr/>
        </p:nvSpPr>
        <p:spPr>
          <a:xfrm>
            <a:off x="543622" y="2355695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고장 위험 예측 전처리</a:t>
            </a:r>
            <a:endParaRPr/>
          </a:p>
        </p:txBody>
      </p:sp>
      <p:sp>
        <p:nvSpPr>
          <p:cNvPr id="391" name="Google Shape;391;p33"/>
          <p:cNvSpPr txBox="1"/>
          <p:nvPr/>
        </p:nvSpPr>
        <p:spPr>
          <a:xfrm>
            <a:off x="17586764" y="9828019"/>
            <a:ext cx="4314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3"/>
          <p:cNvSpPr txBox="1"/>
          <p:nvPr/>
        </p:nvSpPr>
        <p:spPr>
          <a:xfrm>
            <a:off x="12027830" y="514345"/>
            <a:ext cx="569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http://192.168.106.247:8050</a:t>
            </a:r>
            <a:endParaRPr b="1" i="0" sz="32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3" name="Google Shape;393;p33"/>
          <p:cNvSpPr txBox="1"/>
          <p:nvPr/>
        </p:nvSpPr>
        <p:spPr>
          <a:xfrm>
            <a:off x="13051625" y="1147375"/>
            <a:ext cx="4531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사용자명: admin </a:t>
            </a:r>
            <a:endParaRPr b="1" sz="19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비밀번호: xFwhmvxWM8oYQNldOgVz</a:t>
            </a:r>
            <a:endParaRPr b="1" sz="2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12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" name="Google Shape;398;p34"/>
          <p:cNvGrpSpPr/>
          <p:nvPr/>
        </p:nvGrpSpPr>
        <p:grpSpPr>
          <a:xfrm>
            <a:off x="-9525" y="5822156"/>
            <a:ext cx="18288000" cy="4464844"/>
            <a:chOff x="0" y="0"/>
            <a:chExt cx="24384000" cy="5953125"/>
          </a:xfrm>
        </p:grpSpPr>
        <p:sp>
          <p:nvSpPr>
            <p:cNvPr id="399" name="Google Shape;399;p34"/>
            <p:cNvSpPr/>
            <p:nvPr/>
          </p:nvSpPr>
          <p:spPr>
            <a:xfrm>
              <a:off x="1219200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5953125"/>
                  </a:lnTo>
                  <a:lnTo>
                    <a:pt x="0" y="59531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34"/>
            <p:cNvSpPr/>
            <p:nvPr/>
          </p:nvSpPr>
          <p:spPr>
            <a:xfrm flipH="1">
              <a:off x="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12192000" y="0"/>
                  </a:moveTo>
                  <a:lnTo>
                    <a:pt x="0" y="0"/>
                  </a:lnTo>
                  <a:lnTo>
                    <a:pt x="0" y="5953125"/>
                  </a:lnTo>
                  <a:lnTo>
                    <a:pt x="12192000" y="5953125"/>
                  </a:lnTo>
                  <a:lnTo>
                    <a:pt x="1219200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1" name="Google Shape;401;p34"/>
          <p:cNvSpPr/>
          <p:nvPr/>
        </p:nvSpPr>
        <p:spPr>
          <a:xfrm>
            <a:off x="15799971" y="6867339"/>
            <a:ext cx="5687099" cy="3567362"/>
          </a:xfrm>
          <a:custGeom>
            <a:rect b="b" l="l" r="r" t="t"/>
            <a:pathLst>
              <a:path extrusionOk="0" h="3567362" w="5687099">
                <a:moveTo>
                  <a:pt x="0" y="0"/>
                </a:moveTo>
                <a:lnTo>
                  <a:pt x="5687099" y="0"/>
                </a:lnTo>
                <a:lnTo>
                  <a:pt x="5687099" y="3567362"/>
                </a:lnTo>
                <a:lnTo>
                  <a:pt x="0" y="3567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4"/>
          <p:cNvSpPr/>
          <p:nvPr/>
        </p:nvSpPr>
        <p:spPr>
          <a:xfrm>
            <a:off x="15559640" y="-216616"/>
            <a:ext cx="4010686" cy="2450165"/>
          </a:xfrm>
          <a:custGeom>
            <a:rect b="b" l="l" r="r" t="t"/>
            <a:pathLst>
              <a:path extrusionOk="0" h="2450165" w="4010686">
                <a:moveTo>
                  <a:pt x="0" y="0"/>
                </a:moveTo>
                <a:lnTo>
                  <a:pt x="4010686" y="0"/>
                </a:lnTo>
                <a:lnTo>
                  <a:pt x="4010686" y="2450165"/>
                </a:lnTo>
                <a:lnTo>
                  <a:pt x="0" y="2450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34"/>
          <p:cNvSpPr/>
          <p:nvPr/>
        </p:nvSpPr>
        <p:spPr>
          <a:xfrm>
            <a:off x="162394" y="188387"/>
            <a:ext cx="2598509" cy="2201646"/>
          </a:xfrm>
          <a:custGeom>
            <a:rect b="b" l="l" r="r" t="t"/>
            <a:pathLst>
              <a:path extrusionOk="0" h="2201646" w="2598509">
                <a:moveTo>
                  <a:pt x="0" y="0"/>
                </a:moveTo>
                <a:lnTo>
                  <a:pt x="2598509" y="0"/>
                </a:lnTo>
                <a:lnTo>
                  <a:pt x="2598509" y="2201646"/>
                </a:lnTo>
                <a:lnTo>
                  <a:pt x="0" y="22016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4"/>
          <p:cNvSpPr/>
          <p:nvPr/>
        </p:nvSpPr>
        <p:spPr>
          <a:xfrm>
            <a:off x="-1024708" y="3756360"/>
            <a:ext cx="3145260" cy="2361566"/>
          </a:xfrm>
          <a:custGeom>
            <a:rect b="b" l="l" r="r" t="t"/>
            <a:pathLst>
              <a:path extrusionOk="0" h="2361566" w="3145260">
                <a:moveTo>
                  <a:pt x="0" y="0"/>
                </a:moveTo>
                <a:lnTo>
                  <a:pt x="3145260" y="0"/>
                </a:lnTo>
                <a:lnTo>
                  <a:pt x="3145260" y="2361566"/>
                </a:lnTo>
                <a:lnTo>
                  <a:pt x="0" y="2361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4"/>
          <p:cNvSpPr/>
          <p:nvPr/>
        </p:nvSpPr>
        <p:spPr>
          <a:xfrm rot="-1461047">
            <a:off x="16209924" y="3485593"/>
            <a:ext cx="1394433" cy="2289368"/>
          </a:xfrm>
          <a:custGeom>
            <a:rect b="b" l="l" r="r" t="t"/>
            <a:pathLst>
              <a:path extrusionOk="0" h="2289368" w="1394433">
                <a:moveTo>
                  <a:pt x="0" y="0"/>
                </a:moveTo>
                <a:lnTo>
                  <a:pt x="1394434" y="0"/>
                </a:lnTo>
                <a:lnTo>
                  <a:pt x="1394434" y="2289368"/>
                </a:lnTo>
                <a:lnTo>
                  <a:pt x="0" y="228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4"/>
          <p:cNvSpPr/>
          <p:nvPr/>
        </p:nvSpPr>
        <p:spPr>
          <a:xfrm rot="1174586">
            <a:off x="-362171" y="7357145"/>
            <a:ext cx="2189869" cy="4332475"/>
          </a:xfrm>
          <a:custGeom>
            <a:rect b="b" l="l" r="r" t="t"/>
            <a:pathLst>
              <a:path extrusionOk="0" h="4332475" w="2189869">
                <a:moveTo>
                  <a:pt x="0" y="0"/>
                </a:moveTo>
                <a:lnTo>
                  <a:pt x="2189870" y="0"/>
                </a:lnTo>
                <a:lnTo>
                  <a:pt x="2189870" y="4332475"/>
                </a:lnTo>
                <a:lnTo>
                  <a:pt x="0" y="43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34"/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4"/>
          <p:cNvSpPr txBox="1"/>
          <p:nvPr/>
        </p:nvSpPr>
        <p:spPr>
          <a:xfrm>
            <a:off x="800100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전처리</a:t>
            </a:r>
            <a:endParaRPr b="1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409" name="Google Shape;409;p34"/>
          <p:cNvGraphicFramePr/>
          <p:nvPr/>
        </p:nvGraphicFramePr>
        <p:xfrm>
          <a:off x="683012" y="30665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{09DE9D87-B3BD-4428-8ECC-5E18B452F763}</a:tableStyleId>
              </a:tblPr>
              <a:tblGrid>
                <a:gridCol w="2849875"/>
                <a:gridCol w="3779525"/>
                <a:gridCol w="10332950"/>
              </a:tblGrid>
              <a:tr h="80197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구분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A3A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전처리 내용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A3A"/>
                    </a:solidFill>
                  </a:tcPr>
                </a:tc>
              </a:tr>
              <a:tr h="801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Telemetry만 사용</a:t>
                      </a:r>
                      <a:endParaRPr sz="1400" u="none" cap="none" strike="noStrike"/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오류, 정비, 고장 라벨 없이 센서 4종만 입력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801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품질 Audit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키, 중복, 무한값, 시간 간격 검사, 원본 값 임의 삭제 X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801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과거 구간 특징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6, 24, 72시간 mean / std 생성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801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변화 특징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72시간 deviation, z-score, 1시간 delta 생성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801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Ready 조건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이전 72시간 이력이 완전한 시점만 모델 입력으로 사용</a:t>
                      </a:r>
                      <a:endParaRPr sz="1400" u="none" cap="none" strike="noStrike"/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801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시간순 Split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동일 시각은 모든 설비에서 같은 train/test 구간 적용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90500" marL="2476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  <p:sp>
        <p:nvSpPr>
          <p:cNvPr id="410" name="Google Shape;410;p34"/>
          <p:cNvSpPr txBox="1"/>
          <p:nvPr/>
        </p:nvSpPr>
        <p:spPr>
          <a:xfrm>
            <a:off x="543622" y="2355695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센서 이상 탐지 전처리</a:t>
            </a:r>
            <a:endParaRPr/>
          </a:p>
        </p:txBody>
      </p:sp>
      <p:sp>
        <p:nvSpPr>
          <p:cNvPr id="411" name="Google Shape;411;p34"/>
          <p:cNvSpPr txBox="1"/>
          <p:nvPr/>
        </p:nvSpPr>
        <p:spPr>
          <a:xfrm>
            <a:off x="17586764" y="9828019"/>
            <a:ext cx="4314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4"/>
          <p:cNvSpPr txBox="1"/>
          <p:nvPr/>
        </p:nvSpPr>
        <p:spPr>
          <a:xfrm>
            <a:off x="12027830" y="514345"/>
            <a:ext cx="569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http://192.168.106.247:8050</a:t>
            </a:r>
            <a:endParaRPr b="1" i="0" sz="32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3" name="Google Shape;413;p34"/>
          <p:cNvSpPr txBox="1"/>
          <p:nvPr/>
        </p:nvSpPr>
        <p:spPr>
          <a:xfrm>
            <a:off x="13051625" y="1147375"/>
            <a:ext cx="4531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사용자명: admin </a:t>
            </a:r>
            <a:endParaRPr b="1" sz="19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비밀번호: xFwhmvxWM8oYQNldOgVz</a:t>
            </a:r>
            <a:endParaRPr b="1" sz="2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47A1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5"/>
          <p:cNvSpPr/>
          <p:nvPr/>
        </p:nvSpPr>
        <p:spPr>
          <a:xfrm flipH="1">
            <a:off x="-9525" y="5822156"/>
            <a:ext cx="9144000" cy="4464844"/>
          </a:xfrm>
          <a:custGeom>
            <a:rect b="b" l="l" r="r" t="t"/>
            <a:pathLst>
              <a:path extrusionOk="0" h="4464844" w="9144000">
                <a:moveTo>
                  <a:pt x="9144000" y="0"/>
                </a:moveTo>
                <a:lnTo>
                  <a:pt x="0" y="0"/>
                </a:lnTo>
                <a:lnTo>
                  <a:pt x="0" y="4464844"/>
                </a:lnTo>
                <a:lnTo>
                  <a:pt x="9144000" y="4464844"/>
                </a:lnTo>
                <a:lnTo>
                  <a:pt x="914400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5"/>
          <p:cNvSpPr/>
          <p:nvPr/>
        </p:nvSpPr>
        <p:spPr>
          <a:xfrm>
            <a:off x="9134475" y="5822156"/>
            <a:ext cx="9144000" cy="4464844"/>
          </a:xfrm>
          <a:custGeom>
            <a:rect b="b" l="l" r="r" t="t"/>
            <a:pathLst>
              <a:path extrusionOk="0" h="4464844" w="9144000">
                <a:moveTo>
                  <a:pt x="0" y="0"/>
                </a:moveTo>
                <a:lnTo>
                  <a:pt x="9144000" y="0"/>
                </a:lnTo>
                <a:lnTo>
                  <a:pt x="9144000" y="4464844"/>
                </a:lnTo>
                <a:lnTo>
                  <a:pt x="0" y="4464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5"/>
          <p:cNvSpPr/>
          <p:nvPr/>
        </p:nvSpPr>
        <p:spPr>
          <a:xfrm flipH="1">
            <a:off x="15975674" y="7205906"/>
            <a:ext cx="3783788" cy="3343493"/>
          </a:xfrm>
          <a:custGeom>
            <a:rect b="b" l="l" r="r" t="t"/>
            <a:pathLst>
              <a:path extrusionOk="0" h="3343493" w="3783788">
                <a:moveTo>
                  <a:pt x="3783788" y="0"/>
                </a:moveTo>
                <a:lnTo>
                  <a:pt x="0" y="0"/>
                </a:lnTo>
                <a:lnTo>
                  <a:pt x="0" y="3343493"/>
                </a:lnTo>
                <a:lnTo>
                  <a:pt x="3783788" y="3343493"/>
                </a:lnTo>
                <a:lnTo>
                  <a:pt x="3783788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5"/>
          <p:cNvSpPr/>
          <p:nvPr/>
        </p:nvSpPr>
        <p:spPr>
          <a:xfrm rot="-2392959">
            <a:off x="-895800" y="7430440"/>
            <a:ext cx="2226666" cy="3655720"/>
          </a:xfrm>
          <a:custGeom>
            <a:rect b="b" l="l" r="r" t="t"/>
            <a:pathLst>
              <a:path extrusionOk="0" h="3655720" w="2226666">
                <a:moveTo>
                  <a:pt x="0" y="0"/>
                </a:moveTo>
                <a:lnTo>
                  <a:pt x="2226666" y="0"/>
                </a:lnTo>
                <a:lnTo>
                  <a:pt x="2226666" y="3655720"/>
                </a:lnTo>
                <a:lnTo>
                  <a:pt x="0" y="3655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5"/>
          <p:cNvSpPr/>
          <p:nvPr/>
        </p:nvSpPr>
        <p:spPr>
          <a:xfrm rot="-1552202">
            <a:off x="118572" y="-503611"/>
            <a:ext cx="1419719" cy="3560423"/>
          </a:xfrm>
          <a:custGeom>
            <a:rect b="b" l="l" r="r" t="t"/>
            <a:pathLst>
              <a:path extrusionOk="0" h="3560423" w="1419719">
                <a:moveTo>
                  <a:pt x="0" y="0"/>
                </a:moveTo>
                <a:lnTo>
                  <a:pt x="1419718" y="0"/>
                </a:lnTo>
                <a:lnTo>
                  <a:pt x="1419718" y="3560423"/>
                </a:lnTo>
                <a:lnTo>
                  <a:pt x="0" y="3560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5"/>
          <p:cNvSpPr/>
          <p:nvPr/>
        </p:nvSpPr>
        <p:spPr>
          <a:xfrm rot="1591302">
            <a:off x="16758228" y="-891316"/>
            <a:ext cx="1745093" cy="3452523"/>
          </a:xfrm>
          <a:custGeom>
            <a:rect b="b" l="l" r="r" t="t"/>
            <a:pathLst>
              <a:path extrusionOk="0" h="3452523" w="1745093">
                <a:moveTo>
                  <a:pt x="0" y="0"/>
                </a:moveTo>
                <a:lnTo>
                  <a:pt x="1745094" y="0"/>
                </a:lnTo>
                <a:lnTo>
                  <a:pt x="1745094" y="3452523"/>
                </a:lnTo>
                <a:lnTo>
                  <a:pt x="0" y="3452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5"/>
          <p:cNvSpPr/>
          <p:nvPr/>
        </p:nvSpPr>
        <p:spPr>
          <a:xfrm>
            <a:off x="-1103395" y="3388223"/>
            <a:ext cx="2641855" cy="2094270"/>
          </a:xfrm>
          <a:custGeom>
            <a:rect b="b" l="l" r="r" t="t"/>
            <a:pathLst>
              <a:path extrusionOk="0" h="2094270" w="2641855">
                <a:moveTo>
                  <a:pt x="0" y="0"/>
                </a:moveTo>
                <a:lnTo>
                  <a:pt x="2641855" y="0"/>
                </a:lnTo>
                <a:lnTo>
                  <a:pt x="2641855" y="2094270"/>
                </a:lnTo>
                <a:lnTo>
                  <a:pt x="0" y="2094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5"/>
          <p:cNvSpPr/>
          <p:nvPr/>
        </p:nvSpPr>
        <p:spPr>
          <a:xfrm>
            <a:off x="16966005" y="4800783"/>
            <a:ext cx="2307327" cy="1363421"/>
          </a:xfrm>
          <a:custGeom>
            <a:rect b="b" l="l" r="r" t="t"/>
            <a:pathLst>
              <a:path extrusionOk="0" h="1363421" w="2307327">
                <a:moveTo>
                  <a:pt x="0" y="0"/>
                </a:moveTo>
                <a:lnTo>
                  <a:pt x="2307327" y="0"/>
                </a:lnTo>
                <a:lnTo>
                  <a:pt x="2307327" y="1363421"/>
                </a:lnTo>
                <a:lnTo>
                  <a:pt x="0" y="13634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5"/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5"/>
          <p:cNvSpPr txBox="1"/>
          <p:nvPr/>
        </p:nvSpPr>
        <p:spPr>
          <a:xfrm>
            <a:off x="819150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구조도</a:t>
            </a:r>
            <a:endParaRPr b="1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텍스트, 스크린샷, 소프트웨어, 운영 체제이(가) 표시된 사진&#10;&#10;AI 생성 콘텐츠는 정확하지 않을 수 있습니다." id="428" name="Google Shape;428;p3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0" y="1486822"/>
            <a:ext cx="18288000" cy="7313356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5"/>
          <p:cNvSpPr txBox="1"/>
          <p:nvPr/>
        </p:nvSpPr>
        <p:spPr>
          <a:xfrm>
            <a:off x="17586764" y="9828019"/>
            <a:ext cx="4314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5"/>
          <p:cNvSpPr txBox="1"/>
          <p:nvPr/>
        </p:nvSpPr>
        <p:spPr>
          <a:xfrm>
            <a:off x="12027830" y="514345"/>
            <a:ext cx="569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http://192.168.106.247:8050</a:t>
            </a:r>
            <a:endParaRPr b="1" i="0" sz="32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1" name="Google Shape;431;p35"/>
          <p:cNvSpPr txBox="1"/>
          <p:nvPr/>
        </p:nvSpPr>
        <p:spPr>
          <a:xfrm>
            <a:off x="13051625" y="1147375"/>
            <a:ext cx="4531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사용자명: admin </a:t>
            </a:r>
            <a:endParaRPr b="1" sz="19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비밀번호: xFwhmvxWM8oYQNldOgVz</a:t>
            </a:r>
            <a:endParaRPr b="1" sz="2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47A1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6"/>
          <p:cNvSpPr/>
          <p:nvPr/>
        </p:nvSpPr>
        <p:spPr>
          <a:xfrm>
            <a:off x="9134475" y="5822156"/>
            <a:ext cx="9144000" cy="4464844"/>
          </a:xfrm>
          <a:custGeom>
            <a:rect b="b" l="l" r="r" t="t"/>
            <a:pathLst>
              <a:path extrusionOk="0" h="4464844" w="9144000">
                <a:moveTo>
                  <a:pt x="0" y="0"/>
                </a:moveTo>
                <a:lnTo>
                  <a:pt x="9144000" y="0"/>
                </a:lnTo>
                <a:lnTo>
                  <a:pt x="9144000" y="4464844"/>
                </a:lnTo>
                <a:lnTo>
                  <a:pt x="0" y="4464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6"/>
          <p:cNvSpPr/>
          <p:nvPr/>
        </p:nvSpPr>
        <p:spPr>
          <a:xfrm flipH="1">
            <a:off x="-9525" y="5822156"/>
            <a:ext cx="9144000" cy="4464844"/>
          </a:xfrm>
          <a:custGeom>
            <a:rect b="b" l="l" r="r" t="t"/>
            <a:pathLst>
              <a:path extrusionOk="0" h="4464844" w="9144000">
                <a:moveTo>
                  <a:pt x="9144000" y="0"/>
                </a:moveTo>
                <a:lnTo>
                  <a:pt x="0" y="0"/>
                </a:lnTo>
                <a:lnTo>
                  <a:pt x="0" y="4464844"/>
                </a:lnTo>
                <a:lnTo>
                  <a:pt x="9144000" y="4464844"/>
                </a:lnTo>
                <a:lnTo>
                  <a:pt x="914400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36"/>
          <p:cNvSpPr/>
          <p:nvPr/>
        </p:nvSpPr>
        <p:spPr>
          <a:xfrm flipH="1">
            <a:off x="10120333" y="2808742"/>
            <a:ext cx="7842761" cy="7186821"/>
          </a:xfrm>
          <a:custGeom>
            <a:rect b="b" l="l" r="r" t="t"/>
            <a:pathLst>
              <a:path extrusionOk="0" h="7186821" w="7842761">
                <a:moveTo>
                  <a:pt x="7842761" y="0"/>
                </a:moveTo>
                <a:lnTo>
                  <a:pt x="0" y="0"/>
                </a:lnTo>
                <a:lnTo>
                  <a:pt x="0" y="7186821"/>
                </a:lnTo>
                <a:lnTo>
                  <a:pt x="7842761" y="7186821"/>
                </a:lnTo>
                <a:lnTo>
                  <a:pt x="784276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36"/>
          <p:cNvSpPr txBox="1"/>
          <p:nvPr/>
        </p:nvSpPr>
        <p:spPr>
          <a:xfrm>
            <a:off x="2806936" y="4619491"/>
            <a:ext cx="674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36"/>
          <p:cNvSpPr/>
          <p:nvPr/>
        </p:nvSpPr>
        <p:spPr>
          <a:xfrm rot="10800000">
            <a:off x="8934301" y="-393895"/>
            <a:ext cx="2899550" cy="2263880"/>
          </a:xfrm>
          <a:custGeom>
            <a:rect b="b" l="l" r="r" t="t"/>
            <a:pathLst>
              <a:path extrusionOk="0" h="2263880" w="2899550">
                <a:moveTo>
                  <a:pt x="0" y="0"/>
                </a:moveTo>
                <a:lnTo>
                  <a:pt x="2899550" y="0"/>
                </a:lnTo>
                <a:lnTo>
                  <a:pt x="2899550" y="2263880"/>
                </a:lnTo>
                <a:lnTo>
                  <a:pt x="0" y="2263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36"/>
          <p:cNvSpPr/>
          <p:nvPr/>
        </p:nvSpPr>
        <p:spPr>
          <a:xfrm>
            <a:off x="16140151" y="5572326"/>
            <a:ext cx="5227965" cy="4714674"/>
          </a:xfrm>
          <a:custGeom>
            <a:rect b="b" l="l" r="r" t="t"/>
            <a:pathLst>
              <a:path extrusionOk="0" h="4714674" w="5227965">
                <a:moveTo>
                  <a:pt x="0" y="0"/>
                </a:moveTo>
                <a:lnTo>
                  <a:pt x="5227965" y="0"/>
                </a:lnTo>
                <a:lnTo>
                  <a:pt x="5227965" y="4714674"/>
                </a:lnTo>
                <a:lnTo>
                  <a:pt x="0" y="4714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6"/>
          <p:cNvSpPr/>
          <p:nvPr/>
        </p:nvSpPr>
        <p:spPr>
          <a:xfrm>
            <a:off x="-1008009" y="7483549"/>
            <a:ext cx="4073417" cy="3229109"/>
          </a:xfrm>
          <a:custGeom>
            <a:rect b="b" l="l" r="r" t="t"/>
            <a:pathLst>
              <a:path extrusionOk="0" h="3229109" w="4073417">
                <a:moveTo>
                  <a:pt x="0" y="0"/>
                </a:moveTo>
                <a:lnTo>
                  <a:pt x="4073418" y="0"/>
                </a:lnTo>
                <a:lnTo>
                  <a:pt x="4073418" y="3229109"/>
                </a:lnTo>
                <a:lnTo>
                  <a:pt x="0" y="3229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6"/>
          <p:cNvSpPr/>
          <p:nvPr/>
        </p:nvSpPr>
        <p:spPr>
          <a:xfrm rot="-1243279">
            <a:off x="16459180" y="-686837"/>
            <a:ext cx="2863902" cy="2326920"/>
          </a:xfrm>
          <a:custGeom>
            <a:rect b="b" l="l" r="r" t="t"/>
            <a:pathLst>
              <a:path extrusionOk="0" h="2326920" w="2863902">
                <a:moveTo>
                  <a:pt x="0" y="0"/>
                </a:moveTo>
                <a:lnTo>
                  <a:pt x="2863902" y="0"/>
                </a:lnTo>
                <a:lnTo>
                  <a:pt x="2863902" y="2326921"/>
                </a:lnTo>
                <a:lnTo>
                  <a:pt x="0" y="23269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6"/>
          <p:cNvSpPr/>
          <p:nvPr/>
        </p:nvSpPr>
        <p:spPr>
          <a:xfrm rot="1113034">
            <a:off x="659015" y="-377783"/>
            <a:ext cx="1792595" cy="4495537"/>
          </a:xfrm>
          <a:custGeom>
            <a:rect b="b" l="l" r="r" t="t"/>
            <a:pathLst>
              <a:path extrusionOk="0" h="4495537" w="1792595">
                <a:moveTo>
                  <a:pt x="0" y="0"/>
                </a:moveTo>
                <a:lnTo>
                  <a:pt x="1792595" y="0"/>
                </a:lnTo>
                <a:lnTo>
                  <a:pt x="1792595" y="4495536"/>
                </a:lnTo>
                <a:lnTo>
                  <a:pt x="0" y="4495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6"/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6"/>
          <p:cNvSpPr txBox="1"/>
          <p:nvPr/>
        </p:nvSpPr>
        <p:spPr>
          <a:xfrm>
            <a:off x="771072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설명</a:t>
            </a:r>
            <a:endParaRPr b="1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7" name="Google Shape;447;p36"/>
          <p:cNvSpPr/>
          <p:nvPr/>
        </p:nvSpPr>
        <p:spPr>
          <a:xfrm>
            <a:off x="12785258" y="2242775"/>
            <a:ext cx="4208994" cy="4208994"/>
          </a:xfrm>
          <a:prstGeom prst="ellipse">
            <a:avLst/>
          </a:prstGeom>
          <a:solidFill>
            <a:schemeClr val="accent6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통계 화면</a:t>
            </a:r>
            <a:endParaRPr/>
          </a:p>
        </p:txBody>
      </p:sp>
      <p:sp>
        <p:nvSpPr>
          <p:cNvPr id="448" name="Google Shape;448;p36"/>
          <p:cNvSpPr/>
          <p:nvPr/>
        </p:nvSpPr>
        <p:spPr>
          <a:xfrm>
            <a:off x="1284223" y="2354450"/>
            <a:ext cx="4208994" cy="4208994"/>
          </a:xfrm>
          <a:prstGeom prst="ellipse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메인 화면</a:t>
            </a:r>
            <a:endParaRPr/>
          </a:p>
        </p:txBody>
      </p:sp>
      <p:sp>
        <p:nvSpPr>
          <p:cNvPr id="449" name="Google Shape;449;p36"/>
          <p:cNvSpPr/>
          <p:nvPr/>
        </p:nvSpPr>
        <p:spPr>
          <a:xfrm>
            <a:off x="7029978" y="2242775"/>
            <a:ext cx="4208994" cy="4208994"/>
          </a:xfrm>
          <a:prstGeom prst="ellipse">
            <a:avLst/>
          </a:prstGeom>
          <a:solidFill>
            <a:schemeClr val="accent3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설비별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상세 화면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6"/>
          <p:cNvSpPr txBox="1"/>
          <p:nvPr/>
        </p:nvSpPr>
        <p:spPr>
          <a:xfrm>
            <a:off x="1150799" y="7052299"/>
            <a:ext cx="4475841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전체 설비의 고장 위험과 재고·조달 현황을 종합해 현재 가장 시급한 대응 업무를 제시합니다.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6"/>
          <p:cNvSpPr txBox="1"/>
          <p:nvPr/>
        </p:nvSpPr>
        <p:spPr>
          <a:xfrm>
            <a:off x="6896554" y="7052299"/>
            <a:ext cx="4475841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선택 설비의 부품별 고장 예측과 이상 근거를 분석하고 최적 발주·대응 방안을 제공합니다.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36"/>
          <p:cNvSpPr txBox="1"/>
          <p:nvPr/>
        </p:nvSpPr>
        <p:spPr>
          <a:xfrm>
            <a:off x="12651834" y="7052299"/>
            <a:ext cx="4475841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100개 설비와 공정별 위험도를 히트맵으로 비교해 우선 점검 대상과 이상 집중 구간을 식별합니다.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36"/>
          <p:cNvSpPr txBox="1"/>
          <p:nvPr/>
        </p:nvSpPr>
        <p:spPr>
          <a:xfrm>
            <a:off x="17586764" y="9828019"/>
            <a:ext cx="4314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36"/>
          <p:cNvSpPr txBox="1"/>
          <p:nvPr/>
        </p:nvSpPr>
        <p:spPr>
          <a:xfrm>
            <a:off x="12027830" y="514345"/>
            <a:ext cx="569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http://192.168.106.247:8050</a:t>
            </a:r>
            <a:endParaRPr b="1" i="0" sz="32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5" name="Google Shape;455;p36"/>
          <p:cNvSpPr txBox="1"/>
          <p:nvPr/>
        </p:nvSpPr>
        <p:spPr>
          <a:xfrm>
            <a:off x="13051625" y="1147375"/>
            <a:ext cx="4531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사용자명: admin </a:t>
            </a:r>
            <a:endParaRPr b="1" sz="19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비밀번호: xFwhmvxWM8oYQNldOgVz</a:t>
            </a:r>
            <a:endParaRPr b="1" sz="2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121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" name="Google Shape;460;p37"/>
          <p:cNvGrpSpPr/>
          <p:nvPr/>
        </p:nvGrpSpPr>
        <p:grpSpPr>
          <a:xfrm>
            <a:off x="-9525" y="5822156"/>
            <a:ext cx="18288000" cy="4464844"/>
            <a:chOff x="0" y="0"/>
            <a:chExt cx="24384000" cy="5953125"/>
          </a:xfrm>
        </p:grpSpPr>
        <p:sp>
          <p:nvSpPr>
            <p:cNvPr id="461" name="Google Shape;461;p37"/>
            <p:cNvSpPr/>
            <p:nvPr/>
          </p:nvSpPr>
          <p:spPr>
            <a:xfrm>
              <a:off x="1219200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5953125"/>
                  </a:lnTo>
                  <a:lnTo>
                    <a:pt x="0" y="59531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37"/>
            <p:cNvSpPr/>
            <p:nvPr/>
          </p:nvSpPr>
          <p:spPr>
            <a:xfrm flipH="1">
              <a:off x="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12192000" y="0"/>
                  </a:moveTo>
                  <a:lnTo>
                    <a:pt x="0" y="0"/>
                  </a:lnTo>
                  <a:lnTo>
                    <a:pt x="0" y="5953125"/>
                  </a:lnTo>
                  <a:lnTo>
                    <a:pt x="12192000" y="5953125"/>
                  </a:lnTo>
                  <a:lnTo>
                    <a:pt x="1219200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3" name="Google Shape;463;p37"/>
          <p:cNvSpPr/>
          <p:nvPr/>
        </p:nvSpPr>
        <p:spPr>
          <a:xfrm>
            <a:off x="15799971" y="6867339"/>
            <a:ext cx="5687099" cy="3567362"/>
          </a:xfrm>
          <a:custGeom>
            <a:rect b="b" l="l" r="r" t="t"/>
            <a:pathLst>
              <a:path extrusionOk="0" h="3567362" w="5687099">
                <a:moveTo>
                  <a:pt x="0" y="0"/>
                </a:moveTo>
                <a:lnTo>
                  <a:pt x="5687099" y="0"/>
                </a:lnTo>
                <a:lnTo>
                  <a:pt x="5687099" y="3567362"/>
                </a:lnTo>
                <a:lnTo>
                  <a:pt x="0" y="3567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37"/>
          <p:cNvSpPr/>
          <p:nvPr/>
        </p:nvSpPr>
        <p:spPr>
          <a:xfrm>
            <a:off x="15559640" y="-216616"/>
            <a:ext cx="4010686" cy="2450165"/>
          </a:xfrm>
          <a:custGeom>
            <a:rect b="b" l="l" r="r" t="t"/>
            <a:pathLst>
              <a:path extrusionOk="0" h="2450165" w="4010686">
                <a:moveTo>
                  <a:pt x="0" y="0"/>
                </a:moveTo>
                <a:lnTo>
                  <a:pt x="4010686" y="0"/>
                </a:lnTo>
                <a:lnTo>
                  <a:pt x="4010686" y="2450165"/>
                </a:lnTo>
                <a:lnTo>
                  <a:pt x="0" y="2450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37"/>
          <p:cNvSpPr/>
          <p:nvPr/>
        </p:nvSpPr>
        <p:spPr>
          <a:xfrm>
            <a:off x="162394" y="188387"/>
            <a:ext cx="2598509" cy="2201646"/>
          </a:xfrm>
          <a:custGeom>
            <a:rect b="b" l="l" r="r" t="t"/>
            <a:pathLst>
              <a:path extrusionOk="0" h="2201646" w="2598509">
                <a:moveTo>
                  <a:pt x="0" y="0"/>
                </a:moveTo>
                <a:lnTo>
                  <a:pt x="2598509" y="0"/>
                </a:lnTo>
                <a:lnTo>
                  <a:pt x="2598509" y="2201646"/>
                </a:lnTo>
                <a:lnTo>
                  <a:pt x="0" y="22016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37"/>
          <p:cNvSpPr/>
          <p:nvPr/>
        </p:nvSpPr>
        <p:spPr>
          <a:xfrm>
            <a:off x="-1091061" y="3756360"/>
            <a:ext cx="3145260" cy="2361566"/>
          </a:xfrm>
          <a:custGeom>
            <a:rect b="b" l="l" r="r" t="t"/>
            <a:pathLst>
              <a:path extrusionOk="0" h="2361566" w="3145260">
                <a:moveTo>
                  <a:pt x="0" y="0"/>
                </a:moveTo>
                <a:lnTo>
                  <a:pt x="3145260" y="0"/>
                </a:lnTo>
                <a:lnTo>
                  <a:pt x="3145260" y="2361566"/>
                </a:lnTo>
                <a:lnTo>
                  <a:pt x="0" y="2361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37"/>
          <p:cNvSpPr/>
          <p:nvPr/>
        </p:nvSpPr>
        <p:spPr>
          <a:xfrm rot="-1461047">
            <a:off x="16209924" y="3485593"/>
            <a:ext cx="1394433" cy="2289368"/>
          </a:xfrm>
          <a:custGeom>
            <a:rect b="b" l="l" r="r" t="t"/>
            <a:pathLst>
              <a:path extrusionOk="0" h="2289368" w="1394433">
                <a:moveTo>
                  <a:pt x="0" y="0"/>
                </a:moveTo>
                <a:lnTo>
                  <a:pt x="1394434" y="0"/>
                </a:lnTo>
                <a:lnTo>
                  <a:pt x="1394434" y="2289368"/>
                </a:lnTo>
                <a:lnTo>
                  <a:pt x="0" y="228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7"/>
          <p:cNvSpPr/>
          <p:nvPr/>
        </p:nvSpPr>
        <p:spPr>
          <a:xfrm rot="1174586">
            <a:off x="-362171" y="7357145"/>
            <a:ext cx="2189869" cy="4332475"/>
          </a:xfrm>
          <a:custGeom>
            <a:rect b="b" l="l" r="r" t="t"/>
            <a:pathLst>
              <a:path extrusionOk="0" h="4332475" w="2189869">
                <a:moveTo>
                  <a:pt x="0" y="0"/>
                </a:moveTo>
                <a:lnTo>
                  <a:pt x="2189870" y="0"/>
                </a:lnTo>
                <a:lnTo>
                  <a:pt x="2189870" y="4332475"/>
                </a:lnTo>
                <a:lnTo>
                  <a:pt x="0" y="43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37"/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7"/>
          <p:cNvSpPr txBox="1"/>
          <p:nvPr/>
        </p:nvSpPr>
        <p:spPr>
          <a:xfrm>
            <a:off x="771072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설명</a:t>
            </a:r>
            <a:endParaRPr b="1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471" name="Google Shape;471;p37"/>
          <p:cNvGraphicFramePr/>
          <p:nvPr/>
        </p:nvGraphicFramePr>
        <p:xfrm>
          <a:off x="487865" y="20629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{09DE9D87-B3BD-4428-8ECC-5E18B452F763}</a:tableStyleId>
              </a:tblPr>
              <a:tblGrid>
                <a:gridCol w="1188725"/>
                <a:gridCol w="2758450"/>
                <a:gridCol w="4053850"/>
              </a:tblGrid>
              <a:tr h="1127525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메인화면</a:t>
                      </a:r>
                      <a:endParaRPr b="1" i="0" sz="28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A3A"/>
                    </a:solidFill>
                  </a:tcPr>
                </a:tc>
                <a:tc hMerge="1"/>
                <a:tc hMerge="1"/>
              </a:tr>
              <a:tr h="112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/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기능명</a:t>
                      </a:r>
                      <a:endParaRPr/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적용 기술</a:t>
                      </a:r>
                      <a:endParaRPr/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</a:tr>
              <a:tr h="112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F01</a:t>
                      </a:r>
                      <a:endParaRPr/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설비 이상 및 고장 위험 탐지</a:t>
                      </a:r>
                      <a:endParaRPr/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LightGBM, Isolation Forest, Pandas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2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F02</a:t>
                      </a:r>
                      <a:endParaRPr/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부품 재고 및 조달 위험 계산</a:t>
                      </a:r>
                      <a:endParaRPr/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Pandas, Rule-based Logic,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시계열 Snapshot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</a:tr>
              <a:tr h="112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F03</a:t>
                      </a:r>
                      <a:endParaRPr/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AI 한 줄 대응 요약</a:t>
                      </a:r>
                      <a:endParaRPr/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Qwen3-1.7B</a:t>
                      </a:r>
                      <a:endParaRPr/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2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F04</a:t>
                      </a:r>
                      <a:endParaRPr/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대응 이력 및 성과 추적</a:t>
                      </a:r>
                      <a:endParaRPr/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Pandas, Plotly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pic>
        <p:nvPicPr>
          <p:cNvPr descr="텍스트, 스크린샷, 디스플레이, 번호이(가) 표시된 사진&#10;&#10;AI 생성 콘텐츠는 정확하지 않을 수 있습니다." id="472" name="Google Shape;472;p3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84012" y="2062973"/>
            <a:ext cx="9185819" cy="6774368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37"/>
          <p:cNvSpPr txBox="1"/>
          <p:nvPr/>
        </p:nvSpPr>
        <p:spPr>
          <a:xfrm>
            <a:off x="17586764" y="9828019"/>
            <a:ext cx="4314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37"/>
          <p:cNvSpPr txBox="1"/>
          <p:nvPr/>
        </p:nvSpPr>
        <p:spPr>
          <a:xfrm>
            <a:off x="12027830" y="514345"/>
            <a:ext cx="569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http://192.168.106.247:8050</a:t>
            </a:r>
            <a:endParaRPr b="1" i="0" sz="32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5" name="Google Shape;475;p37"/>
          <p:cNvSpPr txBox="1"/>
          <p:nvPr/>
        </p:nvSpPr>
        <p:spPr>
          <a:xfrm>
            <a:off x="13051625" y="1147375"/>
            <a:ext cx="4531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사용자명: admin </a:t>
            </a:r>
            <a:endParaRPr b="1" sz="19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비밀번호: xFwhmvxWM8oYQNldOgVz</a:t>
            </a:r>
            <a:endParaRPr b="1" sz="2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121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0" name="Google Shape;480;p38"/>
          <p:cNvGrpSpPr/>
          <p:nvPr/>
        </p:nvGrpSpPr>
        <p:grpSpPr>
          <a:xfrm>
            <a:off x="-9525" y="5822156"/>
            <a:ext cx="18288000" cy="4464844"/>
            <a:chOff x="0" y="0"/>
            <a:chExt cx="24384000" cy="5953125"/>
          </a:xfrm>
        </p:grpSpPr>
        <p:sp>
          <p:nvSpPr>
            <p:cNvPr id="481" name="Google Shape;481;p38"/>
            <p:cNvSpPr/>
            <p:nvPr/>
          </p:nvSpPr>
          <p:spPr>
            <a:xfrm>
              <a:off x="1219200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5953125"/>
                  </a:lnTo>
                  <a:lnTo>
                    <a:pt x="0" y="59531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38"/>
            <p:cNvSpPr/>
            <p:nvPr/>
          </p:nvSpPr>
          <p:spPr>
            <a:xfrm flipH="1">
              <a:off x="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12192000" y="0"/>
                  </a:moveTo>
                  <a:lnTo>
                    <a:pt x="0" y="0"/>
                  </a:lnTo>
                  <a:lnTo>
                    <a:pt x="0" y="5953125"/>
                  </a:lnTo>
                  <a:lnTo>
                    <a:pt x="12192000" y="5953125"/>
                  </a:lnTo>
                  <a:lnTo>
                    <a:pt x="1219200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3" name="Google Shape;483;p38"/>
          <p:cNvSpPr/>
          <p:nvPr/>
        </p:nvSpPr>
        <p:spPr>
          <a:xfrm>
            <a:off x="15799971" y="6867339"/>
            <a:ext cx="5687099" cy="3567362"/>
          </a:xfrm>
          <a:custGeom>
            <a:rect b="b" l="l" r="r" t="t"/>
            <a:pathLst>
              <a:path extrusionOk="0" h="3567362" w="5687099">
                <a:moveTo>
                  <a:pt x="0" y="0"/>
                </a:moveTo>
                <a:lnTo>
                  <a:pt x="5687099" y="0"/>
                </a:lnTo>
                <a:lnTo>
                  <a:pt x="5687099" y="3567362"/>
                </a:lnTo>
                <a:lnTo>
                  <a:pt x="0" y="3567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38"/>
          <p:cNvSpPr/>
          <p:nvPr/>
        </p:nvSpPr>
        <p:spPr>
          <a:xfrm>
            <a:off x="15559640" y="-216616"/>
            <a:ext cx="4010686" cy="2450165"/>
          </a:xfrm>
          <a:custGeom>
            <a:rect b="b" l="l" r="r" t="t"/>
            <a:pathLst>
              <a:path extrusionOk="0" h="2450165" w="4010686">
                <a:moveTo>
                  <a:pt x="0" y="0"/>
                </a:moveTo>
                <a:lnTo>
                  <a:pt x="4010686" y="0"/>
                </a:lnTo>
                <a:lnTo>
                  <a:pt x="4010686" y="2450165"/>
                </a:lnTo>
                <a:lnTo>
                  <a:pt x="0" y="2450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8"/>
          <p:cNvSpPr/>
          <p:nvPr/>
        </p:nvSpPr>
        <p:spPr>
          <a:xfrm>
            <a:off x="162394" y="188387"/>
            <a:ext cx="2598509" cy="2201646"/>
          </a:xfrm>
          <a:custGeom>
            <a:rect b="b" l="l" r="r" t="t"/>
            <a:pathLst>
              <a:path extrusionOk="0" h="2201646" w="2598509">
                <a:moveTo>
                  <a:pt x="0" y="0"/>
                </a:moveTo>
                <a:lnTo>
                  <a:pt x="2598509" y="0"/>
                </a:lnTo>
                <a:lnTo>
                  <a:pt x="2598509" y="2201646"/>
                </a:lnTo>
                <a:lnTo>
                  <a:pt x="0" y="22016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38"/>
          <p:cNvSpPr/>
          <p:nvPr/>
        </p:nvSpPr>
        <p:spPr>
          <a:xfrm>
            <a:off x="-1091061" y="3756360"/>
            <a:ext cx="3145260" cy="2361566"/>
          </a:xfrm>
          <a:custGeom>
            <a:rect b="b" l="l" r="r" t="t"/>
            <a:pathLst>
              <a:path extrusionOk="0" h="2361566" w="3145260">
                <a:moveTo>
                  <a:pt x="0" y="0"/>
                </a:moveTo>
                <a:lnTo>
                  <a:pt x="3145260" y="0"/>
                </a:lnTo>
                <a:lnTo>
                  <a:pt x="3145260" y="2361566"/>
                </a:lnTo>
                <a:lnTo>
                  <a:pt x="0" y="2361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38"/>
          <p:cNvSpPr/>
          <p:nvPr/>
        </p:nvSpPr>
        <p:spPr>
          <a:xfrm rot="-1461047">
            <a:off x="16209924" y="3485593"/>
            <a:ext cx="1394433" cy="2289368"/>
          </a:xfrm>
          <a:custGeom>
            <a:rect b="b" l="l" r="r" t="t"/>
            <a:pathLst>
              <a:path extrusionOk="0" h="2289368" w="1394433">
                <a:moveTo>
                  <a:pt x="0" y="0"/>
                </a:moveTo>
                <a:lnTo>
                  <a:pt x="1394434" y="0"/>
                </a:lnTo>
                <a:lnTo>
                  <a:pt x="1394434" y="2289368"/>
                </a:lnTo>
                <a:lnTo>
                  <a:pt x="0" y="228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38"/>
          <p:cNvSpPr/>
          <p:nvPr/>
        </p:nvSpPr>
        <p:spPr>
          <a:xfrm rot="1174586">
            <a:off x="-362171" y="7357145"/>
            <a:ext cx="2189869" cy="4332475"/>
          </a:xfrm>
          <a:custGeom>
            <a:rect b="b" l="l" r="r" t="t"/>
            <a:pathLst>
              <a:path extrusionOk="0" h="4332475" w="2189869">
                <a:moveTo>
                  <a:pt x="0" y="0"/>
                </a:moveTo>
                <a:lnTo>
                  <a:pt x="2189870" y="0"/>
                </a:lnTo>
                <a:lnTo>
                  <a:pt x="2189870" y="4332475"/>
                </a:lnTo>
                <a:lnTo>
                  <a:pt x="0" y="43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38"/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38"/>
          <p:cNvSpPr txBox="1"/>
          <p:nvPr/>
        </p:nvSpPr>
        <p:spPr>
          <a:xfrm>
            <a:off x="771072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설명</a:t>
            </a:r>
            <a:endParaRPr b="1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491" name="Google Shape;491;p38"/>
          <p:cNvGraphicFramePr/>
          <p:nvPr/>
        </p:nvGraphicFramePr>
        <p:xfrm>
          <a:off x="487865" y="20629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{09DE9D87-B3BD-4428-8ECC-5E18B452F763}</a:tableStyleId>
              </a:tblPr>
              <a:tblGrid>
                <a:gridCol w="1188725"/>
                <a:gridCol w="2758450"/>
                <a:gridCol w="4053850"/>
              </a:tblGrid>
              <a:tr h="1127525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설비별 화면</a:t>
                      </a:r>
                      <a:endParaRPr/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A3A"/>
                    </a:solidFill>
                  </a:tcPr>
                </a:tc>
                <a:tc hMerge="1"/>
                <a:tc hMerge="1"/>
              </a:tr>
              <a:tr h="112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/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기능명</a:t>
                      </a:r>
                      <a:endParaRPr/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적용 기술</a:t>
                      </a:r>
                      <a:endParaRPr/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</a:tr>
              <a:tr h="112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F05</a:t>
                      </a:r>
                      <a:endParaRPr/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부품별 고장 위험 예측</a:t>
                      </a:r>
                      <a:endParaRPr/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LightGBM, Pandas, Plotly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2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F06</a:t>
                      </a:r>
                      <a:endParaRPr/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센서 이상 및 위험 근거 분석</a:t>
                      </a:r>
                      <a:endParaRPr/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Isolation Forest, 3-Sigma, IQR, Plotly</a:t>
                      </a:r>
                      <a:endParaRPr sz="1400" u="none" cap="none" strike="noStrike"/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</a:tr>
              <a:tr h="112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F07</a:t>
                      </a:r>
                      <a:endParaRPr/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최적 발주 시점 및 비용 분석</a:t>
                      </a:r>
                      <a:endParaRPr/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Rule-based Logic, Pandas,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Cost Simulation</a:t>
                      </a:r>
                      <a:endParaRPr sz="1400" u="none" cap="none" strike="noStrike"/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2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F08</a:t>
                      </a:r>
                      <a:endParaRPr/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담당자 및 조치 이력 관리</a:t>
                      </a:r>
                      <a:endParaRPr/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Pandas, SQLAlchemy, MySQL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pic>
        <p:nvPicPr>
          <p:cNvPr descr="텍스트, 스크린샷, 폰트, 번호이(가) 표시된 사진&#10;&#10;AI 생성 콘텐츠는 정확하지 않을 수 있습니다." id="492" name="Google Shape;492;p3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725828" y="2021158"/>
            <a:ext cx="9130062" cy="687194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38"/>
          <p:cNvSpPr txBox="1"/>
          <p:nvPr/>
        </p:nvSpPr>
        <p:spPr>
          <a:xfrm>
            <a:off x="17586764" y="9828019"/>
            <a:ext cx="4314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38"/>
          <p:cNvSpPr txBox="1"/>
          <p:nvPr/>
        </p:nvSpPr>
        <p:spPr>
          <a:xfrm>
            <a:off x="12027830" y="514345"/>
            <a:ext cx="569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http://192.168.106.247:8050</a:t>
            </a:r>
            <a:endParaRPr b="1" i="0" sz="32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5" name="Google Shape;495;p38"/>
          <p:cNvSpPr txBox="1"/>
          <p:nvPr/>
        </p:nvSpPr>
        <p:spPr>
          <a:xfrm>
            <a:off x="13051625" y="1147375"/>
            <a:ext cx="4531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사용자명: admin </a:t>
            </a:r>
            <a:endParaRPr b="1" sz="19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비밀번호: xFwhmvxWM8oYQNldOgVz</a:t>
            </a:r>
            <a:endParaRPr b="1" sz="2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121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0" name="Google Shape;500;p39"/>
          <p:cNvGrpSpPr/>
          <p:nvPr/>
        </p:nvGrpSpPr>
        <p:grpSpPr>
          <a:xfrm>
            <a:off x="-9525" y="5822156"/>
            <a:ext cx="18288000" cy="4464844"/>
            <a:chOff x="0" y="0"/>
            <a:chExt cx="24384000" cy="5953125"/>
          </a:xfrm>
        </p:grpSpPr>
        <p:sp>
          <p:nvSpPr>
            <p:cNvPr id="501" name="Google Shape;501;p39"/>
            <p:cNvSpPr/>
            <p:nvPr/>
          </p:nvSpPr>
          <p:spPr>
            <a:xfrm>
              <a:off x="1219200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5953125"/>
                  </a:lnTo>
                  <a:lnTo>
                    <a:pt x="0" y="59531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39"/>
            <p:cNvSpPr/>
            <p:nvPr/>
          </p:nvSpPr>
          <p:spPr>
            <a:xfrm flipH="1">
              <a:off x="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12192000" y="0"/>
                  </a:moveTo>
                  <a:lnTo>
                    <a:pt x="0" y="0"/>
                  </a:lnTo>
                  <a:lnTo>
                    <a:pt x="0" y="5953125"/>
                  </a:lnTo>
                  <a:lnTo>
                    <a:pt x="12192000" y="5953125"/>
                  </a:lnTo>
                  <a:lnTo>
                    <a:pt x="1219200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3" name="Google Shape;503;p39"/>
          <p:cNvSpPr/>
          <p:nvPr/>
        </p:nvSpPr>
        <p:spPr>
          <a:xfrm>
            <a:off x="15799971" y="6867339"/>
            <a:ext cx="5687099" cy="3567362"/>
          </a:xfrm>
          <a:custGeom>
            <a:rect b="b" l="l" r="r" t="t"/>
            <a:pathLst>
              <a:path extrusionOk="0" h="3567362" w="5687099">
                <a:moveTo>
                  <a:pt x="0" y="0"/>
                </a:moveTo>
                <a:lnTo>
                  <a:pt x="5687099" y="0"/>
                </a:lnTo>
                <a:lnTo>
                  <a:pt x="5687099" y="3567362"/>
                </a:lnTo>
                <a:lnTo>
                  <a:pt x="0" y="3567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39"/>
          <p:cNvSpPr/>
          <p:nvPr/>
        </p:nvSpPr>
        <p:spPr>
          <a:xfrm>
            <a:off x="15559640" y="-216616"/>
            <a:ext cx="4010686" cy="2450165"/>
          </a:xfrm>
          <a:custGeom>
            <a:rect b="b" l="l" r="r" t="t"/>
            <a:pathLst>
              <a:path extrusionOk="0" h="2450165" w="4010686">
                <a:moveTo>
                  <a:pt x="0" y="0"/>
                </a:moveTo>
                <a:lnTo>
                  <a:pt x="4010686" y="0"/>
                </a:lnTo>
                <a:lnTo>
                  <a:pt x="4010686" y="2450165"/>
                </a:lnTo>
                <a:lnTo>
                  <a:pt x="0" y="2450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39"/>
          <p:cNvSpPr/>
          <p:nvPr/>
        </p:nvSpPr>
        <p:spPr>
          <a:xfrm>
            <a:off x="162394" y="188387"/>
            <a:ext cx="2598509" cy="2201646"/>
          </a:xfrm>
          <a:custGeom>
            <a:rect b="b" l="l" r="r" t="t"/>
            <a:pathLst>
              <a:path extrusionOk="0" h="2201646" w="2598509">
                <a:moveTo>
                  <a:pt x="0" y="0"/>
                </a:moveTo>
                <a:lnTo>
                  <a:pt x="2598509" y="0"/>
                </a:lnTo>
                <a:lnTo>
                  <a:pt x="2598509" y="2201646"/>
                </a:lnTo>
                <a:lnTo>
                  <a:pt x="0" y="22016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39"/>
          <p:cNvSpPr/>
          <p:nvPr/>
        </p:nvSpPr>
        <p:spPr>
          <a:xfrm>
            <a:off x="-1091061" y="3756360"/>
            <a:ext cx="3145260" cy="2361566"/>
          </a:xfrm>
          <a:custGeom>
            <a:rect b="b" l="l" r="r" t="t"/>
            <a:pathLst>
              <a:path extrusionOk="0" h="2361566" w="3145260">
                <a:moveTo>
                  <a:pt x="0" y="0"/>
                </a:moveTo>
                <a:lnTo>
                  <a:pt x="3145260" y="0"/>
                </a:lnTo>
                <a:lnTo>
                  <a:pt x="3145260" y="2361566"/>
                </a:lnTo>
                <a:lnTo>
                  <a:pt x="0" y="2361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39"/>
          <p:cNvSpPr/>
          <p:nvPr/>
        </p:nvSpPr>
        <p:spPr>
          <a:xfrm rot="-1461047">
            <a:off x="16209924" y="3485593"/>
            <a:ext cx="1394433" cy="2289368"/>
          </a:xfrm>
          <a:custGeom>
            <a:rect b="b" l="l" r="r" t="t"/>
            <a:pathLst>
              <a:path extrusionOk="0" h="2289368" w="1394433">
                <a:moveTo>
                  <a:pt x="0" y="0"/>
                </a:moveTo>
                <a:lnTo>
                  <a:pt x="1394434" y="0"/>
                </a:lnTo>
                <a:lnTo>
                  <a:pt x="1394434" y="2289368"/>
                </a:lnTo>
                <a:lnTo>
                  <a:pt x="0" y="228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39"/>
          <p:cNvSpPr/>
          <p:nvPr/>
        </p:nvSpPr>
        <p:spPr>
          <a:xfrm rot="1174586">
            <a:off x="-362171" y="7357145"/>
            <a:ext cx="2189869" cy="4332475"/>
          </a:xfrm>
          <a:custGeom>
            <a:rect b="b" l="l" r="r" t="t"/>
            <a:pathLst>
              <a:path extrusionOk="0" h="4332475" w="2189869">
                <a:moveTo>
                  <a:pt x="0" y="0"/>
                </a:moveTo>
                <a:lnTo>
                  <a:pt x="2189870" y="0"/>
                </a:lnTo>
                <a:lnTo>
                  <a:pt x="2189870" y="4332475"/>
                </a:lnTo>
                <a:lnTo>
                  <a:pt x="0" y="43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39"/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39"/>
          <p:cNvSpPr txBox="1"/>
          <p:nvPr/>
        </p:nvSpPr>
        <p:spPr>
          <a:xfrm>
            <a:off x="771072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설명</a:t>
            </a:r>
            <a:endParaRPr b="1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511" name="Google Shape;511;p39"/>
          <p:cNvGraphicFramePr/>
          <p:nvPr/>
        </p:nvGraphicFramePr>
        <p:xfrm>
          <a:off x="487865" y="34040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{09DE9D87-B3BD-4428-8ECC-5E18B452F763}</a:tableStyleId>
              </a:tblPr>
              <a:tblGrid>
                <a:gridCol w="1188725"/>
                <a:gridCol w="2758450"/>
                <a:gridCol w="4053850"/>
              </a:tblGrid>
              <a:tr h="10565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통계 화면</a:t>
                      </a:r>
                      <a:endParaRPr/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A3A"/>
                    </a:solidFill>
                  </a:tcPr>
                </a:tc>
                <a:tc hMerge="1"/>
                <a:tc hMerge="1"/>
              </a:tr>
              <a:tr h="105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/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기능명</a:t>
                      </a:r>
                      <a:endParaRPr/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적용 기술</a:t>
                      </a:r>
                      <a:endParaRPr/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</a:tr>
              <a:tr h="105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F09</a:t>
                      </a:r>
                      <a:endParaRPr/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설비별 고장 예측 히트맵</a:t>
                      </a:r>
                      <a:endParaRPr/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LightGBM, Pandas, Plotly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5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F10</a:t>
                      </a:r>
                      <a:endParaRPr/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공정별 이상 위험 히트맵</a:t>
                      </a:r>
                      <a:endParaRPr/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Isolation Forest, 3-Sigma, IQR, Plotly</a:t>
                      </a:r>
                      <a:endParaRPr sz="1400" u="none" cap="none" strike="noStrike"/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pic>
        <p:nvPicPr>
          <p:cNvPr descr="텍스트, 스크린샷, 디스플레이, 폰트이(가) 표시된 사진&#10;&#10;AI 생성 콘텐츠는 정확하지 않을 수 있습니다." id="512" name="Google Shape;512;p3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930640" y="2057400"/>
            <a:ext cx="8763000" cy="659892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39"/>
          <p:cNvSpPr txBox="1"/>
          <p:nvPr/>
        </p:nvSpPr>
        <p:spPr>
          <a:xfrm>
            <a:off x="17586764" y="9828019"/>
            <a:ext cx="4314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39"/>
          <p:cNvSpPr txBox="1"/>
          <p:nvPr/>
        </p:nvSpPr>
        <p:spPr>
          <a:xfrm>
            <a:off x="12027830" y="514345"/>
            <a:ext cx="569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http://192.168.106.247:8050</a:t>
            </a:r>
            <a:endParaRPr b="1" i="0" sz="32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5" name="Google Shape;515;p39"/>
          <p:cNvSpPr txBox="1"/>
          <p:nvPr/>
        </p:nvSpPr>
        <p:spPr>
          <a:xfrm>
            <a:off x="13051625" y="1147375"/>
            <a:ext cx="4531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사용자명: admin </a:t>
            </a:r>
            <a:endParaRPr b="1" sz="19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비밀번호: xFwhmvxWM8oYQNldOgVz</a:t>
            </a:r>
            <a:endParaRPr b="1" sz="2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47A1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0"/>
          <p:cNvSpPr/>
          <p:nvPr/>
        </p:nvSpPr>
        <p:spPr>
          <a:xfrm>
            <a:off x="9134475" y="5822156"/>
            <a:ext cx="9144000" cy="4464844"/>
          </a:xfrm>
          <a:custGeom>
            <a:rect b="b" l="l" r="r" t="t"/>
            <a:pathLst>
              <a:path extrusionOk="0" h="4464844" w="9144000">
                <a:moveTo>
                  <a:pt x="0" y="0"/>
                </a:moveTo>
                <a:lnTo>
                  <a:pt x="9144000" y="0"/>
                </a:lnTo>
                <a:lnTo>
                  <a:pt x="9144000" y="4464844"/>
                </a:lnTo>
                <a:lnTo>
                  <a:pt x="0" y="4464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40"/>
          <p:cNvSpPr/>
          <p:nvPr/>
        </p:nvSpPr>
        <p:spPr>
          <a:xfrm flipH="1">
            <a:off x="-9525" y="5822156"/>
            <a:ext cx="9144000" cy="4464844"/>
          </a:xfrm>
          <a:custGeom>
            <a:rect b="b" l="l" r="r" t="t"/>
            <a:pathLst>
              <a:path extrusionOk="0" h="4464844" w="9144000">
                <a:moveTo>
                  <a:pt x="9144000" y="0"/>
                </a:moveTo>
                <a:lnTo>
                  <a:pt x="0" y="0"/>
                </a:lnTo>
                <a:lnTo>
                  <a:pt x="0" y="4464844"/>
                </a:lnTo>
                <a:lnTo>
                  <a:pt x="9144000" y="4464844"/>
                </a:lnTo>
                <a:lnTo>
                  <a:pt x="914400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40"/>
          <p:cNvSpPr/>
          <p:nvPr/>
        </p:nvSpPr>
        <p:spPr>
          <a:xfrm flipH="1">
            <a:off x="10120333" y="2808742"/>
            <a:ext cx="7842761" cy="7186821"/>
          </a:xfrm>
          <a:custGeom>
            <a:rect b="b" l="l" r="r" t="t"/>
            <a:pathLst>
              <a:path extrusionOk="0" h="7186821" w="7842761">
                <a:moveTo>
                  <a:pt x="7842761" y="0"/>
                </a:moveTo>
                <a:lnTo>
                  <a:pt x="0" y="0"/>
                </a:lnTo>
                <a:lnTo>
                  <a:pt x="0" y="7186821"/>
                </a:lnTo>
                <a:lnTo>
                  <a:pt x="7842761" y="7186821"/>
                </a:lnTo>
                <a:lnTo>
                  <a:pt x="784276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40"/>
          <p:cNvSpPr txBox="1"/>
          <p:nvPr/>
        </p:nvSpPr>
        <p:spPr>
          <a:xfrm>
            <a:off x="2806936" y="6619356"/>
            <a:ext cx="674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40"/>
          <p:cNvSpPr/>
          <p:nvPr/>
        </p:nvSpPr>
        <p:spPr>
          <a:xfrm rot="10800000">
            <a:off x="8934301" y="-393895"/>
            <a:ext cx="2899550" cy="2263880"/>
          </a:xfrm>
          <a:custGeom>
            <a:rect b="b" l="l" r="r" t="t"/>
            <a:pathLst>
              <a:path extrusionOk="0" h="2263880" w="2899550">
                <a:moveTo>
                  <a:pt x="0" y="0"/>
                </a:moveTo>
                <a:lnTo>
                  <a:pt x="2899550" y="0"/>
                </a:lnTo>
                <a:lnTo>
                  <a:pt x="2899550" y="2263880"/>
                </a:lnTo>
                <a:lnTo>
                  <a:pt x="0" y="2263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40"/>
          <p:cNvSpPr/>
          <p:nvPr/>
        </p:nvSpPr>
        <p:spPr>
          <a:xfrm>
            <a:off x="16140151" y="5572326"/>
            <a:ext cx="5227965" cy="4714674"/>
          </a:xfrm>
          <a:custGeom>
            <a:rect b="b" l="l" r="r" t="t"/>
            <a:pathLst>
              <a:path extrusionOk="0" h="4714674" w="5227965">
                <a:moveTo>
                  <a:pt x="0" y="0"/>
                </a:moveTo>
                <a:lnTo>
                  <a:pt x="5227965" y="0"/>
                </a:lnTo>
                <a:lnTo>
                  <a:pt x="5227965" y="4714674"/>
                </a:lnTo>
                <a:lnTo>
                  <a:pt x="0" y="4714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40"/>
          <p:cNvSpPr/>
          <p:nvPr/>
        </p:nvSpPr>
        <p:spPr>
          <a:xfrm>
            <a:off x="-1008009" y="7483549"/>
            <a:ext cx="4073417" cy="3229109"/>
          </a:xfrm>
          <a:custGeom>
            <a:rect b="b" l="l" r="r" t="t"/>
            <a:pathLst>
              <a:path extrusionOk="0" h="3229109" w="4073417">
                <a:moveTo>
                  <a:pt x="0" y="0"/>
                </a:moveTo>
                <a:lnTo>
                  <a:pt x="4073418" y="0"/>
                </a:lnTo>
                <a:lnTo>
                  <a:pt x="4073418" y="3229109"/>
                </a:lnTo>
                <a:lnTo>
                  <a:pt x="0" y="3229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40"/>
          <p:cNvSpPr/>
          <p:nvPr/>
        </p:nvSpPr>
        <p:spPr>
          <a:xfrm rot="-1243279">
            <a:off x="16459180" y="-686837"/>
            <a:ext cx="2863902" cy="2326920"/>
          </a:xfrm>
          <a:custGeom>
            <a:rect b="b" l="l" r="r" t="t"/>
            <a:pathLst>
              <a:path extrusionOk="0" h="2326920" w="2863902">
                <a:moveTo>
                  <a:pt x="0" y="0"/>
                </a:moveTo>
                <a:lnTo>
                  <a:pt x="2863902" y="0"/>
                </a:lnTo>
                <a:lnTo>
                  <a:pt x="2863902" y="2326921"/>
                </a:lnTo>
                <a:lnTo>
                  <a:pt x="0" y="23269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40"/>
          <p:cNvSpPr/>
          <p:nvPr/>
        </p:nvSpPr>
        <p:spPr>
          <a:xfrm rot="1113034">
            <a:off x="659015" y="-377783"/>
            <a:ext cx="1792595" cy="4495537"/>
          </a:xfrm>
          <a:custGeom>
            <a:rect b="b" l="l" r="r" t="t"/>
            <a:pathLst>
              <a:path extrusionOk="0" h="4495537" w="1792595">
                <a:moveTo>
                  <a:pt x="0" y="0"/>
                </a:moveTo>
                <a:lnTo>
                  <a:pt x="1792595" y="0"/>
                </a:lnTo>
                <a:lnTo>
                  <a:pt x="1792595" y="4495536"/>
                </a:lnTo>
                <a:lnTo>
                  <a:pt x="0" y="4495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40"/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0" name="Google Shape;530;p40"/>
          <p:cNvSpPr txBox="1"/>
          <p:nvPr/>
        </p:nvSpPr>
        <p:spPr>
          <a:xfrm>
            <a:off x="771072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화면 및 실행 흐름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40"/>
          <p:cNvSpPr/>
          <p:nvPr/>
        </p:nvSpPr>
        <p:spPr>
          <a:xfrm>
            <a:off x="12785258" y="4298477"/>
            <a:ext cx="4208994" cy="4208994"/>
          </a:xfrm>
          <a:prstGeom prst="roundRect">
            <a:avLst>
              <a:gd fmla="val 6167" name="adj"/>
            </a:avLst>
          </a:prstGeom>
          <a:solidFill>
            <a:srgbClr val="F2F2F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40"/>
          <p:cNvSpPr/>
          <p:nvPr/>
        </p:nvSpPr>
        <p:spPr>
          <a:xfrm>
            <a:off x="1284223" y="4298477"/>
            <a:ext cx="4208994" cy="4208994"/>
          </a:xfrm>
          <a:prstGeom prst="roundRect">
            <a:avLst>
              <a:gd fmla="val 8339" name="adj"/>
            </a:avLst>
          </a:prstGeom>
          <a:solidFill>
            <a:srgbClr val="F2F2F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40"/>
          <p:cNvSpPr/>
          <p:nvPr/>
        </p:nvSpPr>
        <p:spPr>
          <a:xfrm>
            <a:off x="7034741" y="4298477"/>
            <a:ext cx="4208994" cy="4208994"/>
          </a:xfrm>
          <a:prstGeom prst="roundRect">
            <a:avLst>
              <a:gd fmla="val 7253" name="adj"/>
            </a:avLst>
          </a:prstGeom>
          <a:solidFill>
            <a:srgbClr val="F2F2F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40"/>
          <p:cNvSpPr txBox="1"/>
          <p:nvPr/>
        </p:nvSpPr>
        <p:spPr>
          <a:xfrm>
            <a:off x="809625" y="1836990"/>
            <a:ext cx="16668750" cy="64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200" u="none" cap="none" strike="noStrike">
                <a:solidFill>
                  <a:srgbClr val="00E5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정비 담당자의 데일리 루틴에 따른 화면 흐름  </a:t>
            </a:r>
            <a:endParaRPr b="1" i="0" sz="3200" u="none" cap="none" strike="noStrike">
              <a:solidFill>
                <a:srgbClr val="00E5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5" name="Google Shape;535;p40"/>
          <p:cNvSpPr/>
          <p:nvPr/>
        </p:nvSpPr>
        <p:spPr>
          <a:xfrm>
            <a:off x="1284223" y="4775209"/>
            <a:ext cx="4208994" cy="91162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메인</a:t>
            </a:r>
            <a:endParaRPr/>
          </a:p>
        </p:txBody>
      </p:sp>
      <p:sp>
        <p:nvSpPr>
          <p:cNvPr id="536" name="Google Shape;536;p40"/>
          <p:cNvSpPr/>
          <p:nvPr/>
        </p:nvSpPr>
        <p:spPr>
          <a:xfrm>
            <a:off x="7048575" y="4775209"/>
            <a:ext cx="4195160" cy="911620"/>
          </a:xfrm>
          <a:prstGeom prst="rect">
            <a:avLst/>
          </a:prstGeom>
          <a:solidFill>
            <a:schemeClr val="accent3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설비상세</a:t>
            </a:r>
            <a:endParaRPr/>
          </a:p>
        </p:txBody>
      </p:sp>
      <p:sp>
        <p:nvSpPr>
          <p:cNvPr id="537" name="Google Shape;537;p40"/>
          <p:cNvSpPr/>
          <p:nvPr/>
        </p:nvSpPr>
        <p:spPr>
          <a:xfrm>
            <a:off x="12785256" y="4775209"/>
            <a:ext cx="4208995" cy="911620"/>
          </a:xfrm>
          <a:prstGeom prst="rect">
            <a:avLst/>
          </a:prstGeom>
          <a:solidFill>
            <a:schemeClr val="accent6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통계</a:t>
            </a:r>
            <a:endParaRPr/>
          </a:p>
        </p:txBody>
      </p:sp>
      <p:sp>
        <p:nvSpPr>
          <p:cNvPr id="538" name="Google Shape;538;p40"/>
          <p:cNvSpPr/>
          <p:nvPr/>
        </p:nvSpPr>
        <p:spPr>
          <a:xfrm rot="5400000">
            <a:off x="5553011" y="6186555"/>
            <a:ext cx="1421935" cy="432839"/>
          </a:xfrm>
          <a:prstGeom prst="triangle">
            <a:avLst>
              <a:gd fmla="val 50000" name="adj"/>
            </a:avLst>
          </a:prstGeom>
          <a:solidFill>
            <a:srgbClr val="F2F2F2"/>
          </a:solidFill>
          <a:ln cap="flat" cmpd="sng" w="254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40"/>
          <p:cNvSpPr/>
          <p:nvPr/>
        </p:nvSpPr>
        <p:spPr>
          <a:xfrm rot="5400000">
            <a:off x="11377571" y="6186555"/>
            <a:ext cx="1421935" cy="432839"/>
          </a:xfrm>
          <a:prstGeom prst="triangle">
            <a:avLst>
              <a:gd fmla="val 50000" name="adj"/>
            </a:avLst>
          </a:prstGeom>
          <a:solidFill>
            <a:srgbClr val="F2F2F2"/>
          </a:solidFill>
          <a:ln cap="flat" cmpd="sng" w="254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40"/>
          <p:cNvSpPr txBox="1"/>
          <p:nvPr/>
        </p:nvSpPr>
        <p:spPr>
          <a:xfrm>
            <a:off x="1284222" y="5888626"/>
            <a:ext cx="4204233" cy="1846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전체 설비의 고장 위험과 재고·조달 현황을 종합해 현재 가장 시급한 대응 업무를 제시</a:t>
            </a:r>
            <a:endParaRPr b="1" i="0" sz="2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40"/>
          <p:cNvSpPr txBox="1"/>
          <p:nvPr/>
        </p:nvSpPr>
        <p:spPr>
          <a:xfrm>
            <a:off x="7046495" y="5888626"/>
            <a:ext cx="4197240" cy="1846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선택 설비의 부품별 고장 예측과 이상 근거를 분석하고 최적 발주·대응 방안을 제공</a:t>
            </a:r>
            <a:endParaRPr b="1" i="0" sz="2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40"/>
          <p:cNvSpPr txBox="1"/>
          <p:nvPr/>
        </p:nvSpPr>
        <p:spPr>
          <a:xfrm>
            <a:off x="12785256" y="5888626"/>
            <a:ext cx="4208995" cy="1846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100개 설비와 공정별 위험도를 히트맵으로 비교해 우선 점검 </a:t>
            </a:r>
            <a:br>
              <a:rPr b="1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대상과 이상 집중 구간을 식별</a:t>
            </a:r>
            <a:endParaRPr b="1" i="0" sz="2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40"/>
          <p:cNvSpPr txBox="1"/>
          <p:nvPr/>
        </p:nvSpPr>
        <p:spPr>
          <a:xfrm>
            <a:off x="1505150" y="3533365"/>
            <a:ext cx="3762375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2400" u="none" cap="none" strike="noStrike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오늘 뭘 먼저 봐야하지?</a:t>
            </a:r>
            <a:endParaRPr b="1" i="0" sz="2400" u="none" cap="none" strike="noStrike">
              <a:solidFill>
                <a:srgbClr val="F2F2F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4" name="Google Shape;544;p40"/>
          <p:cNvSpPr/>
          <p:nvPr/>
        </p:nvSpPr>
        <p:spPr>
          <a:xfrm>
            <a:off x="1284222" y="3529626"/>
            <a:ext cx="4204233" cy="487609"/>
          </a:xfrm>
          <a:prstGeom prst="roundRect">
            <a:avLst>
              <a:gd fmla="val 50000" name="adj"/>
            </a:avLst>
          </a:prstGeom>
          <a:noFill/>
          <a:ln cap="flat" cmpd="sng" w="25400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40"/>
          <p:cNvSpPr txBox="1"/>
          <p:nvPr/>
        </p:nvSpPr>
        <p:spPr>
          <a:xfrm>
            <a:off x="7267423" y="2890750"/>
            <a:ext cx="3762375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2400" u="none" cap="none" strike="noStrike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설비 언제쯤 고장나지?</a:t>
            </a:r>
            <a:endParaRPr/>
          </a:p>
        </p:txBody>
      </p:sp>
      <p:sp>
        <p:nvSpPr>
          <p:cNvPr id="546" name="Google Shape;546;p40"/>
          <p:cNvSpPr/>
          <p:nvPr/>
        </p:nvSpPr>
        <p:spPr>
          <a:xfrm>
            <a:off x="7046496" y="2887012"/>
            <a:ext cx="4197240" cy="483870"/>
          </a:xfrm>
          <a:prstGeom prst="roundRect">
            <a:avLst>
              <a:gd fmla="val 50000" name="adj"/>
            </a:avLst>
          </a:prstGeom>
          <a:noFill/>
          <a:ln cap="flat" cmpd="sng" w="25400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40"/>
          <p:cNvSpPr txBox="1"/>
          <p:nvPr/>
        </p:nvSpPr>
        <p:spPr>
          <a:xfrm>
            <a:off x="7175983" y="3527111"/>
            <a:ext cx="3914775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발주는 언제쯤 넣어야 할까?</a:t>
            </a:r>
            <a:endParaRPr b="1" i="0" sz="2400" u="none" cap="none" strike="noStrike">
              <a:solidFill>
                <a:srgbClr val="F2F2F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8" name="Google Shape;548;p40"/>
          <p:cNvSpPr/>
          <p:nvPr/>
        </p:nvSpPr>
        <p:spPr>
          <a:xfrm>
            <a:off x="7046496" y="3529161"/>
            <a:ext cx="4197240" cy="483870"/>
          </a:xfrm>
          <a:prstGeom prst="roundRect">
            <a:avLst>
              <a:gd fmla="val 50000" name="adj"/>
            </a:avLst>
          </a:prstGeom>
          <a:noFill/>
          <a:ln cap="flat" cmpd="sng" w="25400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40"/>
          <p:cNvSpPr txBox="1"/>
          <p:nvPr/>
        </p:nvSpPr>
        <p:spPr>
          <a:xfrm>
            <a:off x="12993435" y="3533365"/>
            <a:ext cx="3762375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2400" u="none" cap="none" strike="noStrike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현황 볼 수 없나?</a:t>
            </a:r>
            <a:endParaRPr/>
          </a:p>
        </p:txBody>
      </p:sp>
      <p:sp>
        <p:nvSpPr>
          <p:cNvPr id="550" name="Google Shape;550;p40"/>
          <p:cNvSpPr/>
          <p:nvPr/>
        </p:nvSpPr>
        <p:spPr>
          <a:xfrm>
            <a:off x="12772508" y="3529627"/>
            <a:ext cx="4197240" cy="483870"/>
          </a:xfrm>
          <a:prstGeom prst="roundRect">
            <a:avLst>
              <a:gd fmla="val 50000" name="adj"/>
            </a:avLst>
          </a:prstGeom>
          <a:noFill/>
          <a:ln cap="flat" cmpd="sng" w="25400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40"/>
          <p:cNvSpPr txBox="1"/>
          <p:nvPr/>
        </p:nvSpPr>
        <p:spPr>
          <a:xfrm>
            <a:off x="17586764" y="9828019"/>
            <a:ext cx="4314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121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6" name="Google Shape;556;p41"/>
          <p:cNvGrpSpPr/>
          <p:nvPr/>
        </p:nvGrpSpPr>
        <p:grpSpPr>
          <a:xfrm>
            <a:off x="-9525" y="5822156"/>
            <a:ext cx="18288000" cy="4464844"/>
            <a:chOff x="0" y="0"/>
            <a:chExt cx="24384000" cy="5953125"/>
          </a:xfrm>
        </p:grpSpPr>
        <p:sp>
          <p:nvSpPr>
            <p:cNvPr id="557" name="Google Shape;557;p41"/>
            <p:cNvSpPr/>
            <p:nvPr/>
          </p:nvSpPr>
          <p:spPr>
            <a:xfrm>
              <a:off x="1219200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5953125"/>
                  </a:lnTo>
                  <a:lnTo>
                    <a:pt x="0" y="59531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41"/>
            <p:cNvSpPr/>
            <p:nvPr/>
          </p:nvSpPr>
          <p:spPr>
            <a:xfrm flipH="1">
              <a:off x="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12192000" y="0"/>
                  </a:moveTo>
                  <a:lnTo>
                    <a:pt x="0" y="0"/>
                  </a:lnTo>
                  <a:lnTo>
                    <a:pt x="0" y="5953125"/>
                  </a:lnTo>
                  <a:lnTo>
                    <a:pt x="12192000" y="5953125"/>
                  </a:lnTo>
                  <a:lnTo>
                    <a:pt x="1219200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9" name="Google Shape;559;p41"/>
          <p:cNvSpPr/>
          <p:nvPr/>
        </p:nvSpPr>
        <p:spPr>
          <a:xfrm>
            <a:off x="15799971" y="6867339"/>
            <a:ext cx="5687099" cy="3567362"/>
          </a:xfrm>
          <a:custGeom>
            <a:rect b="b" l="l" r="r" t="t"/>
            <a:pathLst>
              <a:path extrusionOk="0" h="3567362" w="5687099">
                <a:moveTo>
                  <a:pt x="0" y="0"/>
                </a:moveTo>
                <a:lnTo>
                  <a:pt x="5687099" y="0"/>
                </a:lnTo>
                <a:lnTo>
                  <a:pt x="5687099" y="3567362"/>
                </a:lnTo>
                <a:lnTo>
                  <a:pt x="0" y="3567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41"/>
          <p:cNvSpPr/>
          <p:nvPr/>
        </p:nvSpPr>
        <p:spPr>
          <a:xfrm>
            <a:off x="15559640" y="-216616"/>
            <a:ext cx="4010686" cy="2450165"/>
          </a:xfrm>
          <a:custGeom>
            <a:rect b="b" l="l" r="r" t="t"/>
            <a:pathLst>
              <a:path extrusionOk="0" h="2450165" w="4010686">
                <a:moveTo>
                  <a:pt x="0" y="0"/>
                </a:moveTo>
                <a:lnTo>
                  <a:pt x="4010686" y="0"/>
                </a:lnTo>
                <a:lnTo>
                  <a:pt x="4010686" y="2450165"/>
                </a:lnTo>
                <a:lnTo>
                  <a:pt x="0" y="2450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41"/>
          <p:cNvSpPr/>
          <p:nvPr/>
        </p:nvSpPr>
        <p:spPr>
          <a:xfrm>
            <a:off x="162394" y="188387"/>
            <a:ext cx="2598509" cy="2201646"/>
          </a:xfrm>
          <a:custGeom>
            <a:rect b="b" l="l" r="r" t="t"/>
            <a:pathLst>
              <a:path extrusionOk="0" h="2201646" w="2598509">
                <a:moveTo>
                  <a:pt x="0" y="0"/>
                </a:moveTo>
                <a:lnTo>
                  <a:pt x="2598509" y="0"/>
                </a:lnTo>
                <a:lnTo>
                  <a:pt x="2598509" y="2201646"/>
                </a:lnTo>
                <a:lnTo>
                  <a:pt x="0" y="22016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41"/>
          <p:cNvSpPr/>
          <p:nvPr/>
        </p:nvSpPr>
        <p:spPr>
          <a:xfrm>
            <a:off x="-1091061" y="3756360"/>
            <a:ext cx="3145260" cy="2361566"/>
          </a:xfrm>
          <a:custGeom>
            <a:rect b="b" l="l" r="r" t="t"/>
            <a:pathLst>
              <a:path extrusionOk="0" h="2361566" w="3145260">
                <a:moveTo>
                  <a:pt x="0" y="0"/>
                </a:moveTo>
                <a:lnTo>
                  <a:pt x="3145260" y="0"/>
                </a:lnTo>
                <a:lnTo>
                  <a:pt x="3145260" y="2361566"/>
                </a:lnTo>
                <a:lnTo>
                  <a:pt x="0" y="2361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41"/>
          <p:cNvSpPr/>
          <p:nvPr/>
        </p:nvSpPr>
        <p:spPr>
          <a:xfrm rot="-1461047">
            <a:off x="16209924" y="3485593"/>
            <a:ext cx="1394433" cy="2289368"/>
          </a:xfrm>
          <a:custGeom>
            <a:rect b="b" l="l" r="r" t="t"/>
            <a:pathLst>
              <a:path extrusionOk="0" h="2289368" w="1394433">
                <a:moveTo>
                  <a:pt x="0" y="0"/>
                </a:moveTo>
                <a:lnTo>
                  <a:pt x="1394434" y="0"/>
                </a:lnTo>
                <a:lnTo>
                  <a:pt x="1394434" y="2289368"/>
                </a:lnTo>
                <a:lnTo>
                  <a:pt x="0" y="228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41"/>
          <p:cNvSpPr/>
          <p:nvPr/>
        </p:nvSpPr>
        <p:spPr>
          <a:xfrm rot="1174586">
            <a:off x="-362171" y="7357145"/>
            <a:ext cx="2189869" cy="4332475"/>
          </a:xfrm>
          <a:custGeom>
            <a:rect b="b" l="l" r="r" t="t"/>
            <a:pathLst>
              <a:path extrusionOk="0" h="4332475" w="2189869">
                <a:moveTo>
                  <a:pt x="0" y="0"/>
                </a:moveTo>
                <a:lnTo>
                  <a:pt x="2189870" y="0"/>
                </a:lnTo>
                <a:lnTo>
                  <a:pt x="2189870" y="4332475"/>
                </a:lnTo>
                <a:lnTo>
                  <a:pt x="0" y="43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41"/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41"/>
          <p:cNvSpPr txBox="1"/>
          <p:nvPr/>
        </p:nvSpPr>
        <p:spPr>
          <a:xfrm>
            <a:off x="771072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UI/UX - 메인화면 </a:t>
            </a:r>
            <a:endParaRPr b="1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4780" y="1290638"/>
            <a:ext cx="10439400" cy="877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41"/>
          <p:cNvPicPr preferRelativeResize="0"/>
          <p:nvPr/>
        </p:nvPicPr>
        <p:blipFill rotWithShape="1">
          <a:blip r:embed="rId11">
            <a:alphaModFix/>
          </a:blip>
          <a:srcRect b="-337" l="12877" r="109" t="0"/>
          <a:stretch/>
        </p:blipFill>
        <p:spPr>
          <a:xfrm>
            <a:off x="10707052" y="7118985"/>
            <a:ext cx="7305315" cy="29159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17723924" y="9782299"/>
            <a:ext cx="2790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70" name="Google Shape;570;p41"/>
          <p:cNvSpPr txBox="1"/>
          <p:nvPr/>
        </p:nvSpPr>
        <p:spPr>
          <a:xfrm>
            <a:off x="17586764" y="9828019"/>
            <a:ext cx="4314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121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5" name="Google Shape;575;p42"/>
          <p:cNvGrpSpPr/>
          <p:nvPr/>
        </p:nvGrpSpPr>
        <p:grpSpPr>
          <a:xfrm>
            <a:off x="-9525" y="5822156"/>
            <a:ext cx="18288000" cy="4464844"/>
            <a:chOff x="0" y="0"/>
            <a:chExt cx="24384000" cy="5953125"/>
          </a:xfrm>
        </p:grpSpPr>
        <p:sp>
          <p:nvSpPr>
            <p:cNvPr id="576" name="Google Shape;576;p42"/>
            <p:cNvSpPr/>
            <p:nvPr/>
          </p:nvSpPr>
          <p:spPr>
            <a:xfrm>
              <a:off x="1219200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5953125"/>
                  </a:lnTo>
                  <a:lnTo>
                    <a:pt x="0" y="59531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42"/>
            <p:cNvSpPr/>
            <p:nvPr/>
          </p:nvSpPr>
          <p:spPr>
            <a:xfrm flipH="1">
              <a:off x="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12192000" y="0"/>
                  </a:moveTo>
                  <a:lnTo>
                    <a:pt x="0" y="0"/>
                  </a:lnTo>
                  <a:lnTo>
                    <a:pt x="0" y="5953125"/>
                  </a:lnTo>
                  <a:lnTo>
                    <a:pt x="12192000" y="5953125"/>
                  </a:lnTo>
                  <a:lnTo>
                    <a:pt x="1219200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8" name="Google Shape;578;p42"/>
          <p:cNvSpPr/>
          <p:nvPr/>
        </p:nvSpPr>
        <p:spPr>
          <a:xfrm>
            <a:off x="15799971" y="6867339"/>
            <a:ext cx="5687099" cy="3567362"/>
          </a:xfrm>
          <a:custGeom>
            <a:rect b="b" l="l" r="r" t="t"/>
            <a:pathLst>
              <a:path extrusionOk="0" h="3567362" w="5687099">
                <a:moveTo>
                  <a:pt x="0" y="0"/>
                </a:moveTo>
                <a:lnTo>
                  <a:pt x="5687099" y="0"/>
                </a:lnTo>
                <a:lnTo>
                  <a:pt x="5687099" y="3567362"/>
                </a:lnTo>
                <a:lnTo>
                  <a:pt x="0" y="3567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42"/>
          <p:cNvSpPr/>
          <p:nvPr/>
        </p:nvSpPr>
        <p:spPr>
          <a:xfrm>
            <a:off x="15559640" y="-216616"/>
            <a:ext cx="4010686" cy="2450165"/>
          </a:xfrm>
          <a:custGeom>
            <a:rect b="b" l="l" r="r" t="t"/>
            <a:pathLst>
              <a:path extrusionOk="0" h="2450165" w="4010686">
                <a:moveTo>
                  <a:pt x="0" y="0"/>
                </a:moveTo>
                <a:lnTo>
                  <a:pt x="4010686" y="0"/>
                </a:lnTo>
                <a:lnTo>
                  <a:pt x="4010686" y="2450165"/>
                </a:lnTo>
                <a:lnTo>
                  <a:pt x="0" y="2450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42"/>
          <p:cNvSpPr/>
          <p:nvPr/>
        </p:nvSpPr>
        <p:spPr>
          <a:xfrm>
            <a:off x="162394" y="188387"/>
            <a:ext cx="2598509" cy="2201646"/>
          </a:xfrm>
          <a:custGeom>
            <a:rect b="b" l="l" r="r" t="t"/>
            <a:pathLst>
              <a:path extrusionOk="0" h="2201646" w="2598509">
                <a:moveTo>
                  <a:pt x="0" y="0"/>
                </a:moveTo>
                <a:lnTo>
                  <a:pt x="2598509" y="0"/>
                </a:lnTo>
                <a:lnTo>
                  <a:pt x="2598509" y="2201646"/>
                </a:lnTo>
                <a:lnTo>
                  <a:pt x="0" y="22016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42"/>
          <p:cNvSpPr/>
          <p:nvPr/>
        </p:nvSpPr>
        <p:spPr>
          <a:xfrm>
            <a:off x="-1091061" y="3756360"/>
            <a:ext cx="3145260" cy="2361566"/>
          </a:xfrm>
          <a:custGeom>
            <a:rect b="b" l="l" r="r" t="t"/>
            <a:pathLst>
              <a:path extrusionOk="0" h="2361566" w="3145260">
                <a:moveTo>
                  <a:pt x="0" y="0"/>
                </a:moveTo>
                <a:lnTo>
                  <a:pt x="3145260" y="0"/>
                </a:lnTo>
                <a:lnTo>
                  <a:pt x="3145260" y="2361566"/>
                </a:lnTo>
                <a:lnTo>
                  <a:pt x="0" y="2361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42"/>
          <p:cNvSpPr/>
          <p:nvPr/>
        </p:nvSpPr>
        <p:spPr>
          <a:xfrm rot="-1461047">
            <a:off x="16209924" y="3485593"/>
            <a:ext cx="1394433" cy="2289368"/>
          </a:xfrm>
          <a:custGeom>
            <a:rect b="b" l="l" r="r" t="t"/>
            <a:pathLst>
              <a:path extrusionOk="0" h="2289368" w="1394433">
                <a:moveTo>
                  <a:pt x="0" y="0"/>
                </a:moveTo>
                <a:lnTo>
                  <a:pt x="1394434" y="0"/>
                </a:lnTo>
                <a:lnTo>
                  <a:pt x="1394434" y="2289368"/>
                </a:lnTo>
                <a:lnTo>
                  <a:pt x="0" y="228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42"/>
          <p:cNvSpPr/>
          <p:nvPr/>
        </p:nvSpPr>
        <p:spPr>
          <a:xfrm rot="1174586">
            <a:off x="-362171" y="7357145"/>
            <a:ext cx="2189869" cy="4332475"/>
          </a:xfrm>
          <a:custGeom>
            <a:rect b="b" l="l" r="r" t="t"/>
            <a:pathLst>
              <a:path extrusionOk="0" h="4332475" w="2189869">
                <a:moveTo>
                  <a:pt x="0" y="0"/>
                </a:moveTo>
                <a:lnTo>
                  <a:pt x="2189870" y="0"/>
                </a:lnTo>
                <a:lnTo>
                  <a:pt x="2189870" y="4332475"/>
                </a:lnTo>
                <a:lnTo>
                  <a:pt x="0" y="43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42"/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42"/>
          <p:cNvSpPr txBox="1"/>
          <p:nvPr/>
        </p:nvSpPr>
        <p:spPr>
          <a:xfrm>
            <a:off x="771072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UI/UX - 설비화면 </a:t>
            </a:r>
            <a:endParaRPr b="1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63830" y="1291590"/>
            <a:ext cx="8999220" cy="7627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4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511665" y="184785"/>
            <a:ext cx="7098030" cy="622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4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512618" y="6558915"/>
            <a:ext cx="7096125" cy="3722370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42"/>
          <p:cNvSpPr txBox="1"/>
          <p:nvPr/>
        </p:nvSpPr>
        <p:spPr>
          <a:xfrm>
            <a:off x="17586764" y="9828019"/>
            <a:ext cx="4314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12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43"/>
          <p:cNvGrpSpPr/>
          <p:nvPr/>
        </p:nvGrpSpPr>
        <p:grpSpPr>
          <a:xfrm>
            <a:off x="-9525" y="5822156"/>
            <a:ext cx="18288000" cy="4464844"/>
            <a:chOff x="0" y="0"/>
            <a:chExt cx="24384000" cy="5953125"/>
          </a:xfrm>
        </p:grpSpPr>
        <p:sp>
          <p:nvSpPr>
            <p:cNvPr id="595" name="Google Shape;595;p43"/>
            <p:cNvSpPr/>
            <p:nvPr/>
          </p:nvSpPr>
          <p:spPr>
            <a:xfrm>
              <a:off x="1219200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5953125"/>
                  </a:lnTo>
                  <a:lnTo>
                    <a:pt x="0" y="59531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43"/>
            <p:cNvSpPr/>
            <p:nvPr/>
          </p:nvSpPr>
          <p:spPr>
            <a:xfrm flipH="1">
              <a:off x="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12192000" y="0"/>
                  </a:moveTo>
                  <a:lnTo>
                    <a:pt x="0" y="0"/>
                  </a:lnTo>
                  <a:lnTo>
                    <a:pt x="0" y="5953125"/>
                  </a:lnTo>
                  <a:lnTo>
                    <a:pt x="12192000" y="5953125"/>
                  </a:lnTo>
                  <a:lnTo>
                    <a:pt x="1219200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7" name="Google Shape;597;p43"/>
          <p:cNvSpPr/>
          <p:nvPr/>
        </p:nvSpPr>
        <p:spPr>
          <a:xfrm>
            <a:off x="15799971" y="6867339"/>
            <a:ext cx="5687099" cy="3567362"/>
          </a:xfrm>
          <a:custGeom>
            <a:rect b="b" l="l" r="r" t="t"/>
            <a:pathLst>
              <a:path extrusionOk="0" h="3567362" w="5687099">
                <a:moveTo>
                  <a:pt x="0" y="0"/>
                </a:moveTo>
                <a:lnTo>
                  <a:pt x="5687099" y="0"/>
                </a:lnTo>
                <a:lnTo>
                  <a:pt x="5687099" y="3567362"/>
                </a:lnTo>
                <a:lnTo>
                  <a:pt x="0" y="3567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43"/>
          <p:cNvSpPr/>
          <p:nvPr/>
        </p:nvSpPr>
        <p:spPr>
          <a:xfrm>
            <a:off x="15559640" y="-216616"/>
            <a:ext cx="4010686" cy="2450165"/>
          </a:xfrm>
          <a:custGeom>
            <a:rect b="b" l="l" r="r" t="t"/>
            <a:pathLst>
              <a:path extrusionOk="0" h="2450165" w="4010686">
                <a:moveTo>
                  <a:pt x="0" y="0"/>
                </a:moveTo>
                <a:lnTo>
                  <a:pt x="4010686" y="0"/>
                </a:lnTo>
                <a:lnTo>
                  <a:pt x="4010686" y="2450165"/>
                </a:lnTo>
                <a:lnTo>
                  <a:pt x="0" y="2450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43"/>
          <p:cNvSpPr/>
          <p:nvPr/>
        </p:nvSpPr>
        <p:spPr>
          <a:xfrm>
            <a:off x="162394" y="188387"/>
            <a:ext cx="2598509" cy="2201646"/>
          </a:xfrm>
          <a:custGeom>
            <a:rect b="b" l="l" r="r" t="t"/>
            <a:pathLst>
              <a:path extrusionOk="0" h="2201646" w="2598509">
                <a:moveTo>
                  <a:pt x="0" y="0"/>
                </a:moveTo>
                <a:lnTo>
                  <a:pt x="2598509" y="0"/>
                </a:lnTo>
                <a:lnTo>
                  <a:pt x="2598509" y="2201646"/>
                </a:lnTo>
                <a:lnTo>
                  <a:pt x="0" y="22016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43"/>
          <p:cNvSpPr/>
          <p:nvPr/>
        </p:nvSpPr>
        <p:spPr>
          <a:xfrm>
            <a:off x="-1091061" y="3756360"/>
            <a:ext cx="3145260" cy="2361566"/>
          </a:xfrm>
          <a:custGeom>
            <a:rect b="b" l="l" r="r" t="t"/>
            <a:pathLst>
              <a:path extrusionOk="0" h="2361566" w="3145260">
                <a:moveTo>
                  <a:pt x="0" y="0"/>
                </a:moveTo>
                <a:lnTo>
                  <a:pt x="3145260" y="0"/>
                </a:lnTo>
                <a:lnTo>
                  <a:pt x="3145260" y="2361566"/>
                </a:lnTo>
                <a:lnTo>
                  <a:pt x="0" y="2361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43"/>
          <p:cNvSpPr/>
          <p:nvPr/>
        </p:nvSpPr>
        <p:spPr>
          <a:xfrm rot="-1461047">
            <a:off x="16209924" y="3485593"/>
            <a:ext cx="1394433" cy="2289368"/>
          </a:xfrm>
          <a:custGeom>
            <a:rect b="b" l="l" r="r" t="t"/>
            <a:pathLst>
              <a:path extrusionOk="0" h="2289368" w="1394433">
                <a:moveTo>
                  <a:pt x="0" y="0"/>
                </a:moveTo>
                <a:lnTo>
                  <a:pt x="1394434" y="0"/>
                </a:lnTo>
                <a:lnTo>
                  <a:pt x="1394434" y="2289368"/>
                </a:lnTo>
                <a:lnTo>
                  <a:pt x="0" y="228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43"/>
          <p:cNvSpPr/>
          <p:nvPr/>
        </p:nvSpPr>
        <p:spPr>
          <a:xfrm rot="1174586">
            <a:off x="-362171" y="7357145"/>
            <a:ext cx="2189869" cy="4332475"/>
          </a:xfrm>
          <a:custGeom>
            <a:rect b="b" l="l" r="r" t="t"/>
            <a:pathLst>
              <a:path extrusionOk="0" h="4332475" w="2189869">
                <a:moveTo>
                  <a:pt x="0" y="0"/>
                </a:moveTo>
                <a:lnTo>
                  <a:pt x="2189870" y="0"/>
                </a:lnTo>
                <a:lnTo>
                  <a:pt x="2189870" y="4332475"/>
                </a:lnTo>
                <a:lnTo>
                  <a:pt x="0" y="43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43"/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43"/>
          <p:cNvSpPr txBox="1"/>
          <p:nvPr/>
        </p:nvSpPr>
        <p:spPr>
          <a:xfrm>
            <a:off x="771072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UI/UX - 통계화면 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0093" y="1239203"/>
            <a:ext cx="10467975" cy="8753475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17586764" y="9828019"/>
            <a:ext cx="4314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121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1" name="Google Shape;611;p44"/>
          <p:cNvGrpSpPr/>
          <p:nvPr/>
        </p:nvGrpSpPr>
        <p:grpSpPr>
          <a:xfrm>
            <a:off x="-9525" y="5822156"/>
            <a:ext cx="18288000" cy="4464844"/>
            <a:chOff x="0" y="0"/>
            <a:chExt cx="24384000" cy="5953125"/>
          </a:xfrm>
        </p:grpSpPr>
        <p:sp>
          <p:nvSpPr>
            <p:cNvPr id="612" name="Google Shape;612;p44"/>
            <p:cNvSpPr/>
            <p:nvPr/>
          </p:nvSpPr>
          <p:spPr>
            <a:xfrm>
              <a:off x="1219200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5953125"/>
                  </a:lnTo>
                  <a:lnTo>
                    <a:pt x="0" y="59531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44"/>
            <p:cNvSpPr/>
            <p:nvPr/>
          </p:nvSpPr>
          <p:spPr>
            <a:xfrm flipH="1">
              <a:off x="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12192000" y="0"/>
                  </a:moveTo>
                  <a:lnTo>
                    <a:pt x="0" y="0"/>
                  </a:lnTo>
                  <a:lnTo>
                    <a:pt x="0" y="5953125"/>
                  </a:lnTo>
                  <a:lnTo>
                    <a:pt x="12192000" y="5953125"/>
                  </a:lnTo>
                  <a:lnTo>
                    <a:pt x="1219200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4" name="Google Shape;614;p44"/>
          <p:cNvSpPr/>
          <p:nvPr/>
        </p:nvSpPr>
        <p:spPr>
          <a:xfrm>
            <a:off x="15799971" y="6867339"/>
            <a:ext cx="5687099" cy="3567362"/>
          </a:xfrm>
          <a:custGeom>
            <a:rect b="b" l="l" r="r" t="t"/>
            <a:pathLst>
              <a:path extrusionOk="0" h="3567362" w="5687099">
                <a:moveTo>
                  <a:pt x="0" y="0"/>
                </a:moveTo>
                <a:lnTo>
                  <a:pt x="5687099" y="0"/>
                </a:lnTo>
                <a:lnTo>
                  <a:pt x="5687099" y="3567362"/>
                </a:lnTo>
                <a:lnTo>
                  <a:pt x="0" y="3567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44"/>
          <p:cNvSpPr/>
          <p:nvPr/>
        </p:nvSpPr>
        <p:spPr>
          <a:xfrm>
            <a:off x="15559640" y="-216616"/>
            <a:ext cx="4010686" cy="2450165"/>
          </a:xfrm>
          <a:custGeom>
            <a:rect b="b" l="l" r="r" t="t"/>
            <a:pathLst>
              <a:path extrusionOk="0" h="2450165" w="4010686">
                <a:moveTo>
                  <a:pt x="0" y="0"/>
                </a:moveTo>
                <a:lnTo>
                  <a:pt x="4010686" y="0"/>
                </a:lnTo>
                <a:lnTo>
                  <a:pt x="4010686" y="2450165"/>
                </a:lnTo>
                <a:lnTo>
                  <a:pt x="0" y="2450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44"/>
          <p:cNvSpPr/>
          <p:nvPr/>
        </p:nvSpPr>
        <p:spPr>
          <a:xfrm>
            <a:off x="162394" y="188387"/>
            <a:ext cx="2598509" cy="2201646"/>
          </a:xfrm>
          <a:custGeom>
            <a:rect b="b" l="l" r="r" t="t"/>
            <a:pathLst>
              <a:path extrusionOk="0" h="2201646" w="2598509">
                <a:moveTo>
                  <a:pt x="0" y="0"/>
                </a:moveTo>
                <a:lnTo>
                  <a:pt x="2598509" y="0"/>
                </a:lnTo>
                <a:lnTo>
                  <a:pt x="2598509" y="2201646"/>
                </a:lnTo>
                <a:lnTo>
                  <a:pt x="0" y="22016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44"/>
          <p:cNvSpPr/>
          <p:nvPr/>
        </p:nvSpPr>
        <p:spPr>
          <a:xfrm>
            <a:off x="-1091061" y="3756360"/>
            <a:ext cx="3145260" cy="2361566"/>
          </a:xfrm>
          <a:custGeom>
            <a:rect b="b" l="l" r="r" t="t"/>
            <a:pathLst>
              <a:path extrusionOk="0" h="2361566" w="3145260">
                <a:moveTo>
                  <a:pt x="0" y="0"/>
                </a:moveTo>
                <a:lnTo>
                  <a:pt x="3145260" y="0"/>
                </a:lnTo>
                <a:lnTo>
                  <a:pt x="3145260" y="2361566"/>
                </a:lnTo>
                <a:lnTo>
                  <a:pt x="0" y="2361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44"/>
          <p:cNvSpPr/>
          <p:nvPr/>
        </p:nvSpPr>
        <p:spPr>
          <a:xfrm rot="-1461047">
            <a:off x="16209924" y="3485593"/>
            <a:ext cx="1394433" cy="2289368"/>
          </a:xfrm>
          <a:custGeom>
            <a:rect b="b" l="l" r="r" t="t"/>
            <a:pathLst>
              <a:path extrusionOk="0" h="2289368" w="1394433">
                <a:moveTo>
                  <a:pt x="0" y="0"/>
                </a:moveTo>
                <a:lnTo>
                  <a:pt x="1394434" y="0"/>
                </a:lnTo>
                <a:lnTo>
                  <a:pt x="1394434" y="2289368"/>
                </a:lnTo>
                <a:lnTo>
                  <a:pt x="0" y="228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44"/>
          <p:cNvSpPr/>
          <p:nvPr/>
        </p:nvSpPr>
        <p:spPr>
          <a:xfrm rot="1174586">
            <a:off x="-362171" y="7357145"/>
            <a:ext cx="2189869" cy="4332475"/>
          </a:xfrm>
          <a:custGeom>
            <a:rect b="b" l="l" r="r" t="t"/>
            <a:pathLst>
              <a:path extrusionOk="0" h="4332475" w="2189869">
                <a:moveTo>
                  <a:pt x="0" y="0"/>
                </a:moveTo>
                <a:lnTo>
                  <a:pt x="2189870" y="0"/>
                </a:lnTo>
                <a:lnTo>
                  <a:pt x="2189870" y="4332475"/>
                </a:lnTo>
                <a:lnTo>
                  <a:pt x="0" y="43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44"/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44"/>
          <p:cNvSpPr txBox="1"/>
          <p:nvPr/>
        </p:nvSpPr>
        <p:spPr>
          <a:xfrm>
            <a:off x="771072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UI/UX - 기타 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2" name="Google Shape;622;p4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63855" y="5574030"/>
            <a:ext cx="8949690" cy="454914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 txBox="1"/>
          <p:nvPr/>
        </p:nvSpPr>
        <p:spPr>
          <a:xfrm>
            <a:off x="364361" y="5056464"/>
            <a:ext cx="27432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발주 화면</a:t>
            </a:r>
            <a:endParaRPr/>
          </a:p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73590" y="1790700"/>
            <a:ext cx="8115300" cy="73152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9676001" y="1276944"/>
            <a:ext cx="27432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설정 탭</a:t>
            </a:r>
            <a:endParaRPr/>
          </a:p>
        </p:txBody>
      </p:sp>
      <p:sp>
        <p:nvSpPr>
          <p:cNvPr id="626" name="Google Shape;626;p44"/>
          <p:cNvSpPr txBox="1"/>
          <p:nvPr/>
        </p:nvSpPr>
        <p:spPr>
          <a:xfrm>
            <a:off x="486280" y="1292184"/>
            <a:ext cx="27432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로그인창</a:t>
            </a:r>
            <a:endParaRPr/>
          </a:p>
        </p:txBody>
      </p:sp>
      <p:pic>
        <p:nvPicPr>
          <p:cNvPr descr="텍스트, 스크린샷, 소프트웨어, 운영 체제이(가) 표시된 사진&#10;&#10;AI 생성 콘텐츠는 정확하지 않을 수 있습니다." id="627" name="Google Shape;627;p44"/>
          <p:cNvPicPr preferRelativeResize="0"/>
          <p:nvPr/>
        </p:nvPicPr>
        <p:blipFill rotWithShape="1">
          <a:blip r:embed="rId12">
            <a:alphaModFix/>
          </a:blip>
          <a:srcRect b="17311" l="610" r="-605" t="25502"/>
          <a:stretch/>
        </p:blipFill>
        <p:spPr>
          <a:xfrm>
            <a:off x="486279" y="1940987"/>
            <a:ext cx="8823482" cy="2759483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44"/>
          <p:cNvSpPr txBox="1"/>
          <p:nvPr/>
        </p:nvSpPr>
        <p:spPr>
          <a:xfrm>
            <a:off x="17586764" y="9828019"/>
            <a:ext cx="4314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47A1"/>
        </a:soli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45"/>
          <p:cNvSpPr/>
          <p:nvPr/>
        </p:nvSpPr>
        <p:spPr>
          <a:xfrm>
            <a:off x="9134475" y="5822156"/>
            <a:ext cx="9144000" cy="4464844"/>
          </a:xfrm>
          <a:custGeom>
            <a:rect b="b" l="l" r="r" t="t"/>
            <a:pathLst>
              <a:path extrusionOk="0" h="4464844" w="9144000">
                <a:moveTo>
                  <a:pt x="0" y="0"/>
                </a:moveTo>
                <a:lnTo>
                  <a:pt x="9144000" y="0"/>
                </a:lnTo>
                <a:lnTo>
                  <a:pt x="9144000" y="4464844"/>
                </a:lnTo>
                <a:lnTo>
                  <a:pt x="0" y="4464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45"/>
          <p:cNvSpPr/>
          <p:nvPr/>
        </p:nvSpPr>
        <p:spPr>
          <a:xfrm flipH="1">
            <a:off x="-9525" y="5822156"/>
            <a:ext cx="9144000" cy="4464844"/>
          </a:xfrm>
          <a:custGeom>
            <a:rect b="b" l="l" r="r" t="t"/>
            <a:pathLst>
              <a:path extrusionOk="0" h="4464844" w="9144000">
                <a:moveTo>
                  <a:pt x="9144000" y="0"/>
                </a:moveTo>
                <a:lnTo>
                  <a:pt x="0" y="0"/>
                </a:lnTo>
                <a:lnTo>
                  <a:pt x="0" y="4464844"/>
                </a:lnTo>
                <a:lnTo>
                  <a:pt x="9144000" y="4464844"/>
                </a:lnTo>
                <a:lnTo>
                  <a:pt x="914400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45"/>
          <p:cNvSpPr/>
          <p:nvPr/>
        </p:nvSpPr>
        <p:spPr>
          <a:xfrm flipH="1">
            <a:off x="10120333" y="2808742"/>
            <a:ext cx="7842761" cy="7186821"/>
          </a:xfrm>
          <a:custGeom>
            <a:rect b="b" l="l" r="r" t="t"/>
            <a:pathLst>
              <a:path extrusionOk="0" h="7186821" w="7842761">
                <a:moveTo>
                  <a:pt x="7842761" y="0"/>
                </a:moveTo>
                <a:lnTo>
                  <a:pt x="0" y="0"/>
                </a:lnTo>
                <a:lnTo>
                  <a:pt x="0" y="7186821"/>
                </a:lnTo>
                <a:lnTo>
                  <a:pt x="7842761" y="7186821"/>
                </a:lnTo>
                <a:lnTo>
                  <a:pt x="784276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45"/>
          <p:cNvSpPr txBox="1"/>
          <p:nvPr/>
        </p:nvSpPr>
        <p:spPr>
          <a:xfrm>
            <a:off x="2806936" y="5418887"/>
            <a:ext cx="6747300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45"/>
          <p:cNvSpPr/>
          <p:nvPr/>
        </p:nvSpPr>
        <p:spPr>
          <a:xfrm rot="10800000">
            <a:off x="8934301" y="-393895"/>
            <a:ext cx="2899550" cy="2263880"/>
          </a:xfrm>
          <a:custGeom>
            <a:rect b="b" l="l" r="r" t="t"/>
            <a:pathLst>
              <a:path extrusionOk="0" h="2263880" w="2899550">
                <a:moveTo>
                  <a:pt x="0" y="0"/>
                </a:moveTo>
                <a:lnTo>
                  <a:pt x="2899550" y="0"/>
                </a:lnTo>
                <a:lnTo>
                  <a:pt x="2899550" y="2263880"/>
                </a:lnTo>
                <a:lnTo>
                  <a:pt x="0" y="2263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45"/>
          <p:cNvSpPr/>
          <p:nvPr/>
        </p:nvSpPr>
        <p:spPr>
          <a:xfrm>
            <a:off x="16140151" y="5572326"/>
            <a:ext cx="5227965" cy="4714674"/>
          </a:xfrm>
          <a:custGeom>
            <a:rect b="b" l="l" r="r" t="t"/>
            <a:pathLst>
              <a:path extrusionOk="0" h="4714674" w="5227965">
                <a:moveTo>
                  <a:pt x="0" y="0"/>
                </a:moveTo>
                <a:lnTo>
                  <a:pt x="5227965" y="0"/>
                </a:lnTo>
                <a:lnTo>
                  <a:pt x="5227965" y="4714674"/>
                </a:lnTo>
                <a:lnTo>
                  <a:pt x="0" y="4714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45"/>
          <p:cNvSpPr/>
          <p:nvPr/>
        </p:nvSpPr>
        <p:spPr>
          <a:xfrm>
            <a:off x="-1008009" y="7483549"/>
            <a:ext cx="4073417" cy="3229109"/>
          </a:xfrm>
          <a:custGeom>
            <a:rect b="b" l="l" r="r" t="t"/>
            <a:pathLst>
              <a:path extrusionOk="0" h="3229109" w="4073417">
                <a:moveTo>
                  <a:pt x="0" y="0"/>
                </a:moveTo>
                <a:lnTo>
                  <a:pt x="4073418" y="0"/>
                </a:lnTo>
                <a:lnTo>
                  <a:pt x="4073418" y="3229109"/>
                </a:lnTo>
                <a:lnTo>
                  <a:pt x="0" y="3229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45"/>
          <p:cNvSpPr/>
          <p:nvPr/>
        </p:nvSpPr>
        <p:spPr>
          <a:xfrm rot="-1243279">
            <a:off x="16459180" y="-686837"/>
            <a:ext cx="2863902" cy="2326920"/>
          </a:xfrm>
          <a:custGeom>
            <a:rect b="b" l="l" r="r" t="t"/>
            <a:pathLst>
              <a:path extrusionOk="0" h="2326920" w="2863902">
                <a:moveTo>
                  <a:pt x="0" y="0"/>
                </a:moveTo>
                <a:lnTo>
                  <a:pt x="2863902" y="0"/>
                </a:lnTo>
                <a:lnTo>
                  <a:pt x="2863902" y="2326921"/>
                </a:lnTo>
                <a:lnTo>
                  <a:pt x="0" y="23269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45"/>
          <p:cNvSpPr/>
          <p:nvPr/>
        </p:nvSpPr>
        <p:spPr>
          <a:xfrm rot="1113034">
            <a:off x="659015" y="-377783"/>
            <a:ext cx="1792595" cy="4495537"/>
          </a:xfrm>
          <a:custGeom>
            <a:rect b="b" l="l" r="r" t="t"/>
            <a:pathLst>
              <a:path extrusionOk="0" h="4495537" w="1792595">
                <a:moveTo>
                  <a:pt x="0" y="0"/>
                </a:moveTo>
                <a:lnTo>
                  <a:pt x="1792595" y="0"/>
                </a:lnTo>
                <a:lnTo>
                  <a:pt x="1792595" y="4495536"/>
                </a:lnTo>
                <a:lnTo>
                  <a:pt x="0" y="4495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45"/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45"/>
          <p:cNvSpPr txBox="1"/>
          <p:nvPr/>
        </p:nvSpPr>
        <p:spPr>
          <a:xfrm>
            <a:off x="771072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핵심 수행과정 및 주요 의사결정</a:t>
            </a:r>
            <a:endParaRPr b="1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45"/>
          <p:cNvSpPr/>
          <p:nvPr/>
        </p:nvSpPr>
        <p:spPr>
          <a:xfrm>
            <a:off x="12785258" y="3042171"/>
            <a:ext cx="4208994" cy="4208994"/>
          </a:xfrm>
          <a:prstGeom prst="ellipse">
            <a:avLst/>
          </a:prstGeom>
          <a:solidFill>
            <a:schemeClr val="accent6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협업 및 프로젝트 관리</a:t>
            </a:r>
            <a:endParaRPr/>
          </a:p>
        </p:txBody>
      </p:sp>
      <p:sp>
        <p:nvSpPr>
          <p:cNvPr id="645" name="Google Shape;645;p45"/>
          <p:cNvSpPr/>
          <p:nvPr/>
        </p:nvSpPr>
        <p:spPr>
          <a:xfrm>
            <a:off x="1284223" y="3153846"/>
            <a:ext cx="4208994" cy="4208994"/>
          </a:xfrm>
          <a:prstGeom prst="ellipse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기술선택</a:t>
            </a:r>
            <a:endParaRPr b="1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및</a:t>
            </a:r>
            <a:endParaRPr b="1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AI활용</a:t>
            </a:r>
            <a:endParaRPr/>
          </a:p>
        </p:txBody>
      </p:sp>
      <p:sp>
        <p:nvSpPr>
          <p:cNvPr id="646" name="Google Shape;646;p45"/>
          <p:cNvSpPr/>
          <p:nvPr/>
        </p:nvSpPr>
        <p:spPr>
          <a:xfrm>
            <a:off x="7029978" y="3042171"/>
            <a:ext cx="4208994" cy="4208994"/>
          </a:xfrm>
          <a:prstGeom prst="ellipse">
            <a:avLst/>
          </a:prstGeom>
          <a:solidFill>
            <a:schemeClr val="accent3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핵심 로직</a:t>
            </a:r>
            <a:endParaRPr b="1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45"/>
          <p:cNvSpPr txBox="1"/>
          <p:nvPr/>
        </p:nvSpPr>
        <p:spPr>
          <a:xfrm>
            <a:off x="17586764" y="9828019"/>
            <a:ext cx="4314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121"/>
        </a:solidFill>
      </p:bgPr>
    </p:bg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2" name="Google Shape;652;p46"/>
          <p:cNvGrpSpPr/>
          <p:nvPr/>
        </p:nvGrpSpPr>
        <p:grpSpPr>
          <a:xfrm>
            <a:off x="-9525" y="5822156"/>
            <a:ext cx="18288000" cy="4464844"/>
            <a:chOff x="0" y="0"/>
            <a:chExt cx="24384000" cy="5953125"/>
          </a:xfrm>
        </p:grpSpPr>
        <p:sp>
          <p:nvSpPr>
            <p:cNvPr id="653" name="Google Shape;653;p46"/>
            <p:cNvSpPr/>
            <p:nvPr/>
          </p:nvSpPr>
          <p:spPr>
            <a:xfrm>
              <a:off x="1219200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5953125"/>
                  </a:lnTo>
                  <a:lnTo>
                    <a:pt x="0" y="59531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46"/>
            <p:cNvSpPr/>
            <p:nvPr/>
          </p:nvSpPr>
          <p:spPr>
            <a:xfrm flipH="1">
              <a:off x="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12192000" y="0"/>
                  </a:moveTo>
                  <a:lnTo>
                    <a:pt x="0" y="0"/>
                  </a:lnTo>
                  <a:lnTo>
                    <a:pt x="0" y="5953125"/>
                  </a:lnTo>
                  <a:lnTo>
                    <a:pt x="12192000" y="5953125"/>
                  </a:lnTo>
                  <a:lnTo>
                    <a:pt x="1219200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5" name="Google Shape;655;p46"/>
          <p:cNvSpPr/>
          <p:nvPr/>
        </p:nvSpPr>
        <p:spPr>
          <a:xfrm>
            <a:off x="15799971" y="6867339"/>
            <a:ext cx="5687099" cy="3567362"/>
          </a:xfrm>
          <a:custGeom>
            <a:rect b="b" l="l" r="r" t="t"/>
            <a:pathLst>
              <a:path extrusionOk="0" h="3567362" w="5687099">
                <a:moveTo>
                  <a:pt x="0" y="0"/>
                </a:moveTo>
                <a:lnTo>
                  <a:pt x="5687099" y="0"/>
                </a:lnTo>
                <a:lnTo>
                  <a:pt x="5687099" y="3567362"/>
                </a:lnTo>
                <a:lnTo>
                  <a:pt x="0" y="3567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46"/>
          <p:cNvSpPr/>
          <p:nvPr/>
        </p:nvSpPr>
        <p:spPr>
          <a:xfrm>
            <a:off x="15559640" y="-216616"/>
            <a:ext cx="4010686" cy="2450165"/>
          </a:xfrm>
          <a:custGeom>
            <a:rect b="b" l="l" r="r" t="t"/>
            <a:pathLst>
              <a:path extrusionOk="0" h="2450165" w="4010686">
                <a:moveTo>
                  <a:pt x="0" y="0"/>
                </a:moveTo>
                <a:lnTo>
                  <a:pt x="4010686" y="0"/>
                </a:lnTo>
                <a:lnTo>
                  <a:pt x="4010686" y="2450165"/>
                </a:lnTo>
                <a:lnTo>
                  <a:pt x="0" y="2450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46"/>
          <p:cNvSpPr/>
          <p:nvPr/>
        </p:nvSpPr>
        <p:spPr>
          <a:xfrm>
            <a:off x="162394" y="188387"/>
            <a:ext cx="2598509" cy="2201646"/>
          </a:xfrm>
          <a:custGeom>
            <a:rect b="b" l="l" r="r" t="t"/>
            <a:pathLst>
              <a:path extrusionOk="0" h="2201646" w="2598509">
                <a:moveTo>
                  <a:pt x="0" y="0"/>
                </a:moveTo>
                <a:lnTo>
                  <a:pt x="2598509" y="0"/>
                </a:lnTo>
                <a:lnTo>
                  <a:pt x="2598509" y="2201646"/>
                </a:lnTo>
                <a:lnTo>
                  <a:pt x="0" y="22016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46"/>
          <p:cNvSpPr/>
          <p:nvPr/>
        </p:nvSpPr>
        <p:spPr>
          <a:xfrm>
            <a:off x="-1091061" y="3756360"/>
            <a:ext cx="3145260" cy="2361566"/>
          </a:xfrm>
          <a:custGeom>
            <a:rect b="b" l="l" r="r" t="t"/>
            <a:pathLst>
              <a:path extrusionOk="0" h="2361566" w="3145260">
                <a:moveTo>
                  <a:pt x="0" y="0"/>
                </a:moveTo>
                <a:lnTo>
                  <a:pt x="3145260" y="0"/>
                </a:lnTo>
                <a:lnTo>
                  <a:pt x="3145260" y="2361566"/>
                </a:lnTo>
                <a:lnTo>
                  <a:pt x="0" y="2361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46"/>
          <p:cNvSpPr/>
          <p:nvPr/>
        </p:nvSpPr>
        <p:spPr>
          <a:xfrm rot="-1461047">
            <a:off x="16209924" y="3485593"/>
            <a:ext cx="1394433" cy="2289368"/>
          </a:xfrm>
          <a:custGeom>
            <a:rect b="b" l="l" r="r" t="t"/>
            <a:pathLst>
              <a:path extrusionOk="0" h="2289368" w="1394433">
                <a:moveTo>
                  <a:pt x="0" y="0"/>
                </a:moveTo>
                <a:lnTo>
                  <a:pt x="1394434" y="0"/>
                </a:lnTo>
                <a:lnTo>
                  <a:pt x="1394434" y="2289368"/>
                </a:lnTo>
                <a:lnTo>
                  <a:pt x="0" y="228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46"/>
          <p:cNvSpPr/>
          <p:nvPr/>
        </p:nvSpPr>
        <p:spPr>
          <a:xfrm rot="1174586">
            <a:off x="-362171" y="7357145"/>
            <a:ext cx="2189869" cy="4332475"/>
          </a:xfrm>
          <a:custGeom>
            <a:rect b="b" l="l" r="r" t="t"/>
            <a:pathLst>
              <a:path extrusionOk="0" h="4332475" w="2189869">
                <a:moveTo>
                  <a:pt x="0" y="0"/>
                </a:moveTo>
                <a:lnTo>
                  <a:pt x="2189870" y="0"/>
                </a:lnTo>
                <a:lnTo>
                  <a:pt x="2189870" y="4332475"/>
                </a:lnTo>
                <a:lnTo>
                  <a:pt x="0" y="43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46"/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46"/>
          <p:cNvSpPr txBox="1"/>
          <p:nvPr/>
        </p:nvSpPr>
        <p:spPr>
          <a:xfrm>
            <a:off x="771072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고장예측 모델 - 후보 4종 비교</a:t>
            </a:r>
            <a:endParaRPr b="1" i="0" sz="4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3" name="Google Shape;663;p46"/>
          <p:cNvSpPr txBox="1"/>
          <p:nvPr/>
        </p:nvSpPr>
        <p:spPr>
          <a:xfrm>
            <a:off x="732763" y="1441401"/>
            <a:ext cx="69172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학습 24,300행 / 테스트 9,300행 / 입력 변수 79개 동일 조건 비교</a:t>
            </a:r>
            <a:endParaRPr/>
          </a:p>
        </p:txBody>
      </p:sp>
      <p:sp>
        <p:nvSpPr>
          <p:cNvPr id="664" name="Google Shape;664;p46"/>
          <p:cNvSpPr txBox="1"/>
          <p:nvPr/>
        </p:nvSpPr>
        <p:spPr>
          <a:xfrm>
            <a:off x="812291" y="2027349"/>
            <a:ext cx="8009149" cy="46528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고장예측모델의 후보별 퍼포먼스 비교</a:t>
            </a:r>
            <a:endParaRPr/>
          </a:p>
        </p:txBody>
      </p:sp>
      <p:graphicFrame>
        <p:nvGraphicFramePr>
          <p:cNvPr id="665" name="Google Shape;665;p46"/>
          <p:cNvGraphicFramePr/>
          <p:nvPr/>
        </p:nvGraphicFramePr>
        <p:xfrm>
          <a:off x="812292" y="26066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{09DE9D87-B3BD-4428-8ECC-5E18B452F763}</a:tableStyleId>
              </a:tblPr>
              <a:tblGrid>
                <a:gridCol w="1702300"/>
                <a:gridCol w="1493525"/>
                <a:gridCol w="1325875"/>
                <a:gridCol w="2683575"/>
                <a:gridCol w="852750"/>
              </a:tblGrid>
              <a:tr h="609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후보 모델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평균 AUC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학습 시간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탈락·채택 주요 사유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판정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D4B4"/>
                    </a:solidFill>
                  </a:tcPr>
                </a:tc>
              </a:tr>
              <a:tr h="1423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랜덤포레스트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0.830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2.5초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LightGBM과 성능 동률, 학습 시간이 2.5배 느림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△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23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</a:t>
                      </a:r>
                      <a:r>
                        <a:rPr b="1" lang="en-US" sz="1800" u="none" cap="none" strike="noStrike"/>
                        <a:t>LightGBM</a:t>
                      </a:r>
                      <a:endParaRPr b="1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0000"/>
                          </a:solidFill>
                        </a:rPr>
                        <a:t>0.826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0000"/>
                          </a:solidFill>
                        </a:rPr>
                        <a:t>1.0초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성능 동률 수준 </a:t>
                      </a:r>
                      <a:br>
                        <a:rPr b="1" lang="en-US" sz="1800" u="none" cap="none" strike="noStrike"/>
                      </a:br>
                      <a:r>
                        <a:rPr b="1" lang="en-US" sz="1800" u="none" cap="none" strike="noStrike"/>
                        <a:t>+</a:t>
                      </a:r>
                      <a:br>
                        <a:rPr b="1" lang="en-US" sz="1800" u="none" cap="none" strike="noStrike"/>
                      </a:br>
                      <a:r>
                        <a:rPr b="1" lang="en-US" sz="1800" u="none" cap="none" strike="noStrike"/>
                        <a:t> 빠른 학습으로 주기적 재학습에 최적</a:t>
                      </a:r>
                      <a:endParaRPr b="1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○</a:t>
                      </a:r>
                      <a:endParaRPr b="1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23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로지스틱 회귀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0.724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0.2초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데이터 내 비선형(Non-linear) 패턴 포착 불가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✕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23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신경망 (MLP)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0.690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5.1초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2만 행 규모의 데이터셋에서는 표현력 및 성능 부족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✕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66" name="Google Shape;666;p46"/>
          <p:cNvSpPr txBox="1"/>
          <p:nvPr/>
        </p:nvSpPr>
        <p:spPr>
          <a:xfrm>
            <a:off x="10113292" y="2027349"/>
            <a:ext cx="7901018" cy="4652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선택 기준</a:t>
            </a:r>
            <a:endParaRPr/>
          </a:p>
        </p:txBody>
      </p:sp>
      <p:sp>
        <p:nvSpPr>
          <p:cNvPr id="667" name="Google Shape;667;p46"/>
          <p:cNvSpPr/>
          <p:nvPr/>
        </p:nvSpPr>
        <p:spPr>
          <a:xfrm>
            <a:off x="10113292" y="2709246"/>
            <a:ext cx="3310345" cy="403072"/>
          </a:xfrm>
          <a:prstGeom prst="roundRect">
            <a:avLst>
              <a:gd fmla="val 50000" name="adj"/>
            </a:avLst>
          </a:prstGeom>
          <a:solidFill>
            <a:srgbClr val="D6E3BC"/>
          </a:solidFill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1단계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계열 선택</a:t>
            </a:r>
            <a:endParaRPr/>
          </a:p>
        </p:txBody>
      </p:sp>
      <p:sp>
        <p:nvSpPr>
          <p:cNvPr id="668" name="Google Shape;668;p46"/>
          <p:cNvSpPr/>
          <p:nvPr/>
        </p:nvSpPr>
        <p:spPr>
          <a:xfrm>
            <a:off x="14157995" y="2709246"/>
            <a:ext cx="3846714" cy="403072"/>
          </a:xfrm>
          <a:prstGeom prst="roundRect">
            <a:avLst>
              <a:gd fmla="val 50000" name="adj"/>
            </a:avLst>
          </a:prstGeom>
          <a:solidFill>
            <a:srgbClr val="D6E3BC"/>
          </a:solidFill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2단계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트리 계열 내 선택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46"/>
          <p:cNvSpPr/>
          <p:nvPr/>
        </p:nvSpPr>
        <p:spPr>
          <a:xfrm>
            <a:off x="10113292" y="3596254"/>
            <a:ext cx="3310345" cy="1944591"/>
          </a:xfrm>
          <a:prstGeom prst="rect">
            <a:avLst/>
          </a:prstGeom>
          <a:solidFill>
            <a:srgbClr val="EAF1DD"/>
          </a:solidFill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트리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46"/>
          <p:cNvSpPr/>
          <p:nvPr/>
        </p:nvSpPr>
        <p:spPr>
          <a:xfrm>
            <a:off x="10113292" y="6559708"/>
            <a:ext cx="3310345" cy="1944591"/>
          </a:xfrm>
          <a:prstGeom prst="rect">
            <a:avLst/>
          </a:prstGeom>
          <a:solidFill>
            <a:srgbClr val="BFBFBF"/>
          </a:solidFill>
          <a:ln cap="flat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선형·딥러닝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46"/>
          <p:cNvSpPr txBox="1"/>
          <p:nvPr/>
        </p:nvSpPr>
        <p:spPr>
          <a:xfrm>
            <a:off x="11396586" y="5812910"/>
            <a:ext cx="69281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</a:t>
            </a:r>
            <a:endParaRPr b="1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46"/>
          <p:cNvSpPr txBox="1"/>
          <p:nvPr/>
        </p:nvSpPr>
        <p:spPr>
          <a:xfrm>
            <a:off x="10595074" y="4429945"/>
            <a:ext cx="2411238" cy="707886"/>
          </a:xfrm>
          <a:prstGeom prst="rect">
            <a:avLst/>
          </a:prstGeom>
          <a:solidFill>
            <a:srgbClr val="C2D59B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평균 AUC</a:t>
            </a:r>
            <a:r>
              <a:rPr b="1" i="0" lang="en-US" sz="4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0.83</a:t>
            </a:r>
            <a:endParaRPr b="1" i="0" sz="4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46"/>
          <p:cNvSpPr txBox="1"/>
          <p:nvPr/>
        </p:nvSpPr>
        <p:spPr>
          <a:xfrm>
            <a:off x="10630171" y="7601388"/>
            <a:ext cx="2366353" cy="46166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평균 AUC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0.69~0.72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46"/>
          <p:cNvSpPr/>
          <p:nvPr/>
        </p:nvSpPr>
        <p:spPr>
          <a:xfrm>
            <a:off x="812292" y="4630277"/>
            <a:ext cx="8058018" cy="144454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46"/>
          <p:cNvSpPr/>
          <p:nvPr/>
        </p:nvSpPr>
        <p:spPr>
          <a:xfrm rot="-5400000">
            <a:off x="8123415" y="5429308"/>
            <a:ext cx="2655448" cy="525294"/>
          </a:xfrm>
          <a:prstGeom prst="triangle">
            <a:avLst>
              <a:gd fmla="val 50000" name="adj"/>
            </a:avLst>
          </a:prstGeom>
          <a:solidFill>
            <a:srgbClr val="DAEE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46"/>
          <p:cNvSpPr/>
          <p:nvPr/>
        </p:nvSpPr>
        <p:spPr>
          <a:xfrm>
            <a:off x="14426179" y="3596254"/>
            <a:ext cx="3310345" cy="833691"/>
          </a:xfrm>
          <a:prstGeom prst="rect">
            <a:avLst/>
          </a:prstGeom>
          <a:solidFill>
            <a:srgbClr val="BFBFBF"/>
          </a:solidFill>
          <a:ln cap="flat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랜덤포레스트: 정확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46"/>
          <p:cNvSpPr/>
          <p:nvPr/>
        </p:nvSpPr>
        <p:spPr>
          <a:xfrm>
            <a:off x="14426179" y="4709205"/>
            <a:ext cx="3310345" cy="833691"/>
          </a:xfrm>
          <a:prstGeom prst="rect">
            <a:avLst/>
          </a:prstGeom>
          <a:solidFill>
            <a:srgbClr val="EAF1DD"/>
          </a:solidFill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Light GBM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빠르고 정확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46"/>
          <p:cNvSpPr txBox="1"/>
          <p:nvPr/>
        </p:nvSpPr>
        <p:spPr>
          <a:xfrm>
            <a:off x="15896222" y="4376779"/>
            <a:ext cx="50206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46"/>
          <p:cNvSpPr txBox="1"/>
          <p:nvPr/>
        </p:nvSpPr>
        <p:spPr>
          <a:xfrm>
            <a:off x="771072" y="105283"/>
            <a:ext cx="100540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기술선택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46"/>
          <p:cNvSpPr txBox="1"/>
          <p:nvPr/>
        </p:nvSpPr>
        <p:spPr>
          <a:xfrm>
            <a:off x="17586764" y="9828019"/>
            <a:ext cx="4314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121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5" name="Google Shape;685;p47"/>
          <p:cNvGrpSpPr/>
          <p:nvPr/>
        </p:nvGrpSpPr>
        <p:grpSpPr>
          <a:xfrm>
            <a:off x="-9525" y="5822156"/>
            <a:ext cx="18288000" cy="4464844"/>
            <a:chOff x="0" y="0"/>
            <a:chExt cx="24384000" cy="5953125"/>
          </a:xfrm>
        </p:grpSpPr>
        <p:sp>
          <p:nvSpPr>
            <p:cNvPr id="686" name="Google Shape;686;p47"/>
            <p:cNvSpPr/>
            <p:nvPr/>
          </p:nvSpPr>
          <p:spPr>
            <a:xfrm>
              <a:off x="1219200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5953125"/>
                  </a:lnTo>
                  <a:lnTo>
                    <a:pt x="0" y="59531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47"/>
            <p:cNvSpPr/>
            <p:nvPr/>
          </p:nvSpPr>
          <p:spPr>
            <a:xfrm flipH="1">
              <a:off x="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12192000" y="0"/>
                  </a:moveTo>
                  <a:lnTo>
                    <a:pt x="0" y="0"/>
                  </a:lnTo>
                  <a:lnTo>
                    <a:pt x="0" y="5953125"/>
                  </a:lnTo>
                  <a:lnTo>
                    <a:pt x="12192000" y="5953125"/>
                  </a:lnTo>
                  <a:lnTo>
                    <a:pt x="1219200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8" name="Google Shape;688;p47"/>
          <p:cNvSpPr/>
          <p:nvPr/>
        </p:nvSpPr>
        <p:spPr>
          <a:xfrm>
            <a:off x="15799971" y="6867339"/>
            <a:ext cx="5687099" cy="3567362"/>
          </a:xfrm>
          <a:custGeom>
            <a:rect b="b" l="l" r="r" t="t"/>
            <a:pathLst>
              <a:path extrusionOk="0" h="3567362" w="5687099">
                <a:moveTo>
                  <a:pt x="0" y="0"/>
                </a:moveTo>
                <a:lnTo>
                  <a:pt x="5687099" y="0"/>
                </a:lnTo>
                <a:lnTo>
                  <a:pt x="5687099" y="3567362"/>
                </a:lnTo>
                <a:lnTo>
                  <a:pt x="0" y="3567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47"/>
          <p:cNvSpPr/>
          <p:nvPr/>
        </p:nvSpPr>
        <p:spPr>
          <a:xfrm>
            <a:off x="15559640" y="-216616"/>
            <a:ext cx="4010686" cy="2450165"/>
          </a:xfrm>
          <a:custGeom>
            <a:rect b="b" l="l" r="r" t="t"/>
            <a:pathLst>
              <a:path extrusionOk="0" h="2450165" w="4010686">
                <a:moveTo>
                  <a:pt x="0" y="0"/>
                </a:moveTo>
                <a:lnTo>
                  <a:pt x="4010686" y="0"/>
                </a:lnTo>
                <a:lnTo>
                  <a:pt x="4010686" y="2450165"/>
                </a:lnTo>
                <a:lnTo>
                  <a:pt x="0" y="2450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47"/>
          <p:cNvSpPr/>
          <p:nvPr/>
        </p:nvSpPr>
        <p:spPr>
          <a:xfrm>
            <a:off x="162394" y="188387"/>
            <a:ext cx="2598509" cy="2201646"/>
          </a:xfrm>
          <a:custGeom>
            <a:rect b="b" l="l" r="r" t="t"/>
            <a:pathLst>
              <a:path extrusionOk="0" h="2201646" w="2598509">
                <a:moveTo>
                  <a:pt x="0" y="0"/>
                </a:moveTo>
                <a:lnTo>
                  <a:pt x="2598509" y="0"/>
                </a:lnTo>
                <a:lnTo>
                  <a:pt x="2598509" y="2201646"/>
                </a:lnTo>
                <a:lnTo>
                  <a:pt x="0" y="22016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47"/>
          <p:cNvSpPr/>
          <p:nvPr/>
        </p:nvSpPr>
        <p:spPr>
          <a:xfrm>
            <a:off x="-1091061" y="3756360"/>
            <a:ext cx="3145260" cy="2361566"/>
          </a:xfrm>
          <a:custGeom>
            <a:rect b="b" l="l" r="r" t="t"/>
            <a:pathLst>
              <a:path extrusionOk="0" h="2361566" w="3145260">
                <a:moveTo>
                  <a:pt x="0" y="0"/>
                </a:moveTo>
                <a:lnTo>
                  <a:pt x="3145260" y="0"/>
                </a:lnTo>
                <a:lnTo>
                  <a:pt x="3145260" y="2361566"/>
                </a:lnTo>
                <a:lnTo>
                  <a:pt x="0" y="2361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47"/>
          <p:cNvSpPr/>
          <p:nvPr/>
        </p:nvSpPr>
        <p:spPr>
          <a:xfrm rot="-1461047">
            <a:off x="16209924" y="4019156"/>
            <a:ext cx="1394433" cy="2289368"/>
          </a:xfrm>
          <a:custGeom>
            <a:rect b="b" l="l" r="r" t="t"/>
            <a:pathLst>
              <a:path extrusionOk="0" h="2289368" w="1394433">
                <a:moveTo>
                  <a:pt x="0" y="0"/>
                </a:moveTo>
                <a:lnTo>
                  <a:pt x="1394434" y="0"/>
                </a:lnTo>
                <a:lnTo>
                  <a:pt x="1394434" y="2289368"/>
                </a:lnTo>
                <a:lnTo>
                  <a:pt x="0" y="228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47"/>
          <p:cNvSpPr/>
          <p:nvPr/>
        </p:nvSpPr>
        <p:spPr>
          <a:xfrm rot="1174586">
            <a:off x="-362171" y="7357145"/>
            <a:ext cx="2189869" cy="4332475"/>
          </a:xfrm>
          <a:custGeom>
            <a:rect b="b" l="l" r="r" t="t"/>
            <a:pathLst>
              <a:path extrusionOk="0" h="4332475" w="2189869">
                <a:moveTo>
                  <a:pt x="0" y="0"/>
                </a:moveTo>
                <a:lnTo>
                  <a:pt x="2189870" y="0"/>
                </a:lnTo>
                <a:lnTo>
                  <a:pt x="2189870" y="4332475"/>
                </a:lnTo>
                <a:lnTo>
                  <a:pt x="0" y="43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47"/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47"/>
          <p:cNvSpPr txBox="1"/>
          <p:nvPr/>
        </p:nvSpPr>
        <p:spPr>
          <a:xfrm>
            <a:off x="771072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이상탐지 모델 – 레거시</a:t>
            </a: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와의 비교</a:t>
            </a:r>
            <a:endParaRPr b="1" i="0" sz="4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47"/>
          <p:cNvSpPr txBox="1"/>
          <p:nvPr/>
        </p:nvSpPr>
        <p:spPr>
          <a:xfrm>
            <a:off x="522464" y="3445356"/>
            <a:ext cx="42274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센서 이상 데이터에는 정답 라벨 없음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47"/>
          <p:cNvSpPr txBox="1"/>
          <p:nvPr/>
        </p:nvSpPr>
        <p:spPr>
          <a:xfrm>
            <a:off x="532422" y="7165131"/>
            <a:ext cx="3931865" cy="960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정확도 대신</a:t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2400" u="none" cap="none" strike="noStrike">
                <a:solidFill>
                  <a:srgbClr val="00E5FF"/>
                </a:solidFill>
                <a:latin typeface="Arial"/>
                <a:ea typeface="Arial"/>
                <a:cs typeface="Arial"/>
                <a:sym typeface="Arial"/>
              </a:rPr>
              <a:t>“경고 한 건의 가치”</a:t>
            </a: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로 비교</a:t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98" name="Google Shape;698;p47"/>
          <p:cNvGraphicFramePr/>
          <p:nvPr/>
        </p:nvGraphicFramePr>
        <p:xfrm>
          <a:off x="10141648" y="34408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{09DE9D87-B3BD-4428-8ECC-5E18B452F763}</a:tableStyleId>
              </a:tblPr>
              <a:tblGrid>
                <a:gridCol w="1222375"/>
                <a:gridCol w="984250"/>
                <a:gridCol w="1079500"/>
                <a:gridCol w="825500"/>
                <a:gridCol w="3564600"/>
              </a:tblGrid>
              <a:tr h="53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후보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경고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발생률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고장탐지(24h)</a:t>
                      </a:r>
                      <a:endParaRPr b="1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Lift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(24h)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주요 성격 및 특징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D4B4"/>
                    </a:solidFill>
                  </a:tcPr>
                </a:tc>
              </a:tr>
              <a:tr h="134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IQR 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(레거시)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5.0%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94.90%</a:t>
                      </a:r>
                      <a:endParaRPr b="1" i="0" sz="1800" u="none" cap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4.44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경고 발생 많음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</a:t>
                      </a: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고장 누락 위험 적음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34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3-Sigma (레거시)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2.2%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84.70%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5.50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</a:t>
                      </a: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경고 발생 적음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</a:t>
                      </a: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단일 센서 기준의 국소적 탐지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4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 Isolation Forest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3.7%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81.00%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8.45</a:t>
                      </a:r>
                      <a:endParaRPr b="1" i="0" sz="1800" u="none" cap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</a:t>
                      </a: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4종 센서 상관관계를 동시에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고려한 다변량 탐지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99" name="Google Shape;699;p47"/>
          <p:cNvSpPr txBox="1"/>
          <p:nvPr/>
        </p:nvSpPr>
        <p:spPr>
          <a:xfrm>
            <a:off x="10141649" y="2110393"/>
            <a:ext cx="7704838" cy="46528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이상탐지모델의 후보별 퍼포먼스 비교</a:t>
            </a:r>
            <a:endParaRPr/>
          </a:p>
        </p:txBody>
      </p:sp>
      <p:sp>
        <p:nvSpPr>
          <p:cNvPr id="700" name="Google Shape;700;p47"/>
          <p:cNvSpPr txBox="1"/>
          <p:nvPr/>
        </p:nvSpPr>
        <p:spPr>
          <a:xfrm>
            <a:off x="5374866" y="2110393"/>
            <a:ext cx="4060826" cy="120032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Isolation Forest를 추가탐지 모델로 선정한 이유</a:t>
            </a:r>
            <a:endParaRPr/>
          </a:p>
        </p:txBody>
      </p:sp>
      <p:sp>
        <p:nvSpPr>
          <p:cNvPr id="701" name="Google Shape;701;p47"/>
          <p:cNvSpPr/>
          <p:nvPr/>
        </p:nvSpPr>
        <p:spPr>
          <a:xfrm>
            <a:off x="5374866" y="3445356"/>
            <a:ext cx="4060826" cy="457200"/>
          </a:xfrm>
          <a:prstGeom prst="roundRect">
            <a:avLst>
              <a:gd fmla="val 50000" name="adj"/>
            </a:avLst>
          </a:prstGeom>
          <a:solidFill>
            <a:srgbClr val="D6E3BC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라벨이 필요 없음</a:t>
            </a:r>
            <a:endParaRPr/>
          </a:p>
        </p:txBody>
      </p:sp>
      <p:sp>
        <p:nvSpPr>
          <p:cNvPr id="702" name="Google Shape;702;p47"/>
          <p:cNvSpPr/>
          <p:nvPr/>
        </p:nvSpPr>
        <p:spPr>
          <a:xfrm>
            <a:off x="5374866" y="4281033"/>
            <a:ext cx="4060826" cy="457200"/>
          </a:xfrm>
          <a:prstGeom prst="roundRect">
            <a:avLst>
              <a:gd fmla="val 50000" name="adj"/>
            </a:avLst>
          </a:prstGeom>
          <a:solidFill>
            <a:srgbClr val="D6E3BC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학습 속도가 빠름</a:t>
            </a:r>
            <a:endParaRPr/>
          </a:p>
        </p:txBody>
      </p:sp>
      <p:sp>
        <p:nvSpPr>
          <p:cNvPr id="703" name="Google Shape;703;p47"/>
          <p:cNvSpPr/>
          <p:nvPr/>
        </p:nvSpPr>
        <p:spPr>
          <a:xfrm>
            <a:off x="5374866" y="5116710"/>
            <a:ext cx="4060826" cy="457200"/>
          </a:xfrm>
          <a:prstGeom prst="roundRect">
            <a:avLst>
              <a:gd fmla="val 50000" name="adj"/>
            </a:avLst>
          </a:prstGeom>
          <a:solidFill>
            <a:srgbClr val="D6E3BC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다변량 이상 탐지 가능</a:t>
            </a:r>
            <a:endParaRPr/>
          </a:p>
        </p:txBody>
      </p:sp>
      <p:sp>
        <p:nvSpPr>
          <p:cNvPr id="704" name="Google Shape;704;p47"/>
          <p:cNvSpPr/>
          <p:nvPr/>
        </p:nvSpPr>
        <p:spPr>
          <a:xfrm>
            <a:off x="5374866" y="5952387"/>
            <a:ext cx="4060826" cy="457200"/>
          </a:xfrm>
          <a:prstGeom prst="roundRect">
            <a:avLst>
              <a:gd fmla="val 50000" name="adj"/>
            </a:avLst>
          </a:prstGeom>
          <a:solidFill>
            <a:srgbClr val="D6E3BC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고차원 feature에 비교적 잘 대응</a:t>
            </a:r>
            <a:endParaRPr/>
          </a:p>
        </p:txBody>
      </p:sp>
      <p:sp>
        <p:nvSpPr>
          <p:cNvPr id="705" name="Google Shape;705;p47"/>
          <p:cNvSpPr/>
          <p:nvPr/>
        </p:nvSpPr>
        <p:spPr>
          <a:xfrm>
            <a:off x="5374866" y="6788062"/>
            <a:ext cx="4060826" cy="457200"/>
          </a:xfrm>
          <a:prstGeom prst="roundRect">
            <a:avLst>
              <a:gd fmla="val 50000" name="adj"/>
            </a:avLst>
          </a:prstGeom>
          <a:solidFill>
            <a:srgbClr val="D6E3BC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실제 현업에 사용된 사례가 많음</a:t>
            </a:r>
            <a:endParaRPr/>
          </a:p>
        </p:txBody>
      </p:sp>
      <p:sp>
        <p:nvSpPr>
          <p:cNvPr id="706" name="Google Shape;706;p47"/>
          <p:cNvSpPr txBox="1"/>
          <p:nvPr/>
        </p:nvSpPr>
        <p:spPr>
          <a:xfrm>
            <a:off x="534132" y="2110393"/>
            <a:ext cx="3916592" cy="46166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비지도 학습</a:t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47"/>
          <p:cNvSpPr/>
          <p:nvPr/>
        </p:nvSpPr>
        <p:spPr>
          <a:xfrm rot="5400000">
            <a:off x="9134935" y="5220756"/>
            <a:ext cx="1304086" cy="277795"/>
          </a:xfrm>
          <a:prstGeom prst="triangle">
            <a:avLst>
              <a:gd fmla="val 50000" name="adj"/>
            </a:avLst>
          </a:prstGeom>
          <a:solidFill>
            <a:srgbClr val="DAEE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47"/>
          <p:cNvSpPr/>
          <p:nvPr/>
        </p:nvSpPr>
        <p:spPr>
          <a:xfrm rot="5400000">
            <a:off x="4319760" y="5220757"/>
            <a:ext cx="1304086" cy="277795"/>
          </a:xfrm>
          <a:prstGeom prst="triangle">
            <a:avLst>
              <a:gd fmla="val 50000" name="adj"/>
            </a:avLst>
          </a:prstGeom>
          <a:solidFill>
            <a:srgbClr val="DAEE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47"/>
          <p:cNvSpPr/>
          <p:nvPr/>
        </p:nvSpPr>
        <p:spPr>
          <a:xfrm>
            <a:off x="522463" y="4571915"/>
            <a:ext cx="3928261" cy="2354371"/>
          </a:xfrm>
          <a:prstGeom prst="rect">
            <a:avLst/>
          </a:prstGeom>
          <a:solidFill>
            <a:schemeClr val="lt1">
              <a:alpha val="27059"/>
            </a:schemeClr>
          </a:solidFill>
          <a:ln cap="flat" cmpd="sng" w="25400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47"/>
          <p:cNvSpPr txBox="1"/>
          <p:nvPr/>
        </p:nvSpPr>
        <p:spPr>
          <a:xfrm>
            <a:off x="657704" y="4571916"/>
            <a:ext cx="3120085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2563" lvl="0" marL="18256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경고 발생률과 경고 이벤트 수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2563" lvl="0" marL="18256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연속 경고의 지속시간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2563" lvl="0" marL="18256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방법별 경고 일치도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2563" lvl="0" marL="18256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고장 전 24·48·72시간 탐지율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2563" lvl="0" marL="18256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경고 후 고장 연계 비율과 Lift</a:t>
            </a:r>
            <a:endParaRPr/>
          </a:p>
          <a:p>
            <a:pPr indent="-182563" lvl="0" marL="18256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고장까지의 선행시간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47"/>
          <p:cNvSpPr txBox="1"/>
          <p:nvPr/>
        </p:nvSpPr>
        <p:spPr>
          <a:xfrm>
            <a:off x="1637642" y="4143401"/>
            <a:ext cx="17331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대체 비교 지표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47"/>
          <p:cNvSpPr/>
          <p:nvPr/>
        </p:nvSpPr>
        <p:spPr>
          <a:xfrm>
            <a:off x="2293724" y="3893249"/>
            <a:ext cx="579120" cy="156587"/>
          </a:xfrm>
          <a:prstGeom prst="downArrow">
            <a:avLst>
              <a:gd fmla="val 50000" name="adj1"/>
              <a:gd fmla="val 10000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47"/>
          <p:cNvSpPr txBox="1"/>
          <p:nvPr/>
        </p:nvSpPr>
        <p:spPr>
          <a:xfrm>
            <a:off x="771072" y="105283"/>
            <a:ext cx="100540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기술선택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47"/>
          <p:cNvSpPr/>
          <p:nvPr/>
        </p:nvSpPr>
        <p:spPr>
          <a:xfrm>
            <a:off x="533969" y="8757130"/>
            <a:ext cx="17308461" cy="1239050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47"/>
          <p:cNvSpPr txBox="1"/>
          <p:nvPr/>
        </p:nvSpPr>
        <p:spPr>
          <a:xfrm>
            <a:off x="2745316" y="8950748"/>
            <a:ext cx="1408514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Isolation Forest는 레거시 기준을 전면 대체하기보다 병행 도입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=&gt; 1차 안전망은 IQR 또는 3 sigma로 유지하고 Isolation Forest를 우선순위 조정 신호로 추가</a:t>
            </a:r>
            <a:endParaRPr b="0" i="0" sz="2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6" name="Google Shape;716;p47"/>
          <p:cNvSpPr txBox="1"/>
          <p:nvPr/>
        </p:nvSpPr>
        <p:spPr>
          <a:xfrm>
            <a:off x="17586764" y="9828019"/>
            <a:ext cx="4314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121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1" name="Google Shape;721;p48"/>
          <p:cNvGrpSpPr/>
          <p:nvPr/>
        </p:nvGrpSpPr>
        <p:grpSpPr>
          <a:xfrm>
            <a:off x="-9525" y="5822156"/>
            <a:ext cx="18288000" cy="4464844"/>
            <a:chOff x="0" y="0"/>
            <a:chExt cx="24384000" cy="5953125"/>
          </a:xfrm>
        </p:grpSpPr>
        <p:sp>
          <p:nvSpPr>
            <p:cNvPr id="722" name="Google Shape;722;p48"/>
            <p:cNvSpPr/>
            <p:nvPr/>
          </p:nvSpPr>
          <p:spPr>
            <a:xfrm>
              <a:off x="1219200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5953125"/>
                  </a:lnTo>
                  <a:lnTo>
                    <a:pt x="0" y="59531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48"/>
            <p:cNvSpPr/>
            <p:nvPr/>
          </p:nvSpPr>
          <p:spPr>
            <a:xfrm flipH="1">
              <a:off x="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12192000" y="0"/>
                  </a:moveTo>
                  <a:lnTo>
                    <a:pt x="0" y="0"/>
                  </a:lnTo>
                  <a:lnTo>
                    <a:pt x="0" y="5953125"/>
                  </a:lnTo>
                  <a:lnTo>
                    <a:pt x="12192000" y="5953125"/>
                  </a:lnTo>
                  <a:lnTo>
                    <a:pt x="1219200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4" name="Google Shape;724;p48"/>
          <p:cNvSpPr/>
          <p:nvPr/>
        </p:nvSpPr>
        <p:spPr>
          <a:xfrm>
            <a:off x="15799971" y="6867339"/>
            <a:ext cx="5687099" cy="3567362"/>
          </a:xfrm>
          <a:custGeom>
            <a:rect b="b" l="l" r="r" t="t"/>
            <a:pathLst>
              <a:path extrusionOk="0" h="3567362" w="5687099">
                <a:moveTo>
                  <a:pt x="0" y="0"/>
                </a:moveTo>
                <a:lnTo>
                  <a:pt x="5687099" y="0"/>
                </a:lnTo>
                <a:lnTo>
                  <a:pt x="5687099" y="3567362"/>
                </a:lnTo>
                <a:lnTo>
                  <a:pt x="0" y="3567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48"/>
          <p:cNvSpPr/>
          <p:nvPr/>
        </p:nvSpPr>
        <p:spPr>
          <a:xfrm>
            <a:off x="15559640" y="-216616"/>
            <a:ext cx="4010686" cy="2450165"/>
          </a:xfrm>
          <a:custGeom>
            <a:rect b="b" l="l" r="r" t="t"/>
            <a:pathLst>
              <a:path extrusionOk="0" h="2450165" w="4010686">
                <a:moveTo>
                  <a:pt x="0" y="0"/>
                </a:moveTo>
                <a:lnTo>
                  <a:pt x="4010686" y="0"/>
                </a:lnTo>
                <a:lnTo>
                  <a:pt x="4010686" y="2450165"/>
                </a:lnTo>
                <a:lnTo>
                  <a:pt x="0" y="2450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48"/>
          <p:cNvSpPr/>
          <p:nvPr/>
        </p:nvSpPr>
        <p:spPr>
          <a:xfrm>
            <a:off x="162394" y="188387"/>
            <a:ext cx="2598509" cy="2201646"/>
          </a:xfrm>
          <a:custGeom>
            <a:rect b="b" l="l" r="r" t="t"/>
            <a:pathLst>
              <a:path extrusionOk="0" h="2201646" w="2598509">
                <a:moveTo>
                  <a:pt x="0" y="0"/>
                </a:moveTo>
                <a:lnTo>
                  <a:pt x="2598509" y="0"/>
                </a:lnTo>
                <a:lnTo>
                  <a:pt x="2598509" y="2201646"/>
                </a:lnTo>
                <a:lnTo>
                  <a:pt x="0" y="22016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48"/>
          <p:cNvSpPr/>
          <p:nvPr/>
        </p:nvSpPr>
        <p:spPr>
          <a:xfrm>
            <a:off x="-1091061" y="3756360"/>
            <a:ext cx="3145260" cy="2361566"/>
          </a:xfrm>
          <a:custGeom>
            <a:rect b="b" l="l" r="r" t="t"/>
            <a:pathLst>
              <a:path extrusionOk="0" h="2361566" w="3145260">
                <a:moveTo>
                  <a:pt x="0" y="0"/>
                </a:moveTo>
                <a:lnTo>
                  <a:pt x="3145260" y="0"/>
                </a:lnTo>
                <a:lnTo>
                  <a:pt x="3145260" y="2361566"/>
                </a:lnTo>
                <a:lnTo>
                  <a:pt x="0" y="2361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48"/>
          <p:cNvSpPr/>
          <p:nvPr/>
        </p:nvSpPr>
        <p:spPr>
          <a:xfrm rot="1174586">
            <a:off x="-362171" y="7357145"/>
            <a:ext cx="2189869" cy="4332475"/>
          </a:xfrm>
          <a:custGeom>
            <a:rect b="b" l="l" r="r" t="t"/>
            <a:pathLst>
              <a:path extrusionOk="0" h="4332475" w="2189869">
                <a:moveTo>
                  <a:pt x="0" y="0"/>
                </a:moveTo>
                <a:lnTo>
                  <a:pt x="2189870" y="0"/>
                </a:lnTo>
                <a:lnTo>
                  <a:pt x="2189870" y="4332475"/>
                </a:lnTo>
                <a:lnTo>
                  <a:pt x="0" y="43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48"/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48"/>
          <p:cNvSpPr txBox="1"/>
          <p:nvPr/>
        </p:nvSpPr>
        <p:spPr>
          <a:xfrm>
            <a:off x="771072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AI</a:t>
            </a:r>
            <a:r>
              <a:rPr b="1" i="0" lang="en-US" sz="4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도구 - 비용 0원·개발 속도 최우선 협업 구조</a:t>
            </a:r>
            <a:endParaRPr b="1" i="0" sz="4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1" name="Google Shape;731;p48"/>
          <p:cNvSpPr txBox="1"/>
          <p:nvPr/>
        </p:nvSpPr>
        <p:spPr>
          <a:xfrm>
            <a:off x="771072" y="105283"/>
            <a:ext cx="182293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도구 활용 전략</a:t>
            </a:r>
            <a:endParaRPr/>
          </a:p>
        </p:txBody>
      </p:sp>
      <p:sp>
        <p:nvSpPr>
          <p:cNvPr id="732" name="Google Shape;732;p48"/>
          <p:cNvSpPr/>
          <p:nvPr/>
        </p:nvSpPr>
        <p:spPr>
          <a:xfrm>
            <a:off x="740592" y="6651898"/>
            <a:ext cx="11262360" cy="27305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3" name="Google Shape;733;p48"/>
          <p:cNvGrpSpPr/>
          <p:nvPr/>
        </p:nvGrpSpPr>
        <p:grpSpPr>
          <a:xfrm>
            <a:off x="771072" y="2233549"/>
            <a:ext cx="17243238" cy="3909299"/>
            <a:chOff x="771072" y="2051307"/>
            <a:chExt cx="17243238" cy="3909299"/>
          </a:xfrm>
        </p:grpSpPr>
        <p:sp>
          <p:nvSpPr>
            <p:cNvPr id="734" name="Google Shape;734;p48"/>
            <p:cNvSpPr/>
            <p:nvPr/>
          </p:nvSpPr>
          <p:spPr>
            <a:xfrm rot="-1461047">
              <a:off x="16209924" y="3485593"/>
              <a:ext cx="1394433" cy="2289368"/>
            </a:xfrm>
            <a:custGeom>
              <a:rect b="b" l="l" r="r" t="t"/>
              <a:pathLst>
                <a:path extrusionOk="0" h="2289368" w="1394433">
                  <a:moveTo>
                    <a:pt x="0" y="0"/>
                  </a:moveTo>
                  <a:lnTo>
                    <a:pt x="1394434" y="0"/>
                  </a:lnTo>
                  <a:lnTo>
                    <a:pt x="1394434" y="2289368"/>
                  </a:lnTo>
                  <a:lnTo>
                    <a:pt x="0" y="22893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 amt="50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48"/>
            <p:cNvSpPr/>
            <p:nvPr/>
          </p:nvSpPr>
          <p:spPr>
            <a:xfrm>
              <a:off x="771072" y="2051307"/>
              <a:ext cx="5221166" cy="290392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48"/>
            <p:cNvSpPr/>
            <p:nvPr/>
          </p:nvSpPr>
          <p:spPr>
            <a:xfrm>
              <a:off x="6533417" y="2051307"/>
              <a:ext cx="5221166" cy="290392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48"/>
            <p:cNvSpPr/>
            <p:nvPr/>
          </p:nvSpPr>
          <p:spPr>
            <a:xfrm>
              <a:off x="12295762" y="2051307"/>
              <a:ext cx="5221166" cy="290392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48"/>
            <p:cNvSpPr txBox="1"/>
            <p:nvPr/>
          </p:nvSpPr>
          <p:spPr>
            <a:xfrm>
              <a:off x="1294385" y="2297131"/>
              <a:ext cx="41745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Claude Code (VS Code)</a:t>
              </a:r>
              <a:endParaRPr b="1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48"/>
            <p:cNvSpPr txBox="1"/>
            <p:nvPr/>
          </p:nvSpPr>
          <p:spPr>
            <a:xfrm>
              <a:off x="8082746" y="2297131"/>
              <a:ext cx="210346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대화형 LLM</a:t>
              </a:r>
              <a:endParaRPr b="1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48"/>
            <p:cNvSpPr txBox="1"/>
            <p:nvPr/>
          </p:nvSpPr>
          <p:spPr>
            <a:xfrm>
              <a:off x="12717224" y="2297131"/>
              <a:ext cx="4370107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로컬 sLLM (Qwen3-1.7B)</a:t>
              </a:r>
              <a:endParaRPr b="1" i="0" sz="2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41" name="Google Shape;741;p48"/>
            <p:cNvSpPr txBox="1"/>
            <p:nvPr/>
          </p:nvSpPr>
          <p:spPr>
            <a:xfrm>
              <a:off x="1007890" y="2992235"/>
              <a:ext cx="4737194" cy="769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Char char="•"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Dash 콜백 &amp; CSS 반복 구현 담당</a:t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Char char="•"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사람은 화면 설계와 검수에 집중</a:t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48"/>
            <p:cNvSpPr/>
            <p:nvPr/>
          </p:nvSpPr>
          <p:spPr>
            <a:xfrm>
              <a:off x="1304496" y="4196752"/>
              <a:ext cx="4143983" cy="623154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48"/>
            <p:cNvSpPr/>
            <p:nvPr/>
          </p:nvSpPr>
          <p:spPr>
            <a:xfrm>
              <a:off x="7062483" y="4196752"/>
              <a:ext cx="4143983" cy="623154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48"/>
            <p:cNvSpPr/>
            <p:nvPr/>
          </p:nvSpPr>
          <p:spPr>
            <a:xfrm>
              <a:off x="12836119" y="4196752"/>
              <a:ext cx="4143983" cy="623154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48"/>
            <p:cNvSpPr txBox="1"/>
            <p:nvPr/>
          </p:nvSpPr>
          <p:spPr>
            <a:xfrm>
              <a:off x="2107255" y="4277496"/>
              <a:ext cx="26581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UI 반복 작업 단축</a:t>
              </a:r>
              <a:endPara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48"/>
            <p:cNvSpPr txBox="1"/>
            <p:nvPr/>
          </p:nvSpPr>
          <p:spPr>
            <a:xfrm>
              <a:off x="7095457" y="4277496"/>
              <a:ext cx="411522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시작 전 위험 요소 선제 제거</a:t>
              </a:r>
              <a:endPara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48"/>
            <p:cNvSpPr txBox="1"/>
            <p:nvPr/>
          </p:nvSpPr>
          <p:spPr>
            <a:xfrm>
              <a:off x="13576433" y="4277496"/>
              <a:ext cx="265168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보안 유출 Risk ↓</a:t>
              </a:r>
              <a:endPara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48"/>
            <p:cNvSpPr txBox="1"/>
            <p:nvPr/>
          </p:nvSpPr>
          <p:spPr>
            <a:xfrm>
              <a:off x="6784474" y="2992235"/>
              <a:ext cx="4842992" cy="769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Char char="•"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모델 실험 설계 검토 &amp; 누수 진단</a:t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Char char="•"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ID 충돌 방지 규칙 문서화</a:t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48"/>
            <p:cNvSpPr txBox="1"/>
            <p:nvPr/>
          </p:nvSpPr>
          <p:spPr>
            <a:xfrm>
              <a:off x="12480779" y="2992235"/>
              <a:ext cx="4772460" cy="11079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Char char="•"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설비, 데이터 외부 전송 불가</a:t>
              </a:r>
              <a:endParaRPr b="0" i="0" sz="2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Char char="•"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API 비용 0원, 오프라인 시연 가능</a:t>
              </a:r>
              <a:endParaRPr/>
            </a:p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Char char="•"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작은 모델 -&gt; CPU에서도 돌아감</a:t>
              </a:r>
              <a:endParaRPr/>
            </a:p>
          </p:txBody>
        </p:sp>
        <p:cxnSp>
          <p:nvCxnSpPr>
            <p:cNvPr id="750" name="Google Shape;750;p48"/>
            <p:cNvCxnSpPr/>
            <p:nvPr/>
          </p:nvCxnSpPr>
          <p:spPr>
            <a:xfrm>
              <a:off x="1007890" y="2878716"/>
              <a:ext cx="4737194" cy="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1" name="Google Shape;751;p48"/>
            <p:cNvCxnSpPr/>
            <p:nvPr/>
          </p:nvCxnSpPr>
          <p:spPr>
            <a:xfrm>
              <a:off x="6784474" y="2878716"/>
              <a:ext cx="4737194" cy="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2" name="Google Shape;752;p48"/>
            <p:cNvCxnSpPr/>
            <p:nvPr/>
          </p:nvCxnSpPr>
          <p:spPr>
            <a:xfrm>
              <a:off x="12516045" y="2878716"/>
              <a:ext cx="4737194" cy="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753" name="Google Shape;753;p48"/>
          <p:cNvCxnSpPr/>
          <p:nvPr/>
        </p:nvCxnSpPr>
        <p:spPr>
          <a:xfrm>
            <a:off x="771072" y="5666513"/>
            <a:ext cx="16745856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54" name="Google Shape;754;p48"/>
          <p:cNvSpPr/>
          <p:nvPr/>
        </p:nvSpPr>
        <p:spPr>
          <a:xfrm>
            <a:off x="771073" y="1617333"/>
            <a:ext cx="2477966" cy="5002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도구 활용</a:t>
            </a:r>
            <a:endParaRPr/>
          </a:p>
        </p:txBody>
      </p:sp>
      <p:sp>
        <p:nvSpPr>
          <p:cNvPr id="755" name="Google Shape;755;p48"/>
          <p:cNvSpPr/>
          <p:nvPr/>
        </p:nvSpPr>
        <p:spPr>
          <a:xfrm>
            <a:off x="771073" y="5936329"/>
            <a:ext cx="2477966" cy="50029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직접 결정</a:t>
            </a:r>
            <a:endParaRPr/>
          </a:p>
        </p:txBody>
      </p:sp>
      <p:sp>
        <p:nvSpPr>
          <p:cNvPr id="756" name="Google Shape;756;p48"/>
          <p:cNvSpPr/>
          <p:nvPr/>
        </p:nvSpPr>
        <p:spPr>
          <a:xfrm>
            <a:off x="948231" y="7440097"/>
            <a:ext cx="4853496" cy="1643401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2D59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48"/>
          <p:cNvSpPr/>
          <p:nvPr/>
        </p:nvSpPr>
        <p:spPr>
          <a:xfrm>
            <a:off x="6726323" y="7440097"/>
            <a:ext cx="4853496" cy="1643401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2D59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48"/>
          <p:cNvSpPr txBox="1"/>
          <p:nvPr/>
        </p:nvSpPr>
        <p:spPr>
          <a:xfrm>
            <a:off x="2749894" y="6868687"/>
            <a:ext cx="699903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핵심적인 부분은 AI에게 의존하지 않고 직접 결정</a:t>
            </a:r>
            <a:endParaRPr/>
          </a:p>
        </p:txBody>
      </p:sp>
      <p:sp>
        <p:nvSpPr>
          <p:cNvPr id="759" name="Google Shape;759;p48"/>
          <p:cNvSpPr txBox="1"/>
          <p:nvPr/>
        </p:nvSpPr>
        <p:spPr>
          <a:xfrm>
            <a:off x="929714" y="8000892"/>
            <a:ext cx="50209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①지표를 보고 comp2를 안전재고로 전환</a:t>
            </a:r>
            <a:endParaRPr b="0" i="0" sz="2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0" name="Google Shape;760;p48"/>
          <p:cNvSpPr txBox="1"/>
          <p:nvPr/>
        </p:nvSpPr>
        <p:spPr>
          <a:xfrm>
            <a:off x="7148193" y="8000892"/>
            <a:ext cx="405591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② AUC가 너무 높을 때 누수 의심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48"/>
          <p:cNvSpPr txBox="1"/>
          <p:nvPr/>
        </p:nvSpPr>
        <p:spPr>
          <a:xfrm>
            <a:off x="17586764" y="9828019"/>
            <a:ext cx="4314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121"/>
        </a:solidFill>
      </p:bgPr>
    </p:bg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6" name="Google Shape;766;p49"/>
          <p:cNvGrpSpPr/>
          <p:nvPr/>
        </p:nvGrpSpPr>
        <p:grpSpPr>
          <a:xfrm>
            <a:off x="-9525" y="5822156"/>
            <a:ext cx="18288000" cy="4464844"/>
            <a:chOff x="0" y="0"/>
            <a:chExt cx="24384000" cy="5953125"/>
          </a:xfrm>
        </p:grpSpPr>
        <p:sp>
          <p:nvSpPr>
            <p:cNvPr id="767" name="Google Shape;767;p49"/>
            <p:cNvSpPr/>
            <p:nvPr/>
          </p:nvSpPr>
          <p:spPr>
            <a:xfrm>
              <a:off x="1219200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5953125"/>
                  </a:lnTo>
                  <a:lnTo>
                    <a:pt x="0" y="59531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49"/>
            <p:cNvSpPr/>
            <p:nvPr/>
          </p:nvSpPr>
          <p:spPr>
            <a:xfrm flipH="1">
              <a:off x="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12192000" y="0"/>
                  </a:moveTo>
                  <a:lnTo>
                    <a:pt x="0" y="0"/>
                  </a:lnTo>
                  <a:lnTo>
                    <a:pt x="0" y="5953125"/>
                  </a:lnTo>
                  <a:lnTo>
                    <a:pt x="12192000" y="5953125"/>
                  </a:lnTo>
                  <a:lnTo>
                    <a:pt x="1219200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9" name="Google Shape;769;p49"/>
          <p:cNvSpPr/>
          <p:nvPr/>
        </p:nvSpPr>
        <p:spPr>
          <a:xfrm>
            <a:off x="15799971" y="6867339"/>
            <a:ext cx="5687099" cy="3567362"/>
          </a:xfrm>
          <a:custGeom>
            <a:rect b="b" l="l" r="r" t="t"/>
            <a:pathLst>
              <a:path extrusionOk="0" h="3567362" w="5687099">
                <a:moveTo>
                  <a:pt x="0" y="0"/>
                </a:moveTo>
                <a:lnTo>
                  <a:pt x="5687099" y="0"/>
                </a:lnTo>
                <a:lnTo>
                  <a:pt x="5687099" y="3567362"/>
                </a:lnTo>
                <a:lnTo>
                  <a:pt x="0" y="3567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49"/>
          <p:cNvSpPr/>
          <p:nvPr/>
        </p:nvSpPr>
        <p:spPr>
          <a:xfrm>
            <a:off x="15559640" y="-216616"/>
            <a:ext cx="4010686" cy="2450165"/>
          </a:xfrm>
          <a:custGeom>
            <a:rect b="b" l="l" r="r" t="t"/>
            <a:pathLst>
              <a:path extrusionOk="0" h="2450165" w="4010686">
                <a:moveTo>
                  <a:pt x="0" y="0"/>
                </a:moveTo>
                <a:lnTo>
                  <a:pt x="4010686" y="0"/>
                </a:lnTo>
                <a:lnTo>
                  <a:pt x="4010686" y="2450165"/>
                </a:lnTo>
                <a:lnTo>
                  <a:pt x="0" y="2450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49"/>
          <p:cNvSpPr/>
          <p:nvPr/>
        </p:nvSpPr>
        <p:spPr>
          <a:xfrm>
            <a:off x="162394" y="188387"/>
            <a:ext cx="2598509" cy="2201646"/>
          </a:xfrm>
          <a:custGeom>
            <a:rect b="b" l="l" r="r" t="t"/>
            <a:pathLst>
              <a:path extrusionOk="0" h="2201646" w="2598509">
                <a:moveTo>
                  <a:pt x="0" y="0"/>
                </a:moveTo>
                <a:lnTo>
                  <a:pt x="2598509" y="0"/>
                </a:lnTo>
                <a:lnTo>
                  <a:pt x="2598509" y="2201646"/>
                </a:lnTo>
                <a:lnTo>
                  <a:pt x="0" y="22016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49"/>
          <p:cNvSpPr/>
          <p:nvPr/>
        </p:nvSpPr>
        <p:spPr>
          <a:xfrm>
            <a:off x="-1091061" y="3756360"/>
            <a:ext cx="3145260" cy="2361566"/>
          </a:xfrm>
          <a:custGeom>
            <a:rect b="b" l="l" r="r" t="t"/>
            <a:pathLst>
              <a:path extrusionOk="0" h="2361566" w="3145260">
                <a:moveTo>
                  <a:pt x="0" y="0"/>
                </a:moveTo>
                <a:lnTo>
                  <a:pt x="3145260" y="0"/>
                </a:lnTo>
                <a:lnTo>
                  <a:pt x="3145260" y="2361566"/>
                </a:lnTo>
                <a:lnTo>
                  <a:pt x="0" y="2361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49"/>
          <p:cNvSpPr/>
          <p:nvPr/>
        </p:nvSpPr>
        <p:spPr>
          <a:xfrm rot="-1461047">
            <a:off x="16209924" y="3485593"/>
            <a:ext cx="1394433" cy="2289368"/>
          </a:xfrm>
          <a:custGeom>
            <a:rect b="b" l="l" r="r" t="t"/>
            <a:pathLst>
              <a:path extrusionOk="0" h="2289368" w="1394433">
                <a:moveTo>
                  <a:pt x="0" y="0"/>
                </a:moveTo>
                <a:lnTo>
                  <a:pt x="1394434" y="0"/>
                </a:lnTo>
                <a:lnTo>
                  <a:pt x="1394434" y="2289368"/>
                </a:lnTo>
                <a:lnTo>
                  <a:pt x="0" y="228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49"/>
          <p:cNvSpPr/>
          <p:nvPr/>
        </p:nvSpPr>
        <p:spPr>
          <a:xfrm rot="1174586">
            <a:off x="-362171" y="7357145"/>
            <a:ext cx="2189869" cy="4332475"/>
          </a:xfrm>
          <a:custGeom>
            <a:rect b="b" l="l" r="r" t="t"/>
            <a:pathLst>
              <a:path extrusionOk="0" h="4332475" w="2189869">
                <a:moveTo>
                  <a:pt x="0" y="0"/>
                </a:moveTo>
                <a:lnTo>
                  <a:pt x="2189870" y="0"/>
                </a:lnTo>
                <a:lnTo>
                  <a:pt x="2189870" y="4332475"/>
                </a:lnTo>
                <a:lnTo>
                  <a:pt x="0" y="43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49"/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49"/>
          <p:cNvSpPr txBox="1"/>
          <p:nvPr/>
        </p:nvSpPr>
        <p:spPr>
          <a:xfrm>
            <a:off x="771072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센서 데이터에서 발주 결정까지 한 흐름으로 </a:t>
            </a:r>
            <a:endParaRPr b="1" i="0" sz="4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49"/>
          <p:cNvSpPr txBox="1"/>
          <p:nvPr/>
        </p:nvSpPr>
        <p:spPr>
          <a:xfrm>
            <a:off x="771072" y="105283"/>
            <a:ext cx="231986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핵심 코드 및 로직 구현</a:t>
            </a:r>
            <a:endParaRPr/>
          </a:p>
        </p:txBody>
      </p:sp>
      <p:sp>
        <p:nvSpPr>
          <p:cNvPr id="778" name="Google Shape;778;p49"/>
          <p:cNvSpPr/>
          <p:nvPr/>
        </p:nvSpPr>
        <p:spPr>
          <a:xfrm>
            <a:off x="741062" y="2348653"/>
            <a:ext cx="3739498" cy="2424005"/>
          </a:xfrm>
          <a:prstGeom prst="roundRect">
            <a:avLst>
              <a:gd fmla="val 6796" name="adj"/>
            </a:avLst>
          </a:prstGeom>
          <a:solidFill>
            <a:srgbClr val="F2F2F2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49"/>
          <p:cNvSpPr txBox="1"/>
          <p:nvPr/>
        </p:nvSpPr>
        <p:spPr>
          <a:xfrm>
            <a:off x="756566" y="1899140"/>
            <a:ext cx="16834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STEP 1. 특징</a:t>
            </a:r>
            <a:endParaRPr/>
          </a:p>
        </p:txBody>
      </p:sp>
      <p:sp>
        <p:nvSpPr>
          <p:cNvPr id="780" name="Google Shape;780;p49"/>
          <p:cNvSpPr txBox="1"/>
          <p:nvPr/>
        </p:nvSpPr>
        <p:spPr>
          <a:xfrm>
            <a:off x="5039006" y="1899140"/>
            <a:ext cx="16834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STEP 2. 정답</a:t>
            </a:r>
            <a:endParaRPr/>
          </a:p>
        </p:txBody>
      </p:sp>
      <p:sp>
        <p:nvSpPr>
          <p:cNvPr id="781" name="Google Shape;781;p49"/>
          <p:cNvSpPr txBox="1"/>
          <p:nvPr/>
        </p:nvSpPr>
        <p:spPr>
          <a:xfrm>
            <a:off x="9395628" y="1899140"/>
            <a:ext cx="16834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STEP 3. 예측</a:t>
            </a:r>
            <a:endParaRPr/>
          </a:p>
        </p:txBody>
      </p:sp>
      <p:sp>
        <p:nvSpPr>
          <p:cNvPr id="782" name="Google Shape;782;p49"/>
          <p:cNvSpPr/>
          <p:nvPr/>
        </p:nvSpPr>
        <p:spPr>
          <a:xfrm>
            <a:off x="5059228" y="2348653"/>
            <a:ext cx="3739498" cy="2424005"/>
          </a:xfrm>
          <a:prstGeom prst="roundRect">
            <a:avLst>
              <a:gd fmla="val 6796" name="adj"/>
            </a:avLst>
          </a:prstGeom>
          <a:solidFill>
            <a:srgbClr val="F2F2F2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49"/>
          <p:cNvSpPr/>
          <p:nvPr/>
        </p:nvSpPr>
        <p:spPr>
          <a:xfrm>
            <a:off x="9395628" y="2348653"/>
            <a:ext cx="3739498" cy="2424005"/>
          </a:xfrm>
          <a:prstGeom prst="roundRect">
            <a:avLst>
              <a:gd fmla="val 6796" name="adj"/>
            </a:avLst>
          </a:prstGeom>
          <a:solidFill>
            <a:srgbClr val="F2F2F2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49"/>
          <p:cNvSpPr/>
          <p:nvPr/>
        </p:nvSpPr>
        <p:spPr>
          <a:xfrm>
            <a:off x="13594473" y="2348653"/>
            <a:ext cx="3739498" cy="2424005"/>
          </a:xfrm>
          <a:prstGeom prst="roundRect">
            <a:avLst>
              <a:gd fmla="val 6796" name="adj"/>
            </a:avLst>
          </a:prstGeom>
          <a:solidFill>
            <a:srgbClr val="FBD4B4"/>
          </a:solidFill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49"/>
          <p:cNvSpPr/>
          <p:nvPr/>
        </p:nvSpPr>
        <p:spPr>
          <a:xfrm>
            <a:off x="741062" y="5204764"/>
            <a:ext cx="8129248" cy="4100930"/>
          </a:xfrm>
          <a:prstGeom prst="roundRect">
            <a:avLst>
              <a:gd fmla="val 6796" name="adj"/>
            </a:avLst>
          </a:prstGeom>
          <a:solidFill>
            <a:srgbClr val="121314"/>
          </a:solidFill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49"/>
          <p:cNvSpPr/>
          <p:nvPr/>
        </p:nvSpPr>
        <p:spPr>
          <a:xfrm>
            <a:off x="9204723" y="5204764"/>
            <a:ext cx="8129248" cy="4100930"/>
          </a:xfrm>
          <a:prstGeom prst="roundRect">
            <a:avLst>
              <a:gd fmla="val 6796" name="adj"/>
            </a:avLst>
          </a:prstGeom>
          <a:solidFill>
            <a:srgbClr val="F2F2F2"/>
          </a:solidFill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49"/>
          <p:cNvSpPr/>
          <p:nvPr/>
        </p:nvSpPr>
        <p:spPr>
          <a:xfrm>
            <a:off x="4480560" y="3213320"/>
            <a:ext cx="578668" cy="609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49"/>
          <p:cNvSpPr/>
          <p:nvPr/>
        </p:nvSpPr>
        <p:spPr>
          <a:xfrm>
            <a:off x="8816960" y="3213320"/>
            <a:ext cx="578668" cy="609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49"/>
          <p:cNvSpPr/>
          <p:nvPr/>
        </p:nvSpPr>
        <p:spPr>
          <a:xfrm>
            <a:off x="13122770" y="3213320"/>
            <a:ext cx="471703" cy="609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0" name="Google Shape;790;p4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3267" y="5991939"/>
            <a:ext cx="7999818" cy="2663056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49"/>
          <p:cNvSpPr txBox="1"/>
          <p:nvPr/>
        </p:nvSpPr>
        <p:spPr>
          <a:xfrm>
            <a:off x="13594473" y="1899140"/>
            <a:ext cx="16834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STEP 4. 계획</a:t>
            </a:r>
            <a:endParaRPr/>
          </a:p>
        </p:txBody>
      </p:sp>
      <p:sp>
        <p:nvSpPr>
          <p:cNvPr id="792" name="Google Shape;792;p49"/>
          <p:cNvSpPr txBox="1"/>
          <p:nvPr/>
        </p:nvSpPr>
        <p:spPr>
          <a:xfrm>
            <a:off x="829181" y="5436769"/>
            <a:ext cx="580960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STEP 4 코드: maintenance_planning/service.py (핵심 요약)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49"/>
          <p:cNvSpPr txBox="1"/>
          <p:nvPr/>
        </p:nvSpPr>
        <p:spPr>
          <a:xfrm>
            <a:off x="9468888" y="5513713"/>
            <a:ext cx="174832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endParaRPr/>
          </a:p>
        </p:txBody>
      </p:sp>
      <p:sp>
        <p:nvSpPr>
          <p:cNvPr id="794" name="Google Shape;794;p49"/>
          <p:cNvSpPr txBox="1"/>
          <p:nvPr/>
        </p:nvSpPr>
        <p:spPr>
          <a:xfrm>
            <a:off x="9468888" y="6169305"/>
            <a:ext cx="7616188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부품마다 결정 시한이 다름: comp1 8일 / comp3 16일 / comp4 24일</a:t>
            </a:r>
            <a:endParaRPr/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상태 4단계: 늦음 / 발주 마감 / 관찰 / 재고로 대응</a:t>
            </a:r>
            <a:endParaRPr/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comp2는 예측이 무작위 수준이라 안전재고로 대응</a:t>
            </a:r>
            <a:endParaRPr/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 결과 하나를 To-Do / TOP5 / 발주 화면이 함께 사용</a:t>
            </a:r>
            <a:endParaRPr/>
          </a:p>
        </p:txBody>
      </p:sp>
      <p:sp>
        <p:nvSpPr>
          <p:cNvPr id="795" name="Google Shape;795;p49"/>
          <p:cNvSpPr txBox="1"/>
          <p:nvPr/>
        </p:nvSpPr>
        <p:spPr>
          <a:xfrm>
            <a:off x="5163006" y="2525121"/>
            <a:ext cx="404171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미래 정보 차단</a:t>
            </a:r>
            <a:endParaRPr/>
          </a:p>
        </p:txBody>
      </p:sp>
      <p:sp>
        <p:nvSpPr>
          <p:cNvPr id="796" name="Google Shape;796;p49"/>
          <p:cNvSpPr txBox="1"/>
          <p:nvPr/>
        </p:nvSpPr>
        <p:spPr>
          <a:xfrm>
            <a:off x="9468888" y="2525121"/>
            <a:ext cx="404171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부품별 고장 위험</a:t>
            </a:r>
            <a:endParaRPr/>
          </a:p>
        </p:txBody>
      </p:sp>
      <p:sp>
        <p:nvSpPr>
          <p:cNvPr id="797" name="Google Shape;797;p49"/>
          <p:cNvSpPr txBox="1"/>
          <p:nvPr/>
        </p:nvSpPr>
        <p:spPr>
          <a:xfrm>
            <a:off x="13706475" y="2525121"/>
            <a:ext cx="404171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재고 배정 및 발주</a:t>
            </a:r>
            <a:endParaRPr/>
          </a:p>
        </p:txBody>
      </p:sp>
      <p:sp>
        <p:nvSpPr>
          <p:cNvPr id="798" name="Google Shape;798;p49"/>
          <p:cNvSpPr txBox="1"/>
          <p:nvPr/>
        </p:nvSpPr>
        <p:spPr>
          <a:xfrm>
            <a:off x="5163006" y="3129828"/>
            <a:ext cx="4041717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입력은 t-1까지,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정답은 t부터 H일 내 고장 여부</a:t>
            </a:r>
            <a:endParaRPr/>
          </a:p>
        </p:txBody>
      </p:sp>
      <p:sp>
        <p:nvSpPr>
          <p:cNvPr id="799" name="Google Shape;799;p49"/>
          <p:cNvSpPr txBox="1"/>
          <p:nvPr/>
        </p:nvSpPr>
        <p:spPr>
          <a:xfrm>
            <a:off x="9526120" y="3129828"/>
            <a:ext cx="404171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LightGBM으로</a:t>
            </a:r>
            <a:endParaRPr b="0" i="0" sz="20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부품4개x기간 9개 학습,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위험 상승 D-day 계산</a:t>
            </a:r>
            <a:endParaRPr/>
          </a:p>
        </p:txBody>
      </p:sp>
      <p:sp>
        <p:nvSpPr>
          <p:cNvPr id="800" name="Google Shape;800;p49"/>
          <p:cNvSpPr txBox="1"/>
          <p:nvPr/>
        </p:nvSpPr>
        <p:spPr>
          <a:xfrm>
            <a:off x="822838" y="2525121"/>
            <a:ext cx="404171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설비별 정상 범위</a:t>
            </a:r>
            <a:endParaRPr/>
          </a:p>
        </p:txBody>
      </p:sp>
      <p:sp>
        <p:nvSpPr>
          <p:cNvPr id="801" name="Google Shape;801;p49"/>
          <p:cNvSpPr txBox="1"/>
          <p:nvPr/>
        </p:nvSpPr>
        <p:spPr>
          <a:xfrm>
            <a:off x="843267" y="3129828"/>
            <a:ext cx="4041717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센서값을 3/7/14/30일</a:t>
            </a:r>
            <a:endParaRPr b="0" i="0" sz="20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이동평균, 추세, z점수로 변환</a:t>
            </a:r>
            <a:endParaRPr/>
          </a:p>
        </p:txBody>
      </p:sp>
      <p:sp>
        <p:nvSpPr>
          <p:cNvPr id="802" name="Google Shape;802;p49"/>
          <p:cNvSpPr txBox="1"/>
          <p:nvPr/>
        </p:nvSpPr>
        <p:spPr>
          <a:xfrm>
            <a:off x="13676172" y="3129828"/>
            <a:ext cx="404171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위험 높은 설비부터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재고를 배정하고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발주 마감, 상태 판정</a:t>
            </a:r>
            <a:endParaRPr/>
          </a:p>
        </p:txBody>
      </p:sp>
      <p:sp>
        <p:nvSpPr>
          <p:cNvPr id="803" name="Google Shape;803;p49"/>
          <p:cNvSpPr txBox="1"/>
          <p:nvPr/>
        </p:nvSpPr>
        <p:spPr>
          <a:xfrm>
            <a:off x="17586764" y="9828019"/>
            <a:ext cx="4314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121"/>
        </a:solidFill>
      </p:bgPr>
    </p:bg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50"/>
          <p:cNvGrpSpPr/>
          <p:nvPr/>
        </p:nvGrpSpPr>
        <p:grpSpPr>
          <a:xfrm>
            <a:off x="-9525" y="5822156"/>
            <a:ext cx="18288000" cy="4464844"/>
            <a:chOff x="0" y="0"/>
            <a:chExt cx="24384000" cy="5953125"/>
          </a:xfrm>
        </p:grpSpPr>
        <p:sp>
          <p:nvSpPr>
            <p:cNvPr id="809" name="Google Shape;809;p50"/>
            <p:cNvSpPr/>
            <p:nvPr/>
          </p:nvSpPr>
          <p:spPr>
            <a:xfrm>
              <a:off x="1219200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5953125"/>
                  </a:lnTo>
                  <a:lnTo>
                    <a:pt x="0" y="59531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50"/>
            <p:cNvSpPr/>
            <p:nvPr/>
          </p:nvSpPr>
          <p:spPr>
            <a:xfrm flipH="1">
              <a:off x="0" y="0"/>
              <a:ext cx="12192000" cy="5953125"/>
            </a:xfrm>
            <a:custGeom>
              <a:rect b="b" l="l" r="r" t="t"/>
              <a:pathLst>
                <a:path extrusionOk="0" h="5953125" w="12192000">
                  <a:moveTo>
                    <a:pt x="12192000" y="0"/>
                  </a:moveTo>
                  <a:lnTo>
                    <a:pt x="0" y="0"/>
                  </a:lnTo>
                  <a:lnTo>
                    <a:pt x="0" y="5953125"/>
                  </a:lnTo>
                  <a:lnTo>
                    <a:pt x="12192000" y="5953125"/>
                  </a:lnTo>
                  <a:lnTo>
                    <a:pt x="12192000" y="0"/>
                  </a:lnTo>
                  <a:close/>
                </a:path>
              </a:pathLst>
            </a:custGeom>
            <a:blipFill rotWithShape="1">
              <a:blip r:embed="rId3">
                <a:alphaModFix amt="54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1" name="Google Shape;811;p50"/>
          <p:cNvSpPr/>
          <p:nvPr/>
        </p:nvSpPr>
        <p:spPr>
          <a:xfrm>
            <a:off x="15799971" y="6867339"/>
            <a:ext cx="5687099" cy="3567362"/>
          </a:xfrm>
          <a:custGeom>
            <a:rect b="b" l="l" r="r" t="t"/>
            <a:pathLst>
              <a:path extrusionOk="0" h="3567362" w="5687099">
                <a:moveTo>
                  <a:pt x="0" y="0"/>
                </a:moveTo>
                <a:lnTo>
                  <a:pt x="5687099" y="0"/>
                </a:lnTo>
                <a:lnTo>
                  <a:pt x="5687099" y="3567362"/>
                </a:lnTo>
                <a:lnTo>
                  <a:pt x="0" y="3567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50"/>
          <p:cNvSpPr/>
          <p:nvPr/>
        </p:nvSpPr>
        <p:spPr>
          <a:xfrm>
            <a:off x="15559640" y="-216616"/>
            <a:ext cx="4010686" cy="2450165"/>
          </a:xfrm>
          <a:custGeom>
            <a:rect b="b" l="l" r="r" t="t"/>
            <a:pathLst>
              <a:path extrusionOk="0" h="2450165" w="4010686">
                <a:moveTo>
                  <a:pt x="0" y="0"/>
                </a:moveTo>
                <a:lnTo>
                  <a:pt x="4010686" y="0"/>
                </a:lnTo>
                <a:lnTo>
                  <a:pt x="4010686" y="2450165"/>
                </a:lnTo>
                <a:lnTo>
                  <a:pt x="0" y="2450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50"/>
          <p:cNvSpPr/>
          <p:nvPr/>
        </p:nvSpPr>
        <p:spPr>
          <a:xfrm>
            <a:off x="162394" y="188387"/>
            <a:ext cx="2598509" cy="2201646"/>
          </a:xfrm>
          <a:custGeom>
            <a:rect b="b" l="l" r="r" t="t"/>
            <a:pathLst>
              <a:path extrusionOk="0" h="2201646" w="2598509">
                <a:moveTo>
                  <a:pt x="0" y="0"/>
                </a:moveTo>
                <a:lnTo>
                  <a:pt x="2598509" y="0"/>
                </a:lnTo>
                <a:lnTo>
                  <a:pt x="2598509" y="2201646"/>
                </a:lnTo>
                <a:lnTo>
                  <a:pt x="0" y="22016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50"/>
          <p:cNvSpPr/>
          <p:nvPr/>
        </p:nvSpPr>
        <p:spPr>
          <a:xfrm>
            <a:off x="-1091061" y="3756360"/>
            <a:ext cx="3145260" cy="2361566"/>
          </a:xfrm>
          <a:custGeom>
            <a:rect b="b" l="l" r="r" t="t"/>
            <a:pathLst>
              <a:path extrusionOk="0" h="2361566" w="3145260">
                <a:moveTo>
                  <a:pt x="0" y="0"/>
                </a:moveTo>
                <a:lnTo>
                  <a:pt x="3145260" y="0"/>
                </a:lnTo>
                <a:lnTo>
                  <a:pt x="3145260" y="2361566"/>
                </a:lnTo>
                <a:lnTo>
                  <a:pt x="0" y="2361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50"/>
          <p:cNvSpPr/>
          <p:nvPr/>
        </p:nvSpPr>
        <p:spPr>
          <a:xfrm rot="-1461047">
            <a:off x="16209924" y="3485593"/>
            <a:ext cx="1394433" cy="2289368"/>
          </a:xfrm>
          <a:custGeom>
            <a:rect b="b" l="l" r="r" t="t"/>
            <a:pathLst>
              <a:path extrusionOk="0" h="2289368" w="1394433">
                <a:moveTo>
                  <a:pt x="0" y="0"/>
                </a:moveTo>
                <a:lnTo>
                  <a:pt x="1394434" y="0"/>
                </a:lnTo>
                <a:lnTo>
                  <a:pt x="1394434" y="2289368"/>
                </a:lnTo>
                <a:lnTo>
                  <a:pt x="0" y="228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50"/>
          <p:cNvSpPr/>
          <p:nvPr/>
        </p:nvSpPr>
        <p:spPr>
          <a:xfrm rot="1174586">
            <a:off x="-362171" y="7357145"/>
            <a:ext cx="2189869" cy="4332475"/>
          </a:xfrm>
          <a:custGeom>
            <a:rect b="b" l="l" r="r" t="t"/>
            <a:pathLst>
              <a:path extrusionOk="0" h="4332475" w="2189869">
                <a:moveTo>
                  <a:pt x="0" y="0"/>
                </a:moveTo>
                <a:lnTo>
                  <a:pt x="2189870" y="0"/>
                </a:lnTo>
                <a:lnTo>
                  <a:pt x="2189870" y="4332475"/>
                </a:lnTo>
                <a:lnTo>
                  <a:pt x="0" y="43324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50"/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50"/>
          <p:cNvSpPr txBox="1"/>
          <p:nvPr/>
        </p:nvSpPr>
        <p:spPr>
          <a:xfrm>
            <a:off x="771072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기능을 나눠 만들고</a:t>
            </a: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다시 합치고</a:t>
            </a:r>
            <a:endParaRPr b="1" i="0" sz="4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50"/>
          <p:cNvSpPr txBox="1"/>
          <p:nvPr/>
        </p:nvSpPr>
        <p:spPr>
          <a:xfrm>
            <a:off x="771072" y="105283"/>
            <a:ext cx="252505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팀 협업 및 프로젝트 관리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50"/>
          <p:cNvSpPr txBox="1"/>
          <p:nvPr/>
        </p:nvSpPr>
        <p:spPr>
          <a:xfrm>
            <a:off x="771072" y="2278303"/>
            <a:ext cx="110799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협업툴</a:t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50"/>
          <p:cNvSpPr/>
          <p:nvPr/>
        </p:nvSpPr>
        <p:spPr>
          <a:xfrm>
            <a:off x="732764" y="3152247"/>
            <a:ext cx="1757472" cy="430844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50"/>
          <p:cNvSpPr/>
          <p:nvPr/>
        </p:nvSpPr>
        <p:spPr>
          <a:xfrm>
            <a:off x="732764" y="3880618"/>
            <a:ext cx="1757472" cy="430844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Notion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50"/>
          <p:cNvSpPr/>
          <p:nvPr/>
        </p:nvSpPr>
        <p:spPr>
          <a:xfrm>
            <a:off x="732764" y="4584494"/>
            <a:ext cx="1757472" cy="430844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Figma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50"/>
          <p:cNvSpPr txBox="1"/>
          <p:nvPr/>
        </p:nvSpPr>
        <p:spPr>
          <a:xfrm>
            <a:off x="2700562" y="3198392"/>
            <a:ext cx="31534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코드, 브랜치, 변경 이력 관리</a:t>
            </a:r>
            <a:endParaRPr/>
          </a:p>
        </p:txBody>
      </p:sp>
      <p:sp>
        <p:nvSpPr>
          <p:cNvPr id="825" name="Google Shape;825;p50"/>
          <p:cNvSpPr txBox="1"/>
          <p:nvPr/>
        </p:nvSpPr>
        <p:spPr>
          <a:xfrm>
            <a:off x="2700562" y="3926338"/>
            <a:ext cx="42402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정보 공유, 트러블 슈팅 공유, 일정 관리</a:t>
            </a:r>
            <a:endParaRPr/>
          </a:p>
        </p:txBody>
      </p:sp>
      <p:sp>
        <p:nvSpPr>
          <p:cNvPr id="826" name="Google Shape;826;p50"/>
          <p:cNvSpPr txBox="1"/>
          <p:nvPr/>
        </p:nvSpPr>
        <p:spPr>
          <a:xfrm>
            <a:off x="2700562" y="4624387"/>
            <a:ext cx="16209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브레인스토밍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50"/>
          <p:cNvSpPr txBox="1"/>
          <p:nvPr/>
        </p:nvSpPr>
        <p:spPr>
          <a:xfrm>
            <a:off x="8689889" y="2278303"/>
            <a:ext cx="183255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브랜치 전략</a:t>
            </a:r>
            <a:endParaRPr/>
          </a:p>
        </p:txBody>
      </p:sp>
      <p:sp>
        <p:nvSpPr>
          <p:cNvPr id="828" name="Google Shape;828;p50"/>
          <p:cNvSpPr/>
          <p:nvPr/>
        </p:nvSpPr>
        <p:spPr>
          <a:xfrm>
            <a:off x="8785033" y="3152247"/>
            <a:ext cx="7967801" cy="863764"/>
          </a:xfrm>
          <a:prstGeom prst="roundRect">
            <a:avLst>
              <a:gd fmla="val 28777" name="adj"/>
            </a:avLst>
          </a:prstGeom>
          <a:solidFill>
            <a:schemeClr val="accent1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Dev</a:t>
            </a: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팀원 작업 합치는 통합 브랜치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50"/>
          <p:cNvSpPr/>
          <p:nvPr/>
        </p:nvSpPr>
        <p:spPr>
          <a:xfrm rot="-5400000">
            <a:off x="12415597" y="4277195"/>
            <a:ext cx="625767" cy="70981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50"/>
          <p:cNvSpPr/>
          <p:nvPr/>
        </p:nvSpPr>
        <p:spPr>
          <a:xfrm>
            <a:off x="8810242" y="5360696"/>
            <a:ext cx="1817336" cy="1797062"/>
          </a:xfrm>
          <a:prstGeom prst="roundRect">
            <a:avLst>
              <a:gd fmla="val 6796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50"/>
          <p:cNvSpPr/>
          <p:nvPr/>
        </p:nvSpPr>
        <p:spPr>
          <a:xfrm>
            <a:off x="10857638" y="5360696"/>
            <a:ext cx="1818000" cy="1797062"/>
          </a:xfrm>
          <a:prstGeom prst="roundRect">
            <a:avLst>
              <a:gd fmla="val 6796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50"/>
          <p:cNvSpPr/>
          <p:nvPr/>
        </p:nvSpPr>
        <p:spPr>
          <a:xfrm>
            <a:off x="12905698" y="5360696"/>
            <a:ext cx="1818000" cy="1797062"/>
          </a:xfrm>
          <a:prstGeom prst="roundRect">
            <a:avLst>
              <a:gd fmla="val 6796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50"/>
          <p:cNvSpPr txBox="1"/>
          <p:nvPr/>
        </p:nvSpPr>
        <p:spPr>
          <a:xfrm>
            <a:off x="8891436" y="5473193"/>
            <a:ext cx="48122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GJ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50"/>
          <p:cNvSpPr txBox="1"/>
          <p:nvPr/>
        </p:nvSpPr>
        <p:spPr>
          <a:xfrm>
            <a:off x="11001509" y="5473193"/>
            <a:ext cx="49244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JH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50"/>
          <p:cNvSpPr txBox="1"/>
          <p:nvPr/>
        </p:nvSpPr>
        <p:spPr>
          <a:xfrm>
            <a:off x="12988679" y="5473193"/>
            <a:ext cx="50847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50"/>
          <p:cNvSpPr/>
          <p:nvPr/>
        </p:nvSpPr>
        <p:spPr>
          <a:xfrm>
            <a:off x="14934834" y="5360696"/>
            <a:ext cx="1818000" cy="1797062"/>
          </a:xfrm>
          <a:prstGeom prst="roundRect">
            <a:avLst>
              <a:gd fmla="val 6796" name="adj"/>
            </a:avLst>
          </a:prstGeom>
          <a:solidFill>
            <a:srgbClr val="FDE9D8"/>
          </a:solidFill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50"/>
          <p:cNvSpPr txBox="1"/>
          <p:nvPr/>
        </p:nvSpPr>
        <p:spPr>
          <a:xfrm>
            <a:off x="15005731" y="5473193"/>
            <a:ext cx="45236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UI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50"/>
          <p:cNvSpPr txBox="1"/>
          <p:nvPr/>
        </p:nvSpPr>
        <p:spPr>
          <a:xfrm>
            <a:off x="8901936" y="5775535"/>
            <a:ext cx="1435008" cy="128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4625" lvl="0" marL="1746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정비 계획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이상탐지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DB 로그인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50"/>
          <p:cNvSpPr txBox="1"/>
          <p:nvPr/>
        </p:nvSpPr>
        <p:spPr>
          <a:xfrm>
            <a:off x="10925257" y="5775535"/>
            <a:ext cx="128432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4625" lvl="0" marL="1746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EDA</a:t>
            </a:r>
            <a:endParaRPr/>
          </a:p>
          <a:p>
            <a:pPr indent="-174625" lvl="0" marL="1746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메인화면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50"/>
          <p:cNvSpPr txBox="1"/>
          <p:nvPr/>
        </p:nvSpPr>
        <p:spPr>
          <a:xfrm>
            <a:off x="12987114" y="5775535"/>
            <a:ext cx="136608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4625" lvl="0" marL="1746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고장예측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화면 통합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50"/>
          <p:cNvSpPr txBox="1"/>
          <p:nvPr/>
        </p:nvSpPr>
        <p:spPr>
          <a:xfrm>
            <a:off x="15005731" y="5775535"/>
            <a:ext cx="1672253" cy="1338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4625" lvl="0" marL="1746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UI 화면 구축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위한 별도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브랜치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50"/>
          <p:cNvSpPr/>
          <p:nvPr/>
        </p:nvSpPr>
        <p:spPr>
          <a:xfrm>
            <a:off x="732763" y="5577809"/>
            <a:ext cx="3588756" cy="1567648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50"/>
          <p:cNvSpPr/>
          <p:nvPr/>
        </p:nvSpPr>
        <p:spPr>
          <a:xfrm>
            <a:off x="4617114" y="5577809"/>
            <a:ext cx="3588756" cy="1567648"/>
          </a:xfrm>
          <a:prstGeom prst="roundRect">
            <a:avLst>
              <a:gd fmla="val 16667" name="adj"/>
            </a:avLst>
          </a:prstGeom>
          <a:solidFill>
            <a:srgbClr val="FDE9D8"/>
          </a:solidFill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50"/>
          <p:cNvSpPr txBox="1"/>
          <p:nvPr/>
        </p:nvSpPr>
        <p:spPr>
          <a:xfrm>
            <a:off x="1013077" y="5712702"/>
            <a:ext cx="1063112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5회</a:t>
            </a:r>
            <a:endParaRPr/>
          </a:p>
        </p:txBody>
      </p:sp>
      <p:sp>
        <p:nvSpPr>
          <p:cNvPr id="845" name="Google Shape;845;p50"/>
          <p:cNvSpPr txBox="1"/>
          <p:nvPr/>
        </p:nvSpPr>
        <p:spPr>
          <a:xfrm>
            <a:off x="4866146" y="5712702"/>
            <a:ext cx="246093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F01~F10</a:t>
            </a:r>
            <a:endParaRPr b="1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50"/>
          <p:cNvSpPr txBox="1"/>
          <p:nvPr/>
        </p:nvSpPr>
        <p:spPr>
          <a:xfrm>
            <a:off x="963814" y="6571974"/>
            <a:ext cx="14205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브랜치 통합</a:t>
            </a:r>
            <a:endParaRPr/>
          </a:p>
        </p:txBody>
      </p:sp>
      <p:sp>
        <p:nvSpPr>
          <p:cNvPr id="847" name="Google Shape;847;p50"/>
          <p:cNvSpPr txBox="1"/>
          <p:nvPr/>
        </p:nvSpPr>
        <p:spPr>
          <a:xfrm>
            <a:off x="4911665" y="6571974"/>
            <a:ext cx="22990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기능 10개 병렬 개발</a:t>
            </a:r>
            <a:endParaRPr/>
          </a:p>
        </p:txBody>
      </p:sp>
      <p:sp>
        <p:nvSpPr>
          <p:cNvPr id="848" name="Google Shape;848;p50"/>
          <p:cNvSpPr txBox="1"/>
          <p:nvPr/>
        </p:nvSpPr>
        <p:spPr>
          <a:xfrm>
            <a:off x="17586764" y="9828019"/>
            <a:ext cx="4314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47A1"/>
        </a:solidFill>
      </p:bgPr>
    </p:bg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51"/>
          <p:cNvSpPr/>
          <p:nvPr/>
        </p:nvSpPr>
        <p:spPr>
          <a:xfrm>
            <a:off x="9134475" y="5822156"/>
            <a:ext cx="9144000" cy="4464844"/>
          </a:xfrm>
          <a:custGeom>
            <a:rect b="b" l="l" r="r" t="t"/>
            <a:pathLst>
              <a:path extrusionOk="0" h="4464844" w="9144000">
                <a:moveTo>
                  <a:pt x="0" y="0"/>
                </a:moveTo>
                <a:lnTo>
                  <a:pt x="9144000" y="0"/>
                </a:lnTo>
                <a:lnTo>
                  <a:pt x="9144000" y="4464844"/>
                </a:lnTo>
                <a:lnTo>
                  <a:pt x="0" y="4464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51"/>
          <p:cNvSpPr/>
          <p:nvPr/>
        </p:nvSpPr>
        <p:spPr>
          <a:xfrm flipH="1">
            <a:off x="-9525" y="5822156"/>
            <a:ext cx="9144000" cy="4464844"/>
          </a:xfrm>
          <a:custGeom>
            <a:rect b="b" l="l" r="r" t="t"/>
            <a:pathLst>
              <a:path extrusionOk="0" h="4464844" w="9144000">
                <a:moveTo>
                  <a:pt x="9144000" y="0"/>
                </a:moveTo>
                <a:lnTo>
                  <a:pt x="0" y="0"/>
                </a:lnTo>
                <a:lnTo>
                  <a:pt x="0" y="4464844"/>
                </a:lnTo>
                <a:lnTo>
                  <a:pt x="9144000" y="4464844"/>
                </a:lnTo>
                <a:lnTo>
                  <a:pt x="914400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51"/>
          <p:cNvSpPr/>
          <p:nvPr/>
        </p:nvSpPr>
        <p:spPr>
          <a:xfrm flipH="1">
            <a:off x="10120333" y="2808742"/>
            <a:ext cx="7842761" cy="7186821"/>
          </a:xfrm>
          <a:custGeom>
            <a:rect b="b" l="l" r="r" t="t"/>
            <a:pathLst>
              <a:path extrusionOk="0" h="7186821" w="7842761">
                <a:moveTo>
                  <a:pt x="7842761" y="0"/>
                </a:moveTo>
                <a:lnTo>
                  <a:pt x="0" y="0"/>
                </a:lnTo>
                <a:lnTo>
                  <a:pt x="0" y="7186821"/>
                </a:lnTo>
                <a:lnTo>
                  <a:pt x="7842761" y="7186821"/>
                </a:lnTo>
                <a:lnTo>
                  <a:pt x="784276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51"/>
          <p:cNvSpPr txBox="1"/>
          <p:nvPr/>
        </p:nvSpPr>
        <p:spPr>
          <a:xfrm>
            <a:off x="2806936" y="4619491"/>
            <a:ext cx="674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51"/>
          <p:cNvSpPr/>
          <p:nvPr/>
        </p:nvSpPr>
        <p:spPr>
          <a:xfrm rot="10800000">
            <a:off x="8934301" y="-393895"/>
            <a:ext cx="2899550" cy="2263880"/>
          </a:xfrm>
          <a:custGeom>
            <a:rect b="b" l="l" r="r" t="t"/>
            <a:pathLst>
              <a:path extrusionOk="0" h="2263880" w="2899550">
                <a:moveTo>
                  <a:pt x="0" y="0"/>
                </a:moveTo>
                <a:lnTo>
                  <a:pt x="2899550" y="0"/>
                </a:lnTo>
                <a:lnTo>
                  <a:pt x="2899550" y="2263880"/>
                </a:lnTo>
                <a:lnTo>
                  <a:pt x="0" y="2263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51"/>
          <p:cNvSpPr/>
          <p:nvPr/>
        </p:nvSpPr>
        <p:spPr>
          <a:xfrm>
            <a:off x="16140151" y="5572326"/>
            <a:ext cx="5227965" cy="4714674"/>
          </a:xfrm>
          <a:custGeom>
            <a:rect b="b" l="l" r="r" t="t"/>
            <a:pathLst>
              <a:path extrusionOk="0" h="4714674" w="5227965">
                <a:moveTo>
                  <a:pt x="0" y="0"/>
                </a:moveTo>
                <a:lnTo>
                  <a:pt x="5227965" y="0"/>
                </a:lnTo>
                <a:lnTo>
                  <a:pt x="5227965" y="4714674"/>
                </a:lnTo>
                <a:lnTo>
                  <a:pt x="0" y="4714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51"/>
          <p:cNvSpPr/>
          <p:nvPr/>
        </p:nvSpPr>
        <p:spPr>
          <a:xfrm>
            <a:off x="-1008009" y="7483549"/>
            <a:ext cx="4073417" cy="3229109"/>
          </a:xfrm>
          <a:custGeom>
            <a:rect b="b" l="l" r="r" t="t"/>
            <a:pathLst>
              <a:path extrusionOk="0" h="3229109" w="4073417">
                <a:moveTo>
                  <a:pt x="0" y="0"/>
                </a:moveTo>
                <a:lnTo>
                  <a:pt x="4073418" y="0"/>
                </a:lnTo>
                <a:lnTo>
                  <a:pt x="4073418" y="3229109"/>
                </a:lnTo>
                <a:lnTo>
                  <a:pt x="0" y="3229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51"/>
          <p:cNvSpPr/>
          <p:nvPr/>
        </p:nvSpPr>
        <p:spPr>
          <a:xfrm rot="-1243279">
            <a:off x="16459180" y="-686837"/>
            <a:ext cx="2863902" cy="2326920"/>
          </a:xfrm>
          <a:custGeom>
            <a:rect b="b" l="l" r="r" t="t"/>
            <a:pathLst>
              <a:path extrusionOk="0" h="2326920" w="2863902">
                <a:moveTo>
                  <a:pt x="0" y="0"/>
                </a:moveTo>
                <a:lnTo>
                  <a:pt x="2863902" y="0"/>
                </a:lnTo>
                <a:lnTo>
                  <a:pt x="2863902" y="2326921"/>
                </a:lnTo>
                <a:lnTo>
                  <a:pt x="0" y="23269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51"/>
          <p:cNvSpPr/>
          <p:nvPr/>
        </p:nvSpPr>
        <p:spPr>
          <a:xfrm rot="1113034">
            <a:off x="659015" y="-377783"/>
            <a:ext cx="1792595" cy="4495537"/>
          </a:xfrm>
          <a:custGeom>
            <a:rect b="b" l="l" r="r" t="t"/>
            <a:pathLst>
              <a:path extrusionOk="0" h="4495537" w="1792595">
                <a:moveTo>
                  <a:pt x="0" y="0"/>
                </a:moveTo>
                <a:lnTo>
                  <a:pt x="1792595" y="0"/>
                </a:lnTo>
                <a:lnTo>
                  <a:pt x="1792595" y="4495536"/>
                </a:lnTo>
                <a:lnTo>
                  <a:pt x="0" y="4495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51"/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51"/>
          <p:cNvSpPr txBox="1"/>
          <p:nvPr/>
        </p:nvSpPr>
        <p:spPr>
          <a:xfrm>
            <a:off x="771072" y="514350"/>
            <a:ext cx="16764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트러블 슈팅</a:t>
            </a:r>
            <a:endParaRPr b="1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64" name="Google Shape;864;p51"/>
          <p:cNvSpPr/>
          <p:nvPr/>
        </p:nvSpPr>
        <p:spPr>
          <a:xfrm>
            <a:off x="773430" y="1867852"/>
            <a:ext cx="3305174" cy="69151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51"/>
          <p:cNvSpPr/>
          <p:nvPr/>
        </p:nvSpPr>
        <p:spPr>
          <a:xfrm>
            <a:off x="5070531" y="1867852"/>
            <a:ext cx="3305174" cy="69151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51"/>
          <p:cNvSpPr/>
          <p:nvPr/>
        </p:nvSpPr>
        <p:spPr>
          <a:xfrm>
            <a:off x="9555721" y="1867852"/>
            <a:ext cx="3305174" cy="69151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51"/>
          <p:cNvSpPr/>
          <p:nvPr/>
        </p:nvSpPr>
        <p:spPr>
          <a:xfrm>
            <a:off x="13823886" y="1867852"/>
            <a:ext cx="3305174" cy="69151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51"/>
          <p:cNvSpPr txBox="1"/>
          <p:nvPr/>
        </p:nvSpPr>
        <p:spPr>
          <a:xfrm>
            <a:off x="1372763" y="2064972"/>
            <a:ext cx="1676400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문제상황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69" name="Google Shape;869;p51"/>
          <p:cNvSpPr txBox="1"/>
          <p:nvPr/>
        </p:nvSpPr>
        <p:spPr>
          <a:xfrm>
            <a:off x="5669864" y="2064971"/>
            <a:ext cx="1676400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원인분석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0" name="Google Shape;870;p51"/>
          <p:cNvSpPr txBox="1"/>
          <p:nvPr/>
        </p:nvSpPr>
        <p:spPr>
          <a:xfrm>
            <a:off x="10126117" y="2064972"/>
            <a:ext cx="1676400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해결내용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1" name="Google Shape;871;p51"/>
          <p:cNvSpPr txBox="1"/>
          <p:nvPr/>
        </p:nvSpPr>
        <p:spPr>
          <a:xfrm>
            <a:off x="14495560" y="2064971"/>
            <a:ext cx="1676400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최종결과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2" name="Google Shape;872;p51"/>
          <p:cNvSpPr/>
          <p:nvPr/>
        </p:nvSpPr>
        <p:spPr>
          <a:xfrm>
            <a:off x="714049" y="5631630"/>
            <a:ext cx="3802116" cy="2009608"/>
          </a:xfrm>
          <a:prstGeom prst="roundRect">
            <a:avLst>
              <a:gd fmla="val 16667" name="adj"/>
            </a:avLst>
          </a:prstGeom>
          <a:solidFill>
            <a:srgbClr val="ED7D3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51"/>
          <p:cNvSpPr/>
          <p:nvPr/>
        </p:nvSpPr>
        <p:spPr>
          <a:xfrm>
            <a:off x="4905049" y="5631630"/>
            <a:ext cx="3802116" cy="2009608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51"/>
          <p:cNvSpPr/>
          <p:nvPr/>
        </p:nvSpPr>
        <p:spPr>
          <a:xfrm>
            <a:off x="9096049" y="5555430"/>
            <a:ext cx="4030716" cy="2207728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51"/>
          <p:cNvSpPr/>
          <p:nvPr/>
        </p:nvSpPr>
        <p:spPr>
          <a:xfrm>
            <a:off x="13332769" y="5570670"/>
            <a:ext cx="3802116" cy="2009608"/>
          </a:xfrm>
          <a:prstGeom prst="roundRect">
            <a:avLst>
              <a:gd fmla="val 16667" name="adj"/>
            </a:avLst>
          </a:prstGeom>
          <a:solidFill>
            <a:srgbClr val="B7CCE4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51"/>
          <p:cNvSpPr/>
          <p:nvPr/>
        </p:nvSpPr>
        <p:spPr>
          <a:xfrm>
            <a:off x="729289" y="3223710"/>
            <a:ext cx="3802116" cy="2009608"/>
          </a:xfrm>
          <a:prstGeom prst="roundRect">
            <a:avLst>
              <a:gd fmla="val 16667" name="adj"/>
            </a:avLst>
          </a:prstGeom>
          <a:solidFill>
            <a:srgbClr val="ED7D3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51"/>
          <p:cNvSpPr/>
          <p:nvPr/>
        </p:nvSpPr>
        <p:spPr>
          <a:xfrm>
            <a:off x="4920289" y="3223710"/>
            <a:ext cx="3802116" cy="2009608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51"/>
          <p:cNvSpPr/>
          <p:nvPr/>
        </p:nvSpPr>
        <p:spPr>
          <a:xfrm>
            <a:off x="9111289" y="3223710"/>
            <a:ext cx="3802116" cy="2009608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51"/>
          <p:cNvSpPr/>
          <p:nvPr/>
        </p:nvSpPr>
        <p:spPr>
          <a:xfrm>
            <a:off x="13332769" y="3223710"/>
            <a:ext cx="3802116" cy="2009608"/>
          </a:xfrm>
          <a:prstGeom prst="roundRect">
            <a:avLst>
              <a:gd fmla="val 16667" name="adj"/>
            </a:avLst>
          </a:prstGeom>
          <a:solidFill>
            <a:srgbClr val="B7CCE4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51"/>
          <p:cNvSpPr/>
          <p:nvPr/>
        </p:nvSpPr>
        <p:spPr>
          <a:xfrm>
            <a:off x="714049" y="7932870"/>
            <a:ext cx="3802116" cy="2009608"/>
          </a:xfrm>
          <a:prstGeom prst="roundRect">
            <a:avLst>
              <a:gd fmla="val 16667" name="adj"/>
            </a:avLst>
          </a:prstGeom>
          <a:solidFill>
            <a:srgbClr val="ED7D3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51"/>
          <p:cNvSpPr/>
          <p:nvPr/>
        </p:nvSpPr>
        <p:spPr>
          <a:xfrm>
            <a:off x="4905049" y="7932870"/>
            <a:ext cx="3802116" cy="2009608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51"/>
          <p:cNvSpPr/>
          <p:nvPr/>
        </p:nvSpPr>
        <p:spPr>
          <a:xfrm>
            <a:off x="9111289" y="7932870"/>
            <a:ext cx="4015476" cy="2085808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51"/>
          <p:cNvSpPr/>
          <p:nvPr/>
        </p:nvSpPr>
        <p:spPr>
          <a:xfrm>
            <a:off x="13332769" y="7932870"/>
            <a:ext cx="3802116" cy="2009608"/>
          </a:xfrm>
          <a:prstGeom prst="roundRect">
            <a:avLst>
              <a:gd fmla="val 16667" name="adj"/>
            </a:avLst>
          </a:prstGeom>
          <a:solidFill>
            <a:srgbClr val="B7CCE4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51"/>
          <p:cNvSpPr txBox="1"/>
          <p:nvPr/>
        </p:nvSpPr>
        <p:spPr>
          <a:xfrm>
            <a:off x="939220" y="3753710"/>
            <a:ext cx="3569969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Qwen이 실제 데이터에 없는 내용을 생성</a:t>
            </a:r>
            <a:endParaRPr/>
          </a:p>
        </p:txBody>
      </p:sp>
      <p:sp>
        <p:nvSpPr>
          <p:cNvPr id="885" name="Google Shape;885;p51"/>
          <p:cNvSpPr txBox="1"/>
          <p:nvPr/>
        </p:nvSpPr>
        <p:spPr>
          <a:xfrm>
            <a:off x="5038780" y="3403189"/>
            <a:ext cx="3569969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여러데이터를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단순텍스트전달</a:t>
            </a:r>
            <a:b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판단/생성 LLM에 맡겨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결론과 근거 일치X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51"/>
          <p:cNvSpPr txBox="1"/>
          <p:nvPr/>
        </p:nvSpPr>
        <p:spPr>
          <a:xfrm>
            <a:off x="9549820" y="3692749"/>
            <a:ext cx="356996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조치우선순위를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Python 규칙으로</a:t>
            </a:r>
            <a:endParaRPr/>
          </a:p>
        </p:txBody>
      </p:sp>
      <p:sp>
        <p:nvSpPr>
          <p:cNvPr id="887" name="Google Shape;887;p51"/>
          <p:cNvSpPr txBox="1"/>
          <p:nvPr/>
        </p:nvSpPr>
        <p:spPr>
          <a:xfrm>
            <a:off x="13557940" y="3799428"/>
            <a:ext cx="356996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입력에 없는 내용 방지</a:t>
            </a:r>
            <a:endParaRPr/>
          </a:p>
        </p:txBody>
      </p:sp>
      <p:sp>
        <p:nvSpPr>
          <p:cNvPr id="888" name="Google Shape;888;p51"/>
          <p:cNvSpPr txBox="1"/>
          <p:nvPr/>
        </p:nvSpPr>
        <p:spPr>
          <a:xfrm>
            <a:off x="832540" y="6024469"/>
            <a:ext cx="356996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모델 평가에서 비정상적으로 높은 AUC(0.98 이상)가 발생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51"/>
          <p:cNvSpPr txBox="1"/>
          <p:nvPr/>
        </p:nvSpPr>
        <p:spPr>
          <a:xfrm>
            <a:off x="5130220" y="6024469"/>
            <a:ext cx="356996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미래 정보를 학습에 사용하는 데이터 누수 확인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51"/>
          <p:cNvSpPr txBox="1"/>
          <p:nvPr/>
        </p:nvSpPr>
        <p:spPr>
          <a:xfrm>
            <a:off x="9321220" y="5552029"/>
            <a:ext cx="3569969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bfill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제거 →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ffill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만 사용 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워밍업 기간 30일 제외 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미래 정보를 포함할 수 있는 Feature 제거 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Train/Test를 시간 기준으로 분리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51"/>
          <p:cNvSpPr txBox="1"/>
          <p:nvPr/>
        </p:nvSpPr>
        <p:spPr>
          <a:xfrm>
            <a:off x="13557940" y="5933029"/>
            <a:ext cx="356996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결과적으로 실제 운영 상황에 가까운 평가 구조로 수정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51"/>
          <p:cNvSpPr txBox="1"/>
          <p:nvPr/>
        </p:nvSpPr>
        <p:spPr>
          <a:xfrm>
            <a:off x="1030660" y="8142830"/>
            <a:ext cx="3569969" cy="15696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여러 팀원이 동시에 페이지를 개발하면서 동일한 Component ID와 Callback이 충돌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51"/>
          <p:cNvSpPr txBox="1"/>
          <p:nvPr/>
        </p:nvSpPr>
        <p:spPr>
          <a:xfrm>
            <a:off x="5069260" y="8325709"/>
            <a:ext cx="356996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페이지별 ID 및 Callback 관리 기준이 통일되지 않음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51"/>
          <p:cNvSpPr txBox="1"/>
          <p:nvPr/>
        </p:nvSpPr>
        <p:spPr>
          <a:xfrm>
            <a:off x="9336460" y="8051389"/>
            <a:ext cx="3569969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페이지별 ID Prefix 표준화 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동일 ID 및 Output의 중복 Callback 방지 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공통 Store 및 Callback 구조 통일 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CSS도 페이지별 규칙에 맞춰 분리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51"/>
          <p:cNvSpPr txBox="1"/>
          <p:nvPr/>
        </p:nvSpPr>
        <p:spPr>
          <a:xfrm>
            <a:off x="13557940" y="8447630"/>
            <a:ext cx="356996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통합시 ID충돌로 인한 기동실패 발생하지 않음</a:t>
            </a:r>
            <a:endParaRPr/>
          </a:p>
        </p:txBody>
      </p:sp>
      <p:sp>
        <p:nvSpPr>
          <p:cNvPr id="896" name="Google Shape;896;p51"/>
          <p:cNvSpPr txBox="1"/>
          <p:nvPr/>
        </p:nvSpPr>
        <p:spPr>
          <a:xfrm>
            <a:off x="17586764" y="9828019"/>
            <a:ext cx="4314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47A1"/>
        </a:solidFill>
      </p:bgPr>
    </p:bg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52"/>
          <p:cNvSpPr/>
          <p:nvPr/>
        </p:nvSpPr>
        <p:spPr>
          <a:xfrm>
            <a:off x="9134475" y="5822156"/>
            <a:ext cx="9144000" cy="4464844"/>
          </a:xfrm>
          <a:custGeom>
            <a:rect b="b" l="l" r="r" t="t"/>
            <a:pathLst>
              <a:path extrusionOk="0" h="4464844" w="9144000">
                <a:moveTo>
                  <a:pt x="0" y="0"/>
                </a:moveTo>
                <a:lnTo>
                  <a:pt x="9144000" y="0"/>
                </a:lnTo>
                <a:lnTo>
                  <a:pt x="9144000" y="4464844"/>
                </a:lnTo>
                <a:lnTo>
                  <a:pt x="0" y="4464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52"/>
          <p:cNvSpPr/>
          <p:nvPr/>
        </p:nvSpPr>
        <p:spPr>
          <a:xfrm flipH="1">
            <a:off x="-9525" y="5822156"/>
            <a:ext cx="9144000" cy="4464844"/>
          </a:xfrm>
          <a:custGeom>
            <a:rect b="b" l="l" r="r" t="t"/>
            <a:pathLst>
              <a:path extrusionOk="0" h="4464844" w="9144000">
                <a:moveTo>
                  <a:pt x="9144000" y="0"/>
                </a:moveTo>
                <a:lnTo>
                  <a:pt x="0" y="0"/>
                </a:lnTo>
                <a:lnTo>
                  <a:pt x="0" y="4464844"/>
                </a:lnTo>
                <a:lnTo>
                  <a:pt x="9144000" y="4464844"/>
                </a:lnTo>
                <a:lnTo>
                  <a:pt x="914400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52"/>
          <p:cNvSpPr/>
          <p:nvPr/>
        </p:nvSpPr>
        <p:spPr>
          <a:xfrm flipH="1">
            <a:off x="10120333" y="2808742"/>
            <a:ext cx="7842761" cy="7186821"/>
          </a:xfrm>
          <a:custGeom>
            <a:rect b="b" l="l" r="r" t="t"/>
            <a:pathLst>
              <a:path extrusionOk="0" h="7186821" w="7842761">
                <a:moveTo>
                  <a:pt x="7842761" y="0"/>
                </a:moveTo>
                <a:lnTo>
                  <a:pt x="0" y="0"/>
                </a:lnTo>
                <a:lnTo>
                  <a:pt x="0" y="7186821"/>
                </a:lnTo>
                <a:lnTo>
                  <a:pt x="7842761" y="7186821"/>
                </a:lnTo>
                <a:lnTo>
                  <a:pt x="784276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52"/>
          <p:cNvSpPr txBox="1"/>
          <p:nvPr/>
        </p:nvSpPr>
        <p:spPr>
          <a:xfrm>
            <a:off x="2806936" y="4619491"/>
            <a:ext cx="674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52"/>
          <p:cNvSpPr/>
          <p:nvPr/>
        </p:nvSpPr>
        <p:spPr>
          <a:xfrm rot="10800000">
            <a:off x="8934301" y="-393895"/>
            <a:ext cx="2899550" cy="2263880"/>
          </a:xfrm>
          <a:custGeom>
            <a:rect b="b" l="l" r="r" t="t"/>
            <a:pathLst>
              <a:path extrusionOk="0" h="2263880" w="2899550">
                <a:moveTo>
                  <a:pt x="0" y="0"/>
                </a:moveTo>
                <a:lnTo>
                  <a:pt x="2899550" y="0"/>
                </a:lnTo>
                <a:lnTo>
                  <a:pt x="2899550" y="2263880"/>
                </a:lnTo>
                <a:lnTo>
                  <a:pt x="0" y="2263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52"/>
          <p:cNvSpPr/>
          <p:nvPr/>
        </p:nvSpPr>
        <p:spPr>
          <a:xfrm>
            <a:off x="16140151" y="5572326"/>
            <a:ext cx="5227965" cy="4714674"/>
          </a:xfrm>
          <a:custGeom>
            <a:rect b="b" l="l" r="r" t="t"/>
            <a:pathLst>
              <a:path extrusionOk="0" h="4714674" w="5227965">
                <a:moveTo>
                  <a:pt x="0" y="0"/>
                </a:moveTo>
                <a:lnTo>
                  <a:pt x="5227965" y="0"/>
                </a:lnTo>
                <a:lnTo>
                  <a:pt x="5227965" y="4714674"/>
                </a:lnTo>
                <a:lnTo>
                  <a:pt x="0" y="4714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52"/>
          <p:cNvSpPr/>
          <p:nvPr/>
        </p:nvSpPr>
        <p:spPr>
          <a:xfrm>
            <a:off x="-1008009" y="7483549"/>
            <a:ext cx="4073417" cy="3229109"/>
          </a:xfrm>
          <a:custGeom>
            <a:rect b="b" l="l" r="r" t="t"/>
            <a:pathLst>
              <a:path extrusionOk="0" h="3229109" w="4073417">
                <a:moveTo>
                  <a:pt x="0" y="0"/>
                </a:moveTo>
                <a:lnTo>
                  <a:pt x="4073418" y="0"/>
                </a:lnTo>
                <a:lnTo>
                  <a:pt x="4073418" y="3229109"/>
                </a:lnTo>
                <a:lnTo>
                  <a:pt x="0" y="3229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52"/>
          <p:cNvSpPr/>
          <p:nvPr/>
        </p:nvSpPr>
        <p:spPr>
          <a:xfrm rot="-1243279">
            <a:off x="16459180" y="-686837"/>
            <a:ext cx="2863902" cy="2326920"/>
          </a:xfrm>
          <a:custGeom>
            <a:rect b="b" l="l" r="r" t="t"/>
            <a:pathLst>
              <a:path extrusionOk="0" h="2326920" w="2863902">
                <a:moveTo>
                  <a:pt x="0" y="0"/>
                </a:moveTo>
                <a:lnTo>
                  <a:pt x="2863902" y="0"/>
                </a:lnTo>
                <a:lnTo>
                  <a:pt x="2863902" y="2326921"/>
                </a:lnTo>
                <a:lnTo>
                  <a:pt x="0" y="23269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52"/>
          <p:cNvSpPr/>
          <p:nvPr/>
        </p:nvSpPr>
        <p:spPr>
          <a:xfrm rot="1113034">
            <a:off x="659015" y="-377783"/>
            <a:ext cx="1792595" cy="4495537"/>
          </a:xfrm>
          <a:custGeom>
            <a:rect b="b" l="l" r="r" t="t"/>
            <a:pathLst>
              <a:path extrusionOk="0" h="4495537" w="1792595">
                <a:moveTo>
                  <a:pt x="0" y="0"/>
                </a:moveTo>
                <a:lnTo>
                  <a:pt x="1792595" y="0"/>
                </a:lnTo>
                <a:lnTo>
                  <a:pt x="1792595" y="4495536"/>
                </a:lnTo>
                <a:lnTo>
                  <a:pt x="0" y="4495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52"/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52"/>
          <p:cNvSpPr txBox="1"/>
          <p:nvPr/>
        </p:nvSpPr>
        <p:spPr>
          <a:xfrm>
            <a:off x="771072" y="514350"/>
            <a:ext cx="167640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객관적 성과 및 검증 - </a:t>
            </a:r>
            <a:r>
              <a:rPr b="1" i="0" lang="en-US" sz="3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정량적 성과 지표</a:t>
            </a:r>
            <a:r>
              <a:rPr b="1" i="0" lang="en-US" sz="4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  </a:t>
            </a:r>
            <a:endParaRPr b="0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12" name="Google Shape;912;p5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87562" y="2105164"/>
            <a:ext cx="8392844" cy="4831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p52"/>
          <p:cNvPicPr preferRelativeResize="0"/>
          <p:nvPr/>
        </p:nvPicPr>
        <p:blipFill rotWithShape="1">
          <a:blip r:embed="rId11">
            <a:alphaModFix/>
          </a:blip>
          <a:srcRect b="166" l="51067" r="-9" t="7715"/>
          <a:stretch/>
        </p:blipFill>
        <p:spPr>
          <a:xfrm>
            <a:off x="10382101" y="2098450"/>
            <a:ext cx="5937423" cy="4834694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52"/>
          <p:cNvSpPr/>
          <p:nvPr/>
        </p:nvSpPr>
        <p:spPr>
          <a:xfrm>
            <a:off x="1292718" y="7379631"/>
            <a:ext cx="9898863" cy="871189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52"/>
          <p:cNvSpPr/>
          <p:nvPr/>
        </p:nvSpPr>
        <p:spPr>
          <a:xfrm>
            <a:off x="1286943" y="8521620"/>
            <a:ext cx="9912802" cy="857250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52"/>
          <p:cNvSpPr txBox="1"/>
          <p:nvPr/>
        </p:nvSpPr>
        <p:spPr>
          <a:xfrm>
            <a:off x="1548820" y="8695373"/>
            <a:ext cx="1114424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LightGBM 트리계열 내 학습속도 2.5배 빠름</a:t>
            </a:r>
            <a:endParaRPr/>
          </a:p>
        </p:txBody>
      </p:sp>
      <p:sp>
        <p:nvSpPr>
          <p:cNvPr id="917" name="Google Shape;917;p52"/>
          <p:cNvSpPr txBox="1"/>
          <p:nvPr/>
        </p:nvSpPr>
        <p:spPr>
          <a:xfrm>
            <a:off x="1548820" y="7548470"/>
            <a:ext cx="1114424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Legacy 대비 평균 </a:t>
            </a:r>
            <a:r>
              <a:rPr b="1" i="0" lang="en-US" sz="2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AUC, PR-AUC, Lift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모두 높음</a:t>
            </a:r>
            <a:endParaRPr/>
          </a:p>
        </p:txBody>
      </p:sp>
      <p:sp>
        <p:nvSpPr>
          <p:cNvPr id="918" name="Google Shape;918;p52"/>
          <p:cNvSpPr/>
          <p:nvPr/>
        </p:nvSpPr>
        <p:spPr>
          <a:xfrm>
            <a:off x="1264920" y="1661160"/>
            <a:ext cx="8427720" cy="33528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52"/>
          <p:cNvSpPr txBox="1"/>
          <p:nvPr/>
        </p:nvSpPr>
        <p:spPr>
          <a:xfrm>
            <a:off x="3291840" y="1661160"/>
            <a:ext cx="83362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기존 방식과 Light GBM의 성능 비교</a:t>
            </a:r>
            <a:endParaRPr/>
          </a:p>
        </p:txBody>
      </p:sp>
      <p:sp>
        <p:nvSpPr>
          <p:cNvPr id="920" name="Google Shape;920;p52"/>
          <p:cNvSpPr/>
          <p:nvPr/>
        </p:nvSpPr>
        <p:spPr>
          <a:xfrm>
            <a:off x="10378440" y="1661159"/>
            <a:ext cx="5943600" cy="33528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52"/>
          <p:cNvSpPr txBox="1"/>
          <p:nvPr/>
        </p:nvSpPr>
        <p:spPr>
          <a:xfrm>
            <a:off x="12161519" y="1661159"/>
            <a:ext cx="83362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평균 학습시간 비교</a:t>
            </a:r>
            <a:endParaRPr/>
          </a:p>
        </p:txBody>
      </p:sp>
      <p:sp>
        <p:nvSpPr>
          <p:cNvPr id="922" name="Google Shape;922;p52"/>
          <p:cNvSpPr txBox="1"/>
          <p:nvPr/>
        </p:nvSpPr>
        <p:spPr>
          <a:xfrm>
            <a:off x="17586764" y="9828019"/>
            <a:ext cx="4314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47A1"/>
        </a:solidFill>
      </p:bgPr>
    </p:bg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53"/>
          <p:cNvSpPr/>
          <p:nvPr/>
        </p:nvSpPr>
        <p:spPr>
          <a:xfrm>
            <a:off x="9134475" y="5822156"/>
            <a:ext cx="9144000" cy="4464844"/>
          </a:xfrm>
          <a:custGeom>
            <a:rect b="b" l="l" r="r" t="t"/>
            <a:pathLst>
              <a:path extrusionOk="0" h="4464844" w="9144000">
                <a:moveTo>
                  <a:pt x="0" y="0"/>
                </a:moveTo>
                <a:lnTo>
                  <a:pt x="9144000" y="0"/>
                </a:lnTo>
                <a:lnTo>
                  <a:pt x="9144000" y="4464844"/>
                </a:lnTo>
                <a:lnTo>
                  <a:pt x="0" y="4464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53"/>
          <p:cNvSpPr/>
          <p:nvPr/>
        </p:nvSpPr>
        <p:spPr>
          <a:xfrm flipH="1">
            <a:off x="-9525" y="5822156"/>
            <a:ext cx="9144000" cy="4464844"/>
          </a:xfrm>
          <a:custGeom>
            <a:rect b="b" l="l" r="r" t="t"/>
            <a:pathLst>
              <a:path extrusionOk="0" h="4464844" w="9144000">
                <a:moveTo>
                  <a:pt x="9144000" y="0"/>
                </a:moveTo>
                <a:lnTo>
                  <a:pt x="0" y="0"/>
                </a:lnTo>
                <a:lnTo>
                  <a:pt x="0" y="4464844"/>
                </a:lnTo>
                <a:lnTo>
                  <a:pt x="9144000" y="4464844"/>
                </a:lnTo>
                <a:lnTo>
                  <a:pt x="914400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53"/>
          <p:cNvSpPr/>
          <p:nvPr/>
        </p:nvSpPr>
        <p:spPr>
          <a:xfrm flipH="1">
            <a:off x="10120333" y="2808742"/>
            <a:ext cx="7842761" cy="7186821"/>
          </a:xfrm>
          <a:custGeom>
            <a:rect b="b" l="l" r="r" t="t"/>
            <a:pathLst>
              <a:path extrusionOk="0" h="7186821" w="7842761">
                <a:moveTo>
                  <a:pt x="7842761" y="0"/>
                </a:moveTo>
                <a:lnTo>
                  <a:pt x="0" y="0"/>
                </a:lnTo>
                <a:lnTo>
                  <a:pt x="0" y="7186821"/>
                </a:lnTo>
                <a:lnTo>
                  <a:pt x="7842761" y="7186821"/>
                </a:lnTo>
                <a:lnTo>
                  <a:pt x="784276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53"/>
          <p:cNvSpPr txBox="1"/>
          <p:nvPr/>
        </p:nvSpPr>
        <p:spPr>
          <a:xfrm>
            <a:off x="2806936" y="4619491"/>
            <a:ext cx="674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53"/>
          <p:cNvSpPr/>
          <p:nvPr/>
        </p:nvSpPr>
        <p:spPr>
          <a:xfrm rot="10800000">
            <a:off x="8934301" y="-393895"/>
            <a:ext cx="2899550" cy="2263880"/>
          </a:xfrm>
          <a:custGeom>
            <a:rect b="b" l="l" r="r" t="t"/>
            <a:pathLst>
              <a:path extrusionOk="0" h="2263880" w="2899550">
                <a:moveTo>
                  <a:pt x="0" y="0"/>
                </a:moveTo>
                <a:lnTo>
                  <a:pt x="2899550" y="0"/>
                </a:lnTo>
                <a:lnTo>
                  <a:pt x="2899550" y="2263880"/>
                </a:lnTo>
                <a:lnTo>
                  <a:pt x="0" y="2263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53"/>
          <p:cNvSpPr/>
          <p:nvPr/>
        </p:nvSpPr>
        <p:spPr>
          <a:xfrm>
            <a:off x="16140151" y="5572326"/>
            <a:ext cx="5227965" cy="4714674"/>
          </a:xfrm>
          <a:custGeom>
            <a:rect b="b" l="l" r="r" t="t"/>
            <a:pathLst>
              <a:path extrusionOk="0" h="4714674" w="5227965">
                <a:moveTo>
                  <a:pt x="0" y="0"/>
                </a:moveTo>
                <a:lnTo>
                  <a:pt x="5227965" y="0"/>
                </a:lnTo>
                <a:lnTo>
                  <a:pt x="5227965" y="4714674"/>
                </a:lnTo>
                <a:lnTo>
                  <a:pt x="0" y="4714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53"/>
          <p:cNvSpPr/>
          <p:nvPr/>
        </p:nvSpPr>
        <p:spPr>
          <a:xfrm>
            <a:off x="-1008009" y="7483549"/>
            <a:ext cx="4073417" cy="3229109"/>
          </a:xfrm>
          <a:custGeom>
            <a:rect b="b" l="l" r="r" t="t"/>
            <a:pathLst>
              <a:path extrusionOk="0" h="3229109" w="4073417">
                <a:moveTo>
                  <a:pt x="0" y="0"/>
                </a:moveTo>
                <a:lnTo>
                  <a:pt x="4073418" y="0"/>
                </a:lnTo>
                <a:lnTo>
                  <a:pt x="4073418" y="3229109"/>
                </a:lnTo>
                <a:lnTo>
                  <a:pt x="0" y="3229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53"/>
          <p:cNvSpPr/>
          <p:nvPr/>
        </p:nvSpPr>
        <p:spPr>
          <a:xfrm rot="-1243279">
            <a:off x="16459180" y="-686837"/>
            <a:ext cx="2863902" cy="2326920"/>
          </a:xfrm>
          <a:custGeom>
            <a:rect b="b" l="l" r="r" t="t"/>
            <a:pathLst>
              <a:path extrusionOk="0" h="2326920" w="2863902">
                <a:moveTo>
                  <a:pt x="0" y="0"/>
                </a:moveTo>
                <a:lnTo>
                  <a:pt x="2863902" y="0"/>
                </a:lnTo>
                <a:lnTo>
                  <a:pt x="2863902" y="2326921"/>
                </a:lnTo>
                <a:lnTo>
                  <a:pt x="0" y="23269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53"/>
          <p:cNvSpPr/>
          <p:nvPr/>
        </p:nvSpPr>
        <p:spPr>
          <a:xfrm rot="1113034">
            <a:off x="659015" y="-377783"/>
            <a:ext cx="1792595" cy="4495537"/>
          </a:xfrm>
          <a:custGeom>
            <a:rect b="b" l="l" r="r" t="t"/>
            <a:pathLst>
              <a:path extrusionOk="0" h="4495537" w="1792595">
                <a:moveTo>
                  <a:pt x="0" y="0"/>
                </a:moveTo>
                <a:lnTo>
                  <a:pt x="1792595" y="0"/>
                </a:lnTo>
                <a:lnTo>
                  <a:pt x="1792595" y="4495536"/>
                </a:lnTo>
                <a:lnTo>
                  <a:pt x="0" y="4495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53"/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53"/>
          <p:cNvSpPr txBox="1"/>
          <p:nvPr/>
        </p:nvSpPr>
        <p:spPr>
          <a:xfrm>
            <a:off x="771072" y="514350"/>
            <a:ext cx="16764000" cy="2954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객관적 성과 및 검증 - </a:t>
            </a:r>
            <a:r>
              <a:rPr b="1" i="0" lang="en-US" sz="3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정량적 성과 지표</a:t>
            </a:r>
            <a:r>
              <a:rPr b="1" i="0" lang="en-US" sz="4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  </a:t>
            </a:r>
            <a:endParaRPr b="0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8" name="Google Shape;938;p53"/>
          <p:cNvSpPr/>
          <p:nvPr/>
        </p:nvSpPr>
        <p:spPr>
          <a:xfrm>
            <a:off x="1154429" y="7277701"/>
            <a:ext cx="9034644" cy="857250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53"/>
          <p:cNvSpPr/>
          <p:nvPr/>
        </p:nvSpPr>
        <p:spPr>
          <a:xfrm>
            <a:off x="1169668" y="8329261"/>
            <a:ext cx="9028697" cy="78105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53"/>
          <p:cNvSpPr txBox="1"/>
          <p:nvPr/>
        </p:nvSpPr>
        <p:spPr>
          <a:xfrm>
            <a:off x="1456822" y="8501714"/>
            <a:ext cx="1114424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Isolation Forest  이벤트 적중률 최고 20.3%, Lift 8.45</a:t>
            </a:r>
            <a:endParaRPr/>
          </a:p>
        </p:txBody>
      </p:sp>
      <p:sp>
        <p:nvSpPr>
          <p:cNvPr id="941" name="Google Shape;941;p53"/>
          <p:cNvSpPr txBox="1"/>
          <p:nvPr/>
        </p:nvSpPr>
        <p:spPr>
          <a:xfrm>
            <a:off x="1456822" y="7450154"/>
            <a:ext cx="1114424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IQR 고장탐지율 최고 98.5%</a:t>
            </a:r>
            <a:endParaRPr/>
          </a:p>
        </p:txBody>
      </p:sp>
      <p:pic>
        <p:nvPicPr>
          <p:cNvPr id="942" name="Google Shape;942;p53"/>
          <p:cNvPicPr preferRelativeResize="0"/>
          <p:nvPr/>
        </p:nvPicPr>
        <p:blipFill rotWithShape="1">
          <a:blip r:embed="rId10">
            <a:alphaModFix/>
          </a:blip>
          <a:srcRect b="15294" l="-219" r="-486" t="294"/>
          <a:stretch/>
        </p:blipFill>
        <p:spPr>
          <a:xfrm>
            <a:off x="1169669" y="2461260"/>
            <a:ext cx="15640070" cy="4328164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53"/>
          <p:cNvSpPr/>
          <p:nvPr/>
        </p:nvSpPr>
        <p:spPr>
          <a:xfrm>
            <a:off x="5916128" y="2922871"/>
            <a:ext cx="254668" cy="254467"/>
          </a:xfrm>
          <a:prstGeom prst="flowChartConnector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53"/>
          <p:cNvSpPr/>
          <p:nvPr/>
        </p:nvSpPr>
        <p:spPr>
          <a:xfrm>
            <a:off x="11128208" y="5330791"/>
            <a:ext cx="254668" cy="254467"/>
          </a:xfrm>
          <a:prstGeom prst="flowChartConnector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53"/>
          <p:cNvSpPr/>
          <p:nvPr/>
        </p:nvSpPr>
        <p:spPr>
          <a:xfrm>
            <a:off x="12225488" y="3227671"/>
            <a:ext cx="254668" cy="254467"/>
          </a:xfrm>
          <a:prstGeom prst="flowChartConnector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53"/>
          <p:cNvSpPr/>
          <p:nvPr/>
        </p:nvSpPr>
        <p:spPr>
          <a:xfrm>
            <a:off x="1752600" y="1996440"/>
            <a:ext cx="4556760" cy="33528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7" name="Google Shape;947;p5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089130" y="1142047"/>
            <a:ext cx="4503420" cy="413385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53"/>
          <p:cNvSpPr/>
          <p:nvPr/>
        </p:nvSpPr>
        <p:spPr>
          <a:xfrm>
            <a:off x="7025640" y="1996440"/>
            <a:ext cx="4556760" cy="33528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53"/>
          <p:cNvSpPr/>
          <p:nvPr/>
        </p:nvSpPr>
        <p:spPr>
          <a:xfrm>
            <a:off x="12085320" y="1996440"/>
            <a:ext cx="4556760" cy="33528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53"/>
          <p:cNvSpPr txBox="1"/>
          <p:nvPr/>
        </p:nvSpPr>
        <p:spPr>
          <a:xfrm>
            <a:off x="3383280" y="1996440"/>
            <a:ext cx="83362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고장탐지율</a:t>
            </a:r>
            <a:endParaRPr/>
          </a:p>
        </p:txBody>
      </p:sp>
      <p:sp>
        <p:nvSpPr>
          <p:cNvPr id="951" name="Google Shape;951;p53"/>
          <p:cNvSpPr txBox="1"/>
          <p:nvPr/>
        </p:nvSpPr>
        <p:spPr>
          <a:xfrm>
            <a:off x="8473440" y="1996440"/>
            <a:ext cx="83362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이벤트 적중률</a:t>
            </a:r>
            <a:endParaRPr/>
          </a:p>
        </p:txBody>
      </p:sp>
      <p:sp>
        <p:nvSpPr>
          <p:cNvPr id="952" name="Google Shape;952;p53"/>
          <p:cNvSpPr txBox="1"/>
          <p:nvPr/>
        </p:nvSpPr>
        <p:spPr>
          <a:xfrm>
            <a:off x="14051280" y="1996440"/>
            <a:ext cx="83362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Lift</a:t>
            </a:r>
            <a:endParaRPr/>
          </a:p>
        </p:txBody>
      </p:sp>
      <p:sp>
        <p:nvSpPr>
          <p:cNvPr id="953" name="Google Shape;953;p53"/>
          <p:cNvSpPr txBox="1"/>
          <p:nvPr/>
        </p:nvSpPr>
        <p:spPr>
          <a:xfrm>
            <a:off x="17586764" y="9828019"/>
            <a:ext cx="4314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47A1"/>
        </a:solidFill>
      </p:bgPr>
    </p:bg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54"/>
          <p:cNvSpPr/>
          <p:nvPr/>
        </p:nvSpPr>
        <p:spPr>
          <a:xfrm>
            <a:off x="9134475" y="5822156"/>
            <a:ext cx="9144000" cy="4464844"/>
          </a:xfrm>
          <a:custGeom>
            <a:rect b="b" l="l" r="r" t="t"/>
            <a:pathLst>
              <a:path extrusionOk="0" h="4464844" w="9144000">
                <a:moveTo>
                  <a:pt x="0" y="0"/>
                </a:moveTo>
                <a:lnTo>
                  <a:pt x="9144000" y="0"/>
                </a:lnTo>
                <a:lnTo>
                  <a:pt x="9144000" y="4464844"/>
                </a:lnTo>
                <a:lnTo>
                  <a:pt x="0" y="4464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54"/>
          <p:cNvSpPr/>
          <p:nvPr/>
        </p:nvSpPr>
        <p:spPr>
          <a:xfrm flipH="1">
            <a:off x="-9525" y="5822156"/>
            <a:ext cx="9144000" cy="4464844"/>
          </a:xfrm>
          <a:custGeom>
            <a:rect b="b" l="l" r="r" t="t"/>
            <a:pathLst>
              <a:path extrusionOk="0" h="4464844" w="9144000">
                <a:moveTo>
                  <a:pt x="9144000" y="0"/>
                </a:moveTo>
                <a:lnTo>
                  <a:pt x="0" y="0"/>
                </a:lnTo>
                <a:lnTo>
                  <a:pt x="0" y="4464844"/>
                </a:lnTo>
                <a:lnTo>
                  <a:pt x="9144000" y="4464844"/>
                </a:lnTo>
                <a:lnTo>
                  <a:pt x="914400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54"/>
          <p:cNvSpPr/>
          <p:nvPr/>
        </p:nvSpPr>
        <p:spPr>
          <a:xfrm flipH="1">
            <a:off x="10120333" y="2808742"/>
            <a:ext cx="7842761" cy="7186821"/>
          </a:xfrm>
          <a:custGeom>
            <a:rect b="b" l="l" r="r" t="t"/>
            <a:pathLst>
              <a:path extrusionOk="0" h="7186821" w="7842761">
                <a:moveTo>
                  <a:pt x="7842761" y="0"/>
                </a:moveTo>
                <a:lnTo>
                  <a:pt x="0" y="0"/>
                </a:lnTo>
                <a:lnTo>
                  <a:pt x="0" y="7186821"/>
                </a:lnTo>
                <a:lnTo>
                  <a:pt x="7842761" y="7186821"/>
                </a:lnTo>
                <a:lnTo>
                  <a:pt x="784276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54"/>
          <p:cNvSpPr txBox="1"/>
          <p:nvPr/>
        </p:nvSpPr>
        <p:spPr>
          <a:xfrm>
            <a:off x="2806936" y="4619491"/>
            <a:ext cx="674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54"/>
          <p:cNvSpPr/>
          <p:nvPr/>
        </p:nvSpPr>
        <p:spPr>
          <a:xfrm rot="10800000">
            <a:off x="8934301" y="-393895"/>
            <a:ext cx="2899550" cy="2263880"/>
          </a:xfrm>
          <a:custGeom>
            <a:rect b="b" l="l" r="r" t="t"/>
            <a:pathLst>
              <a:path extrusionOk="0" h="2263880" w="2899550">
                <a:moveTo>
                  <a:pt x="0" y="0"/>
                </a:moveTo>
                <a:lnTo>
                  <a:pt x="2899550" y="0"/>
                </a:lnTo>
                <a:lnTo>
                  <a:pt x="2899550" y="2263880"/>
                </a:lnTo>
                <a:lnTo>
                  <a:pt x="0" y="2263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54"/>
          <p:cNvSpPr/>
          <p:nvPr/>
        </p:nvSpPr>
        <p:spPr>
          <a:xfrm>
            <a:off x="16140151" y="5572326"/>
            <a:ext cx="5227965" cy="4714674"/>
          </a:xfrm>
          <a:custGeom>
            <a:rect b="b" l="l" r="r" t="t"/>
            <a:pathLst>
              <a:path extrusionOk="0" h="4714674" w="5227965">
                <a:moveTo>
                  <a:pt x="0" y="0"/>
                </a:moveTo>
                <a:lnTo>
                  <a:pt x="5227965" y="0"/>
                </a:lnTo>
                <a:lnTo>
                  <a:pt x="5227965" y="4714674"/>
                </a:lnTo>
                <a:lnTo>
                  <a:pt x="0" y="4714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54"/>
          <p:cNvSpPr/>
          <p:nvPr/>
        </p:nvSpPr>
        <p:spPr>
          <a:xfrm>
            <a:off x="-1008009" y="7483549"/>
            <a:ext cx="4073417" cy="3229109"/>
          </a:xfrm>
          <a:custGeom>
            <a:rect b="b" l="l" r="r" t="t"/>
            <a:pathLst>
              <a:path extrusionOk="0" h="3229109" w="4073417">
                <a:moveTo>
                  <a:pt x="0" y="0"/>
                </a:moveTo>
                <a:lnTo>
                  <a:pt x="4073418" y="0"/>
                </a:lnTo>
                <a:lnTo>
                  <a:pt x="4073418" y="3229109"/>
                </a:lnTo>
                <a:lnTo>
                  <a:pt x="0" y="3229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54"/>
          <p:cNvSpPr/>
          <p:nvPr/>
        </p:nvSpPr>
        <p:spPr>
          <a:xfrm rot="-1243279">
            <a:off x="16459180" y="-686837"/>
            <a:ext cx="2863902" cy="2326920"/>
          </a:xfrm>
          <a:custGeom>
            <a:rect b="b" l="l" r="r" t="t"/>
            <a:pathLst>
              <a:path extrusionOk="0" h="2326920" w="2863902">
                <a:moveTo>
                  <a:pt x="0" y="0"/>
                </a:moveTo>
                <a:lnTo>
                  <a:pt x="2863902" y="0"/>
                </a:lnTo>
                <a:lnTo>
                  <a:pt x="2863902" y="2326921"/>
                </a:lnTo>
                <a:lnTo>
                  <a:pt x="0" y="23269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54"/>
          <p:cNvSpPr/>
          <p:nvPr/>
        </p:nvSpPr>
        <p:spPr>
          <a:xfrm rot="1113034">
            <a:off x="659015" y="-377783"/>
            <a:ext cx="1792595" cy="4495537"/>
          </a:xfrm>
          <a:custGeom>
            <a:rect b="b" l="l" r="r" t="t"/>
            <a:pathLst>
              <a:path extrusionOk="0" h="4495537" w="1792595">
                <a:moveTo>
                  <a:pt x="0" y="0"/>
                </a:moveTo>
                <a:lnTo>
                  <a:pt x="1792595" y="0"/>
                </a:lnTo>
                <a:lnTo>
                  <a:pt x="1792595" y="4495536"/>
                </a:lnTo>
                <a:lnTo>
                  <a:pt x="0" y="4495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54"/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54"/>
          <p:cNvSpPr txBox="1"/>
          <p:nvPr/>
        </p:nvSpPr>
        <p:spPr>
          <a:xfrm>
            <a:off x="771072" y="514350"/>
            <a:ext cx="16764000" cy="2954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객관적 성과 및 검증 - </a:t>
            </a:r>
            <a:r>
              <a:rPr b="1" i="0" lang="en-US" sz="3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정성적 성과 및 비즈니스 임팩트</a:t>
            </a:r>
            <a:r>
              <a:rPr b="1" i="0" lang="en-US" sz="4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b="0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69" name="Google Shape;969;p54"/>
          <p:cNvSpPr/>
          <p:nvPr/>
        </p:nvSpPr>
        <p:spPr>
          <a:xfrm>
            <a:off x="1311883" y="2407889"/>
            <a:ext cx="3603996" cy="1064728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54"/>
          <p:cNvSpPr/>
          <p:nvPr/>
        </p:nvSpPr>
        <p:spPr>
          <a:xfrm>
            <a:off x="6508722" y="2407889"/>
            <a:ext cx="3603996" cy="1064728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54"/>
          <p:cNvSpPr/>
          <p:nvPr/>
        </p:nvSpPr>
        <p:spPr>
          <a:xfrm>
            <a:off x="12010362" y="2407889"/>
            <a:ext cx="3832596" cy="1064728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54"/>
          <p:cNvSpPr/>
          <p:nvPr/>
        </p:nvSpPr>
        <p:spPr>
          <a:xfrm>
            <a:off x="3963642" y="4008089"/>
            <a:ext cx="3603996" cy="1064728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54"/>
          <p:cNvSpPr/>
          <p:nvPr/>
        </p:nvSpPr>
        <p:spPr>
          <a:xfrm>
            <a:off x="9556722" y="4008089"/>
            <a:ext cx="4457436" cy="1140928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54"/>
          <p:cNvSpPr txBox="1"/>
          <p:nvPr/>
        </p:nvSpPr>
        <p:spPr>
          <a:xfrm>
            <a:off x="1464390" y="2575367"/>
            <a:ext cx="345407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의사결정 효율화</a:t>
            </a:r>
            <a:endParaRPr/>
          </a:p>
        </p:txBody>
      </p:sp>
      <p:sp>
        <p:nvSpPr>
          <p:cNvPr id="975" name="Google Shape;975;p54"/>
          <p:cNvSpPr txBox="1"/>
          <p:nvPr/>
        </p:nvSpPr>
        <p:spPr>
          <a:xfrm>
            <a:off x="6630750" y="2575367"/>
            <a:ext cx="336263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선제적 유지보수</a:t>
            </a:r>
            <a:endParaRPr/>
          </a:p>
        </p:txBody>
      </p:sp>
      <p:sp>
        <p:nvSpPr>
          <p:cNvPr id="976" name="Google Shape;976;p54"/>
          <p:cNvSpPr txBox="1"/>
          <p:nvPr/>
        </p:nvSpPr>
        <p:spPr>
          <a:xfrm>
            <a:off x="12010469" y="2575367"/>
            <a:ext cx="400271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업무 프로세스 개선</a:t>
            </a:r>
            <a:endParaRPr/>
          </a:p>
        </p:txBody>
      </p:sp>
      <p:sp>
        <p:nvSpPr>
          <p:cNvPr id="977" name="Google Shape;977;p54"/>
          <p:cNvSpPr txBox="1"/>
          <p:nvPr/>
        </p:nvSpPr>
        <p:spPr>
          <a:xfrm>
            <a:off x="4085669" y="4221287"/>
            <a:ext cx="38960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운영 효율성 향상</a:t>
            </a:r>
            <a:endParaRPr/>
          </a:p>
        </p:txBody>
      </p:sp>
      <p:sp>
        <p:nvSpPr>
          <p:cNvPr id="978" name="Google Shape;978;p54"/>
          <p:cNvSpPr txBox="1"/>
          <p:nvPr/>
        </p:nvSpPr>
        <p:spPr>
          <a:xfrm>
            <a:off x="9678749" y="4221287"/>
            <a:ext cx="424655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기반 의사결정</a:t>
            </a:r>
            <a:endParaRPr/>
          </a:p>
        </p:txBody>
      </p:sp>
      <p:sp>
        <p:nvSpPr>
          <p:cNvPr id="979" name="Google Shape;979;p54"/>
          <p:cNvSpPr/>
          <p:nvPr/>
        </p:nvSpPr>
        <p:spPr>
          <a:xfrm>
            <a:off x="2136879" y="5992985"/>
            <a:ext cx="14830063" cy="3617088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54"/>
          <p:cNvSpPr txBox="1"/>
          <p:nvPr/>
        </p:nvSpPr>
        <p:spPr>
          <a:xfrm>
            <a:off x="2500709" y="6339647"/>
            <a:ext cx="38960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SAP x Jowat</a:t>
            </a:r>
            <a:endParaRPr/>
          </a:p>
        </p:txBody>
      </p:sp>
      <p:sp>
        <p:nvSpPr>
          <p:cNvPr id="981" name="Google Shape;981;p54"/>
          <p:cNvSpPr txBox="1"/>
          <p:nvPr/>
        </p:nvSpPr>
        <p:spPr>
          <a:xfrm>
            <a:off x="2500709" y="7086407"/>
            <a:ext cx="1380203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Jowat은 SAP EAM을 도입하면서 유지보수 + 재고 + 구매 + 비용관리를 SAP S/4HANA와 통합했다. 특히 실제 부품의 재고량뿐 아니라 교체 부품의 비용과 조달 리드타임까지 확인할 수 있게 됐고, 이를 바탕으로 적정 예비재고를 관리하고 다른 공장에 있는 부품을 활용할 수 있게 됐다.</a:t>
            </a:r>
            <a:endParaRPr/>
          </a:p>
        </p:txBody>
      </p:sp>
      <p:sp>
        <p:nvSpPr>
          <p:cNvPr id="982" name="Google Shape;982;p54"/>
          <p:cNvSpPr txBox="1"/>
          <p:nvPr/>
        </p:nvSpPr>
        <p:spPr>
          <a:xfrm>
            <a:off x="17586764" y="9828019"/>
            <a:ext cx="4314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47A1"/>
        </a:solidFill>
      </p:bgPr>
    </p:bg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55"/>
          <p:cNvSpPr/>
          <p:nvPr/>
        </p:nvSpPr>
        <p:spPr>
          <a:xfrm>
            <a:off x="9134475" y="5822156"/>
            <a:ext cx="9144000" cy="4464844"/>
          </a:xfrm>
          <a:custGeom>
            <a:rect b="b" l="l" r="r" t="t"/>
            <a:pathLst>
              <a:path extrusionOk="0" h="4464844" w="9144000">
                <a:moveTo>
                  <a:pt x="0" y="0"/>
                </a:moveTo>
                <a:lnTo>
                  <a:pt x="9144000" y="0"/>
                </a:lnTo>
                <a:lnTo>
                  <a:pt x="9144000" y="4464844"/>
                </a:lnTo>
                <a:lnTo>
                  <a:pt x="0" y="4464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55"/>
          <p:cNvSpPr/>
          <p:nvPr/>
        </p:nvSpPr>
        <p:spPr>
          <a:xfrm flipH="1">
            <a:off x="-9525" y="5822156"/>
            <a:ext cx="9144000" cy="4464844"/>
          </a:xfrm>
          <a:custGeom>
            <a:rect b="b" l="l" r="r" t="t"/>
            <a:pathLst>
              <a:path extrusionOk="0" h="4464844" w="9144000">
                <a:moveTo>
                  <a:pt x="9144000" y="0"/>
                </a:moveTo>
                <a:lnTo>
                  <a:pt x="0" y="0"/>
                </a:lnTo>
                <a:lnTo>
                  <a:pt x="0" y="4464844"/>
                </a:lnTo>
                <a:lnTo>
                  <a:pt x="9144000" y="4464844"/>
                </a:lnTo>
                <a:lnTo>
                  <a:pt x="9144000" y="0"/>
                </a:lnTo>
                <a:close/>
              </a:path>
            </a:pathLst>
          </a:custGeom>
          <a:blipFill rotWithShape="1">
            <a:blip r:embed="rId3">
              <a:alphaModFix amt="53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55"/>
          <p:cNvSpPr/>
          <p:nvPr/>
        </p:nvSpPr>
        <p:spPr>
          <a:xfrm flipH="1">
            <a:off x="10120333" y="2808742"/>
            <a:ext cx="7842761" cy="7186821"/>
          </a:xfrm>
          <a:custGeom>
            <a:rect b="b" l="l" r="r" t="t"/>
            <a:pathLst>
              <a:path extrusionOk="0" h="7186821" w="7842761">
                <a:moveTo>
                  <a:pt x="7842761" y="0"/>
                </a:moveTo>
                <a:lnTo>
                  <a:pt x="0" y="0"/>
                </a:lnTo>
                <a:lnTo>
                  <a:pt x="0" y="7186821"/>
                </a:lnTo>
                <a:lnTo>
                  <a:pt x="7842761" y="7186821"/>
                </a:lnTo>
                <a:lnTo>
                  <a:pt x="784276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55"/>
          <p:cNvSpPr txBox="1"/>
          <p:nvPr/>
        </p:nvSpPr>
        <p:spPr>
          <a:xfrm>
            <a:off x="2806936" y="4619491"/>
            <a:ext cx="674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55"/>
          <p:cNvSpPr/>
          <p:nvPr/>
        </p:nvSpPr>
        <p:spPr>
          <a:xfrm rot="10800000">
            <a:off x="8934301" y="-393895"/>
            <a:ext cx="2899550" cy="2263880"/>
          </a:xfrm>
          <a:custGeom>
            <a:rect b="b" l="l" r="r" t="t"/>
            <a:pathLst>
              <a:path extrusionOk="0" h="2263880" w="2899550">
                <a:moveTo>
                  <a:pt x="0" y="0"/>
                </a:moveTo>
                <a:lnTo>
                  <a:pt x="2899550" y="0"/>
                </a:lnTo>
                <a:lnTo>
                  <a:pt x="2899550" y="2263880"/>
                </a:lnTo>
                <a:lnTo>
                  <a:pt x="0" y="2263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55"/>
          <p:cNvSpPr/>
          <p:nvPr/>
        </p:nvSpPr>
        <p:spPr>
          <a:xfrm>
            <a:off x="16140151" y="5572326"/>
            <a:ext cx="5227965" cy="4714674"/>
          </a:xfrm>
          <a:custGeom>
            <a:rect b="b" l="l" r="r" t="t"/>
            <a:pathLst>
              <a:path extrusionOk="0" h="4714674" w="5227965">
                <a:moveTo>
                  <a:pt x="0" y="0"/>
                </a:moveTo>
                <a:lnTo>
                  <a:pt x="5227965" y="0"/>
                </a:lnTo>
                <a:lnTo>
                  <a:pt x="5227965" y="4714674"/>
                </a:lnTo>
                <a:lnTo>
                  <a:pt x="0" y="4714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55"/>
          <p:cNvSpPr/>
          <p:nvPr/>
        </p:nvSpPr>
        <p:spPr>
          <a:xfrm>
            <a:off x="-1008009" y="7483549"/>
            <a:ext cx="4073417" cy="3229109"/>
          </a:xfrm>
          <a:custGeom>
            <a:rect b="b" l="l" r="r" t="t"/>
            <a:pathLst>
              <a:path extrusionOk="0" h="3229109" w="4073417">
                <a:moveTo>
                  <a:pt x="0" y="0"/>
                </a:moveTo>
                <a:lnTo>
                  <a:pt x="4073418" y="0"/>
                </a:lnTo>
                <a:lnTo>
                  <a:pt x="4073418" y="3229109"/>
                </a:lnTo>
                <a:lnTo>
                  <a:pt x="0" y="3229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55"/>
          <p:cNvSpPr/>
          <p:nvPr/>
        </p:nvSpPr>
        <p:spPr>
          <a:xfrm rot="-1243279">
            <a:off x="16459180" y="-686837"/>
            <a:ext cx="2863902" cy="2326920"/>
          </a:xfrm>
          <a:custGeom>
            <a:rect b="b" l="l" r="r" t="t"/>
            <a:pathLst>
              <a:path extrusionOk="0" h="2326920" w="2863902">
                <a:moveTo>
                  <a:pt x="0" y="0"/>
                </a:moveTo>
                <a:lnTo>
                  <a:pt x="2863902" y="0"/>
                </a:lnTo>
                <a:lnTo>
                  <a:pt x="2863902" y="2326921"/>
                </a:lnTo>
                <a:lnTo>
                  <a:pt x="0" y="23269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55"/>
          <p:cNvSpPr/>
          <p:nvPr/>
        </p:nvSpPr>
        <p:spPr>
          <a:xfrm>
            <a:off x="-9525" y="0"/>
            <a:ext cx="18288000" cy="102870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55"/>
          <p:cNvSpPr/>
          <p:nvPr/>
        </p:nvSpPr>
        <p:spPr>
          <a:xfrm rot="1113034">
            <a:off x="659015" y="-377783"/>
            <a:ext cx="1792595" cy="4495537"/>
          </a:xfrm>
          <a:custGeom>
            <a:rect b="b" l="l" r="r" t="t"/>
            <a:pathLst>
              <a:path extrusionOk="0" h="4495537" w="1792595">
                <a:moveTo>
                  <a:pt x="0" y="0"/>
                </a:moveTo>
                <a:lnTo>
                  <a:pt x="1792595" y="0"/>
                </a:lnTo>
                <a:lnTo>
                  <a:pt x="1792595" y="4495536"/>
                </a:lnTo>
                <a:lnTo>
                  <a:pt x="0" y="4495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55"/>
          <p:cNvSpPr txBox="1"/>
          <p:nvPr/>
        </p:nvSpPr>
        <p:spPr>
          <a:xfrm>
            <a:off x="771072" y="514350"/>
            <a:ext cx="16764000" cy="2954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한계점 및 향후계획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8" name="Google Shape;998;p55"/>
          <p:cNvSpPr/>
          <p:nvPr/>
        </p:nvSpPr>
        <p:spPr>
          <a:xfrm>
            <a:off x="3059430" y="1867852"/>
            <a:ext cx="3305174" cy="69151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55"/>
          <p:cNvSpPr txBox="1"/>
          <p:nvPr/>
        </p:nvSpPr>
        <p:spPr>
          <a:xfrm>
            <a:off x="3224712" y="1992630"/>
            <a:ext cx="16764000" cy="2708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한계점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00" name="Google Shape;1000;p55"/>
          <p:cNvSpPr/>
          <p:nvPr/>
        </p:nvSpPr>
        <p:spPr>
          <a:xfrm>
            <a:off x="1200873" y="2994949"/>
            <a:ext cx="7190772" cy="6814594"/>
          </a:xfrm>
          <a:prstGeom prst="snip1Rect">
            <a:avLst>
              <a:gd fmla="val 16667" name="adj"/>
            </a:avLst>
          </a:prstGeom>
          <a:solidFill>
            <a:srgbClr val="D99593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55"/>
          <p:cNvSpPr/>
          <p:nvPr/>
        </p:nvSpPr>
        <p:spPr>
          <a:xfrm>
            <a:off x="11273790" y="1867852"/>
            <a:ext cx="4570094" cy="70675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55"/>
          <p:cNvSpPr txBox="1"/>
          <p:nvPr/>
        </p:nvSpPr>
        <p:spPr>
          <a:xfrm>
            <a:off x="11423832" y="1992630"/>
            <a:ext cx="4267200" cy="2708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향후 개선(고도화) 방향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03" name="Google Shape;1003;p55"/>
          <p:cNvSpPr/>
          <p:nvPr/>
        </p:nvSpPr>
        <p:spPr>
          <a:xfrm>
            <a:off x="9963872" y="2994948"/>
            <a:ext cx="7190772" cy="6814594"/>
          </a:xfrm>
          <a:prstGeom prst="snip1Rect">
            <a:avLst>
              <a:gd fmla="val 16667" name="adj"/>
            </a:avLst>
          </a:prstGeom>
          <a:solidFill>
            <a:srgbClr val="8CB3E3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55"/>
          <p:cNvSpPr/>
          <p:nvPr/>
        </p:nvSpPr>
        <p:spPr>
          <a:xfrm>
            <a:off x="1773048" y="3757142"/>
            <a:ext cx="5336893" cy="1213219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55"/>
          <p:cNvSpPr txBox="1"/>
          <p:nvPr/>
        </p:nvSpPr>
        <p:spPr>
          <a:xfrm>
            <a:off x="1769190" y="4007927"/>
            <a:ext cx="5480998" cy="12155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공개·가상 운영 데이터 중심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55"/>
          <p:cNvSpPr/>
          <p:nvPr/>
        </p:nvSpPr>
        <p:spPr>
          <a:xfrm>
            <a:off x="7646815" y="4189649"/>
            <a:ext cx="1909822" cy="59320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55"/>
          <p:cNvSpPr/>
          <p:nvPr/>
        </p:nvSpPr>
        <p:spPr>
          <a:xfrm>
            <a:off x="1773047" y="5799302"/>
            <a:ext cx="5336893" cy="1213219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55"/>
          <p:cNvSpPr/>
          <p:nvPr/>
        </p:nvSpPr>
        <p:spPr>
          <a:xfrm>
            <a:off x="1773047" y="7658582"/>
            <a:ext cx="5336893" cy="1213219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55"/>
          <p:cNvSpPr/>
          <p:nvPr/>
        </p:nvSpPr>
        <p:spPr>
          <a:xfrm>
            <a:off x="10795127" y="3757142"/>
            <a:ext cx="5336893" cy="1213219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55"/>
          <p:cNvSpPr/>
          <p:nvPr/>
        </p:nvSpPr>
        <p:spPr>
          <a:xfrm>
            <a:off x="10795127" y="5814542"/>
            <a:ext cx="5595973" cy="1197979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55"/>
          <p:cNvSpPr/>
          <p:nvPr/>
        </p:nvSpPr>
        <p:spPr>
          <a:xfrm>
            <a:off x="10795127" y="7658582"/>
            <a:ext cx="5702653" cy="1213219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55"/>
          <p:cNvSpPr txBox="1"/>
          <p:nvPr/>
        </p:nvSpPr>
        <p:spPr>
          <a:xfrm>
            <a:off x="1769189" y="6080567"/>
            <a:ext cx="5480998" cy="12155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대시보드 내 발주 프로세스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55"/>
          <p:cNvSpPr txBox="1"/>
          <p:nvPr/>
        </p:nvSpPr>
        <p:spPr>
          <a:xfrm>
            <a:off x="3125549" y="7924607"/>
            <a:ext cx="548099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일회성 예측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55"/>
          <p:cNvSpPr txBox="1"/>
          <p:nvPr/>
        </p:nvSpPr>
        <p:spPr>
          <a:xfrm>
            <a:off x="11431349" y="4007927"/>
            <a:ext cx="548099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실시간 데이터 연계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55"/>
          <p:cNvSpPr txBox="1"/>
          <p:nvPr/>
        </p:nvSpPr>
        <p:spPr>
          <a:xfrm>
            <a:off x="10791269" y="6080567"/>
            <a:ext cx="612107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ERP/SAP·구매 시스템 연계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55"/>
          <p:cNvSpPr txBox="1"/>
          <p:nvPr/>
        </p:nvSpPr>
        <p:spPr>
          <a:xfrm>
            <a:off x="10791269" y="7924607"/>
            <a:ext cx="572483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담당자 피드백 기반 지속학습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55"/>
          <p:cNvSpPr txBox="1"/>
          <p:nvPr/>
        </p:nvSpPr>
        <p:spPr>
          <a:xfrm>
            <a:off x="17586764" y="9828019"/>
            <a:ext cx="4314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47A1"/>
        </a:solidFill>
      </p:bgPr>
    </p:bg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13"/>
          <p:cNvSpPr/>
          <p:nvPr/>
        </p:nvSpPr>
        <p:spPr>
          <a:xfrm>
            <a:off x="1293957" y="2779381"/>
            <a:ext cx="15350853" cy="7495534"/>
          </a:xfrm>
          <a:custGeom>
            <a:rect b="b" l="l" r="r" t="t"/>
            <a:pathLst>
              <a:path extrusionOk="0" h="7495534" w="15350853">
                <a:moveTo>
                  <a:pt x="0" y="0"/>
                </a:moveTo>
                <a:lnTo>
                  <a:pt x="15350853" y="0"/>
                </a:lnTo>
                <a:lnTo>
                  <a:pt x="15350853" y="7495534"/>
                </a:lnTo>
                <a:lnTo>
                  <a:pt x="0" y="7495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1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13"/>
          <p:cNvSpPr/>
          <p:nvPr/>
        </p:nvSpPr>
        <p:spPr>
          <a:xfrm>
            <a:off x="6605144" y="-900097"/>
            <a:ext cx="1783734" cy="1861582"/>
          </a:xfrm>
          <a:custGeom>
            <a:rect b="b" l="l" r="r" t="t"/>
            <a:pathLst>
              <a:path extrusionOk="0" h="1861582" w="1783734">
                <a:moveTo>
                  <a:pt x="0" y="0"/>
                </a:moveTo>
                <a:lnTo>
                  <a:pt x="1783734" y="0"/>
                </a:lnTo>
                <a:lnTo>
                  <a:pt x="1783734" y="1861582"/>
                </a:lnTo>
                <a:lnTo>
                  <a:pt x="0" y="1861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13"/>
          <p:cNvSpPr/>
          <p:nvPr/>
        </p:nvSpPr>
        <p:spPr>
          <a:xfrm>
            <a:off x="8251710" y="-585790"/>
            <a:ext cx="1783734" cy="1861582"/>
          </a:xfrm>
          <a:custGeom>
            <a:rect b="b" l="l" r="r" t="t"/>
            <a:pathLst>
              <a:path extrusionOk="0" h="1861582" w="1783734">
                <a:moveTo>
                  <a:pt x="0" y="0"/>
                </a:moveTo>
                <a:lnTo>
                  <a:pt x="1783734" y="0"/>
                </a:lnTo>
                <a:lnTo>
                  <a:pt x="1783734" y="1861582"/>
                </a:lnTo>
                <a:lnTo>
                  <a:pt x="0" y="1861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13"/>
          <p:cNvSpPr/>
          <p:nvPr/>
        </p:nvSpPr>
        <p:spPr>
          <a:xfrm>
            <a:off x="9894900" y="-899018"/>
            <a:ext cx="1783734" cy="1861582"/>
          </a:xfrm>
          <a:custGeom>
            <a:rect b="b" l="l" r="r" t="t"/>
            <a:pathLst>
              <a:path extrusionOk="0" h="1861582" w="1783734">
                <a:moveTo>
                  <a:pt x="0" y="0"/>
                </a:moveTo>
                <a:lnTo>
                  <a:pt x="1783734" y="0"/>
                </a:lnTo>
                <a:lnTo>
                  <a:pt x="1783734" y="1861581"/>
                </a:lnTo>
                <a:lnTo>
                  <a:pt x="0" y="18615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13"/>
          <p:cNvSpPr/>
          <p:nvPr/>
        </p:nvSpPr>
        <p:spPr>
          <a:xfrm>
            <a:off x="3304683" y="-899018"/>
            <a:ext cx="1783734" cy="1861582"/>
          </a:xfrm>
          <a:custGeom>
            <a:rect b="b" l="l" r="r" t="t"/>
            <a:pathLst>
              <a:path extrusionOk="0" h="1861582" w="1783734">
                <a:moveTo>
                  <a:pt x="0" y="0"/>
                </a:moveTo>
                <a:lnTo>
                  <a:pt x="1783734" y="0"/>
                </a:lnTo>
                <a:lnTo>
                  <a:pt x="1783734" y="1861581"/>
                </a:lnTo>
                <a:lnTo>
                  <a:pt x="0" y="18615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13"/>
          <p:cNvSpPr/>
          <p:nvPr/>
        </p:nvSpPr>
        <p:spPr>
          <a:xfrm>
            <a:off x="4951249" y="-584711"/>
            <a:ext cx="1783734" cy="1861582"/>
          </a:xfrm>
          <a:custGeom>
            <a:rect b="b" l="l" r="r" t="t"/>
            <a:pathLst>
              <a:path extrusionOk="0" h="1861582" w="1783734">
                <a:moveTo>
                  <a:pt x="0" y="0"/>
                </a:moveTo>
                <a:lnTo>
                  <a:pt x="1783734" y="0"/>
                </a:lnTo>
                <a:lnTo>
                  <a:pt x="1783734" y="1861581"/>
                </a:lnTo>
                <a:lnTo>
                  <a:pt x="0" y="18615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13"/>
          <p:cNvSpPr/>
          <p:nvPr/>
        </p:nvSpPr>
        <p:spPr>
          <a:xfrm>
            <a:off x="11556393" y="-584711"/>
            <a:ext cx="1783734" cy="1861582"/>
          </a:xfrm>
          <a:custGeom>
            <a:rect b="b" l="l" r="r" t="t"/>
            <a:pathLst>
              <a:path extrusionOk="0" h="1861582" w="1783734">
                <a:moveTo>
                  <a:pt x="0" y="0"/>
                </a:moveTo>
                <a:lnTo>
                  <a:pt x="1783734" y="0"/>
                </a:lnTo>
                <a:lnTo>
                  <a:pt x="1783734" y="1861581"/>
                </a:lnTo>
                <a:lnTo>
                  <a:pt x="0" y="18615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13"/>
          <p:cNvSpPr/>
          <p:nvPr/>
        </p:nvSpPr>
        <p:spPr>
          <a:xfrm>
            <a:off x="13199583" y="-897940"/>
            <a:ext cx="1783734" cy="1861582"/>
          </a:xfrm>
          <a:custGeom>
            <a:rect b="b" l="l" r="r" t="t"/>
            <a:pathLst>
              <a:path extrusionOk="0" h="1861582" w="1783734">
                <a:moveTo>
                  <a:pt x="0" y="0"/>
                </a:moveTo>
                <a:lnTo>
                  <a:pt x="1783734" y="0"/>
                </a:lnTo>
                <a:lnTo>
                  <a:pt x="1783734" y="1861582"/>
                </a:lnTo>
                <a:lnTo>
                  <a:pt x="0" y="1861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13"/>
          <p:cNvSpPr/>
          <p:nvPr/>
        </p:nvSpPr>
        <p:spPr>
          <a:xfrm>
            <a:off x="14861076" y="-584711"/>
            <a:ext cx="1783734" cy="1861582"/>
          </a:xfrm>
          <a:custGeom>
            <a:rect b="b" l="l" r="r" t="t"/>
            <a:pathLst>
              <a:path extrusionOk="0" h="1861582" w="1783734">
                <a:moveTo>
                  <a:pt x="0" y="0"/>
                </a:moveTo>
                <a:lnTo>
                  <a:pt x="1783734" y="0"/>
                </a:lnTo>
                <a:lnTo>
                  <a:pt x="1783734" y="1861581"/>
                </a:lnTo>
                <a:lnTo>
                  <a:pt x="0" y="18615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13"/>
          <p:cNvSpPr/>
          <p:nvPr/>
        </p:nvSpPr>
        <p:spPr>
          <a:xfrm>
            <a:off x="16504266" y="-897940"/>
            <a:ext cx="1783734" cy="1861582"/>
          </a:xfrm>
          <a:custGeom>
            <a:rect b="b" l="l" r="r" t="t"/>
            <a:pathLst>
              <a:path extrusionOk="0" h="1861582" w="1783734">
                <a:moveTo>
                  <a:pt x="0" y="0"/>
                </a:moveTo>
                <a:lnTo>
                  <a:pt x="1783734" y="0"/>
                </a:lnTo>
                <a:lnTo>
                  <a:pt x="1783734" y="1861582"/>
                </a:lnTo>
                <a:lnTo>
                  <a:pt x="0" y="1861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13"/>
          <p:cNvSpPr/>
          <p:nvPr/>
        </p:nvSpPr>
        <p:spPr>
          <a:xfrm>
            <a:off x="0" y="-900097"/>
            <a:ext cx="1783734" cy="1861582"/>
          </a:xfrm>
          <a:custGeom>
            <a:rect b="b" l="l" r="r" t="t"/>
            <a:pathLst>
              <a:path extrusionOk="0" h="1861582" w="1783734">
                <a:moveTo>
                  <a:pt x="0" y="0"/>
                </a:moveTo>
                <a:lnTo>
                  <a:pt x="1783734" y="0"/>
                </a:lnTo>
                <a:lnTo>
                  <a:pt x="1783734" y="1861582"/>
                </a:lnTo>
                <a:lnTo>
                  <a:pt x="0" y="1861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13"/>
          <p:cNvSpPr/>
          <p:nvPr/>
        </p:nvSpPr>
        <p:spPr>
          <a:xfrm>
            <a:off x="1646566" y="-585790"/>
            <a:ext cx="1783734" cy="1861582"/>
          </a:xfrm>
          <a:custGeom>
            <a:rect b="b" l="l" r="r" t="t"/>
            <a:pathLst>
              <a:path extrusionOk="0" h="1861582" w="1783734">
                <a:moveTo>
                  <a:pt x="0" y="0"/>
                </a:moveTo>
                <a:lnTo>
                  <a:pt x="1783734" y="0"/>
                </a:lnTo>
                <a:lnTo>
                  <a:pt x="1783734" y="1861582"/>
                </a:lnTo>
                <a:lnTo>
                  <a:pt x="0" y="1861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13"/>
          <p:cNvSpPr/>
          <p:nvPr/>
        </p:nvSpPr>
        <p:spPr>
          <a:xfrm rot="10800000">
            <a:off x="9899122" y="9346281"/>
            <a:ext cx="1783734" cy="1861582"/>
          </a:xfrm>
          <a:custGeom>
            <a:rect b="b" l="l" r="r" t="t"/>
            <a:pathLst>
              <a:path extrusionOk="0" h="1861582" w="1783734">
                <a:moveTo>
                  <a:pt x="0" y="0"/>
                </a:moveTo>
                <a:lnTo>
                  <a:pt x="1783734" y="0"/>
                </a:lnTo>
                <a:lnTo>
                  <a:pt x="1783734" y="1861582"/>
                </a:lnTo>
                <a:lnTo>
                  <a:pt x="0" y="1861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13"/>
          <p:cNvSpPr/>
          <p:nvPr/>
        </p:nvSpPr>
        <p:spPr>
          <a:xfrm rot="10800000">
            <a:off x="8252556" y="9031974"/>
            <a:ext cx="1783734" cy="1861582"/>
          </a:xfrm>
          <a:custGeom>
            <a:rect b="b" l="l" r="r" t="t"/>
            <a:pathLst>
              <a:path extrusionOk="0" h="1861582" w="1783734">
                <a:moveTo>
                  <a:pt x="0" y="0"/>
                </a:moveTo>
                <a:lnTo>
                  <a:pt x="1783734" y="0"/>
                </a:lnTo>
                <a:lnTo>
                  <a:pt x="1783734" y="1861582"/>
                </a:lnTo>
                <a:lnTo>
                  <a:pt x="0" y="1861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13"/>
          <p:cNvSpPr/>
          <p:nvPr/>
        </p:nvSpPr>
        <p:spPr>
          <a:xfrm rot="10800000">
            <a:off x="6609366" y="9345203"/>
            <a:ext cx="1783734" cy="1861582"/>
          </a:xfrm>
          <a:custGeom>
            <a:rect b="b" l="l" r="r" t="t"/>
            <a:pathLst>
              <a:path extrusionOk="0" h="1861582" w="1783734">
                <a:moveTo>
                  <a:pt x="0" y="0"/>
                </a:moveTo>
                <a:lnTo>
                  <a:pt x="1783734" y="0"/>
                </a:lnTo>
                <a:lnTo>
                  <a:pt x="1783734" y="1861582"/>
                </a:lnTo>
                <a:lnTo>
                  <a:pt x="0" y="1861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13"/>
          <p:cNvSpPr/>
          <p:nvPr/>
        </p:nvSpPr>
        <p:spPr>
          <a:xfrm rot="10800000">
            <a:off x="13199583" y="9345203"/>
            <a:ext cx="1783734" cy="1861582"/>
          </a:xfrm>
          <a:custGeom>
            <a:rect b="b" l="l" r="r" t="t"/>
            <a:pathLst>
              <a:path extrusionOk="0" h="1861582" w="1783734">
                <a:moveTo>
                  <a:pt x="0" y="0"/>
                </a:moveTo>
                <a:lnTo>
                  <a:pt x="1783734" y="0"/>
                </a:lnTo>
                <a:lnTo>
                  <a:pt x="1783734" y="1861582"/>
                </a:lnTo>
                <a:lnTo>
                  <a:pt x="0" y="1861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13"/>
          <p:cNvSpPr/>
          <p:nvPr/>
        </p:nvSpPr>
        <p:spPr>
          <a:xfrm rot="10800000">
            <a:off x="11553017" y="9030896"/>
            <a:ext cx="1783734" cy="1861582"/>
          </a:xfrm>
          <a:custGeom>
            <a:rect b="b" l="l" r="r" t="t"/>
            <a:pathLst>
              <a:path extrusionOk="0" h="1861582" w="1783734">
                <a:moveTo>
                  <a:pt x="0" y="0"/>
                </a:moveTo>
                <a:lnTo>
                  <a:pt x="1783734" y="0"/>
                </a:lnTo>
                <a:lnTo>
                  <a:pt x="1783734" y="1861582"/>
                </a:lnTo>
                <a:lnTo>
                  <a:pt x="0" y="1861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13"/>
          <p:cNvSpPr/>
          <p:nvPr/>
        </p:nvSpPr>
        <p:spPr>
          <a:xfrm rot="10800000">
            <a:off x="4947873" y="9030896"/>
            <a:ext cx="1783734" cy="1861582"/>
          </a:xfrm>
          <a:custGeom>
            <a:rect b="b" l="l" r="r" t="t"/>
            <a:pathLst>
              <a:path extrusionOk="0" h="1861582" w="1783734">
                <a:moveTo>
                  <a:pt x="0" y="0"/>
                </a:moveTo>
                <a:lnTo>
                  <a:pt x="1783734" y="0"/>
                </a:lnTo>
                <a:lnTo>
                  <a:pt x="1783734" y="1861582"/>
                </a:lnTo>
                <a:lnTo>
                  <a:pt x="0" y="1861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13"/>
          <p:cNvSpPr/>
          <p:nvPr/>
        </p:nvSpPr>
        <p:spPr>
          <a:xfrm rot="10800000">
            <a:off x="3304683" y="9344124"/>
            <a:ext cx="1783734" cy="1861582"/>
          </a:xfrm>
          <a:custGeom>
            <a:rect b="b" l="l" r="r" t="t"/>
            <a:pathLst>
              <a:path extrusionOk="0" h="1861582" w="1783734">
                <a:moveTo>
                  <a:pt x="0" y="0"/>
                </a:moveTo>
                <a:lnTo>
                  <a:pt x="1783734" y="0"/>
                </a:lnTo>
                <a:lnTo>
                  <a:pt x="1783734" y="1861582"/>
                </a:lnTo>
                <a:lnTo>
                  <a:pt x="0" y="1861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13"/>
          <p:cNvSpPr/>
          <p:nvPr/>
        </p:nvSpPr>
        <p:spPr>
          <a:xfrm rot="10800000">
            <a:off x="1643190" y="9030896"/>
            <a:ext cx="1783734" cy="1861582"/>
          </a:xfrm>
          <a:custGeom>
            <a:rect b="b" l="l" r="r" t="t"/>
            <a:pathLst>
              <a:path extrusionOk="0" h="1861582" w="1783734">
                <a:moveTo>
                  <a:pt x="0" y="0"/>
                </a:moveTo>
                <a:lnTo>
                  <a:pt x="1783734" y="0"/>
                </a:lnTo>
                <a:lnTo>
                  <a:pt x="1783734" y="1861582"/>
                </a:lnTo>
                <a:lnTo>
                  <a:pt x="0" y="1861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13"/>
          <p:cNvSpPr/>
          <p:nvPr/>
        </p:nvSpPr>
        <p:spPr>
          <a:xfrm rot="10800000">
            <a:off x="0" y="9344124"/>
            <a:ext cx="1783734" cy="1861582"/>
          </a:xfrm>
          <a:custGeom>
            <a:rect b="b" l="l" r="r" t="t"/>
            <a:pathLst>
              <a:path extrusionOk="0" h="1861582" w="1783734">
                <a:moveTo>
                  <a:pt x="0" y="0"/>
                </a:moveTo>
                <a:lnTo>
                  <a:pt x="1783734" y="0"/>
                </a:lnTo>
                <a:lnTo>
                  <a:pt x="1783734" y="1861582"/>
                </a:lnTo>
                <a:lnTo>
                  <a:pt x="0" y="1861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13"/>
          <p:cNvSpPr/>
          <p:nvPr/>
        </p:nvSpPr>
        <p:spPr>
          <a:xfrm rot="10800000">
            <a:off x="16504266" y="9346281"/>
            <a:ext cx="1783734" cy="1861582"/>
          </a:xfrm>
          <a:custGeom>
            <a:rect b="b" l="l" r="r" t="t"/>
            <a:pathLst>
              <a:path extrusionOk="0" h="1861582" w="1783734">
                <a:moveTo>
                  <a:pt x="0" y="0"/>
                </a:moveTo>
                <a:lnTo>
                  <a:pt x="1783734" y="0"/>
                </a:lnTo>
                <a:lnTo>
                  <a:pt x="1783734" y="1861582"/>
                </a:lnTo>
                <a:lnTo>
                  <a:pt x="0" y="1861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13"/>
          <p:cNvSpPr/>
          <p:nvPr/>
        </p:nvSpPr>
        <p:spPr>
          <a:xfrm rot="10800000">
            <a:off x="14857700" y="9031974"/>
            <a:ext cx="1783734" cy="1861582"/>
          </a:xfrm>
          <a:custGeom>
            <a:rect b="b" l="l" r="r" t="t"/>
            <a:pathLst>
              <a:path extrusionOk="0" h="1861582" w="1783734">
                <a:moveTo>
                  <a:pt x="0" y="0"/>
                </a:moveTo>
                <a:lnTo>
                  <a:pt x="1783734" y="0"/>
                </a:lnTo>
                <a:lnTo>
                  <a:pt x="1783734" y="1861582"/>
                </a:lnTo>
                <a:lnTo>
                  <a:pt x="0" y="1861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13"/>
          <p:cNvSpPr txBox="1"/>
          <p:nvPr/>
        </p:nvSpPr>
        <p:spPr>
          <a:xfrm>
            <a:off x="2760903" y="2718937"/>
            <a:ext cx="12766194" cy="4896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65"/>
              <a:buFont typeface="Arial"/>
              <a:buNone/>
            </a:pPr>
            <a:r>
              <a:rPr b="1" i="0" lang="en-US" sz="17965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13"/>
          <p:cNvSpPr/>
          <p:nvPr/>
        </p:nvSpPr>
        <p:spPr>
          <a:xfrm flipH="1">
            <a:off x="-1648433" y="6733311"/>
            <a:ext cx="5665301" cy="3553689"/>
          </a:xfrm>
          <a:custGeom>
            <a:rect b="b" l="l" r="r" t="t"/>
            <a:pathLst>
              <a:path extrusionOk="0" h="3553689" w="5665301">
                <a:moveTo>
                  <a:pt x="5665301" y="0"/>
                </a:moveTo>
                <a:lnTo>
                  <a:pt x="0" y="0"/>
                </a:lnTo>
                <a:lnTo>
                  <a:pt x="0" y="3553689"/>
                </a:lnTo>
                <a:lnTo>
                  <a:pt x="5665301" y="3553689"/>
                </a:lnTo>
                <a:lnTo>
                  <a:pt x="5665301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13"/>
          <p:cNvSpPr/>
          <p:nvPr/>
        </p:nvSpPr>
        <p:spPr>
          <a:xfrm rot="10800000">
            <a:off x="-1932994" y="-584711"/>
            <a:ext cx="6234424" cy="3808667"/>
          </a:xfrm>
          <a:custGeom>
            <a:rect b="b" l="l" r="r" t="t"/>
            <a:pathLst>
              <a:path extrusionOk="0" h="3808667" w="6234424">
                <a:moveTo>
                  <a:pt x="6234424" y="3808666"/>
                </a:moveTo>
                <a:lnTo>
                  <a:pt x="0" y="3808666"/>
                </a:lnTo>
                <a:lnTo>
                  <a:pt x="0" y="0"/>
                </a:lnTo>
                <a:lnTo>
                  <a:pt x="6234424" y="0"/>
                </a:lnTo>
                <a:lnTo>
                  <a:pt x="6234424" y="3808666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13"/>
          <p:cNvSpPr/>
          <p:nvPr/>
        </p:nvSpPr>
        <p:spPr>
          <a:xfrm rot="-993661">
            <a:off x="16696425" y="3209915"/>
            <a:ext cx="2584969" cy="2190174"/>
          </a:xfrm>
          <a:custGeom>
            <a:rect b="b" l="l" r="r" t="t"/>
            <a:pathLst>
              <a:path extrusionOk="0" h="2190174" w="2584969">
                <a:moveTo>
                  <a:pt x="0" y="0"/>
                </a:moveTo>
                <a:lnTo>
                  <a:pt x="2584969" y="0"/>
                </a:lnTo>
                <a:lnTo>
                  <a:pt x="2584969" y="2190174"/>
                </a:lnTo>
                <a:lnTo>
                  <a:pt x="0" y="21901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13"/>
          <p:cNvSpPr/>
          <p:nvPr/>
        </p:nvSpPr>
        <p:spPr>
          <a:xfrm rot="-10195369">
            <a:off x="12455921" y="-222429"/>
            <a:ext cx="4452139" cy="3529332"/>
          </a:xfrm>
          <a:custGeom>
            <a:rect b="b" l="l" r="r" t="t"/>
            <a:pathLst>
              <a:path extrusionOk="0" h="3529332" w="4452139">
                <a:moveTo>
                  <a:pt x="4452139" y="3529333"/>
                </a:moveTo>
                <a:lnTo>
                  <a:pt x="0" y="3529333"/>
                </a:lnTo>
                <a:lnTo>
                  <a:pt x="0" y="0"/>
                </a:lnTo>
                <a:lnTo>
                  <a:pt x="4452139" y="0"/>
                </a:lnTo>
                <a:lnTo>
                  <a:pt x="4452139" y="3529333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13"/>
          <p:cNvSpPr/>
          <p:nvPr/>
        </p:nvSpPr>
        <p:spPr>
          <a:xfrm flipH="1">
            <a:off x="13454713" y="6108036"/>
            <a:ext cx="4144769" cy="5099827"/>
          </a:xfrm>
          <a:custGeom>
            <a:rect b="b" l="l" r="r" t="t"/>
            <a:pathLst>
              <a:path extrusionOk="0" h="5099827" w="4144769">
                <a:moveTo>
                  <a:pt x="4144768" y="0"/>
                </a:moveTo>
                <a:lnTo>
                  <a:pt x="0" y="0"/>
                </a:lnTo>
                <a:lnTo>
                  <a:pt x="0" y="5099827"/>
                </a:lnTo>
                <a:lnTo>
                  <a:pt x="4144768" y="5099827"/>
                </a:lnTo>
                <a:lnTo>
                  <a:pt x="4144768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13"/>
          <p:cNvSpPr/>
          <p:nvPr/>
        </p:nvSpPr>
        <p:spPr>
          <a:xfrm flipH="1">
            <a:off x="6115334" y="7360228"/>
            <a:ext cx="3783788" cy="3343493"/>
          </a:xfrm>
          <a:custGeom>
            <a:rect b="b" l="l" r="r" t="t"/>
            <a:pathLst>
              <a:path extrusionOk="0" h="3343493" w="3783788">
                <a:moveTo>
                  <a:pt x="3783788" y="0"/>
                </a:moveTo>
                <a:lnTo>
                  <a:pt x="0" y="0"/>
                </a:lnTo>
                <a:lnTo>
                  <a:pt x="0" y="3343493"/>
                </a:lnTo>
                <a:lnTo>
                  <a:pt x="3783788" y="3343493"/>
                </a:lnTo>
                <a:lnTo>
                  <a:pt x="3783788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USER</dc:creator>
</cp:coreProperties>
</file>